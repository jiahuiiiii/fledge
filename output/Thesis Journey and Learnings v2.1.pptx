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331f465f3d4720" /><Relationship Type="http://schemas.openxmlformats.org/officeDocument/2006/relationships/extended-properties" Target="/docProps/app.xml" Id="R10a5ce908fa54a45" /><Relationship Type="http://schemas.openxmlformats.org/officeDocument/2006/relationships/officeDocument" Target="/ppt/presentation.xml" Id="Rb4baa848402e41a2" /></Relationships>
</file>

<file path=ppt/presentation.xml><?xml version="1.0" encoding="utf-8"?>
<p:presentation xmlns:p="http://schemas.openxmlformats.org/presentationml/2006/main">
  <p:sldMasterIdLst>
    <p:sldMasterId xmlns:r="http://schemas.openxmlformats.org/officeDocument/2006/relationships" id="2147483648" r:id="R67119394417446b8"/>
  </p:sldMasterIdLst>
  <p:notesMasterIdLst>
    <p:notesMasterId xmlns:r="http://schemas.openxmlformats.org/officeDocument/2006/relationships" r:id="R9a56b62dc39f4823"/>
  </p:notesMasterIdLst>
  <p:sldIdLst>
    <p:sldId xmlns:r="http://schemas.openxmlformats.org/officeDocument/2006/relationships" id="256" r:id="R5a166b0179cb470d"/>
    <p:sldId xmlns:r="http://schemas.openxmlformats.org/officeDocument/2006/relationships" id="257" r:id="R483c365ecaf043de"/>
    <p:sldId xmlns:r="http://schemas.openxmlformats.org/officeDocument/2006/relationships" id="258" r:id="Rbc85921d809a4c31"/>
    <p:sldId xmlns:r="http://schemas.openxmlformats.org/officeDocument/2006/relationships" id="259" r:id="R87c24be3d91344be"/>
    <p:sldId xmlns:r="http://schemas.openxmlformats.org/officeDocument/2006/relationships" id="260" r:id="Rfb7ef75c0f964fc8"/>
    <p:sldId xmlns:r="http://schemas.openxmlformats.org/officeDocument/2006/relationships" id="261" r:id="Rb46e6af2a0344744"/>
    <p:sldId xmlns:r="http://schemas.openxmlformats.org/officeDocument/2006/relationships" id="262" r:id="R89947caf359b4020"/>
    <p:sldId xmlns:r="http://schemas.openxmlformats.org/officeDocument/2006/relationships" id="263" r:id="R6d6aae14cec04266"/>
    <p:sldId xmlns:r="http://schemas.openxmlformats.org/officeDocument/2006/relationships" id="264" r:id="R507129beb3d4497d"/>
    <p:sldId xmlns:r="http://schemas.openxmlformats.org/officeDocument/2006/relationships" id="265" r:id="R5ec083889d82400a"/>
    <p:sldId xmlns:r="http://schemas.openxmlformats.org/officeDocument/2006/relationships" id="266" r:id="Rbdc1f9b8f67a4833"/>
    <p:sldId xmlns:r="http://schemas.openxmlformats.org/officeDocument/2006/relationships" id="267" r:id="R6f96042eac9b4294"/>
    <p:sldId xmlns:r="http://schemas.openxmlformats.org/officeDocument/2006/relationships" id="268" r:id="Rc069e28ec24d4aad"/>
    <p:sldId xmlns:r="http://schemas.openxmlformats.org/officeDocument/2006/relationships" id="269" r:id="Rb031c46063c7496d"/>
    <p:sldId xmlns:r="http://schemas.openxmlformats.org/officeDocument/2006/relationships" id="270" r:id="R03a11439051848da"/>
    <p:sldId xmlns:r="http://schemas.openxmlformats.org/officeDocument/2006/relationships" id="271" r:id="R2593eca4002d4042"/>
    <p:sldId xmlns:r="http://schemas.openxmlformats.org/officeDocument/2006/relationships" id="272" r:id="Rc4685154266c4dd8"/>
    <p:sldId xmlns:r="http://schemas.openxmlformats.org/officeDocument/2006/relationships" id="273" r:id="R92a3eee4914e4451"/>
    <p:sldId xmlns:r="http://schemas.openxmlformats.org/officeDocument/2006/relationships" id="274" r:id="R7f5f012c5c9a43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8f2c4a55ed4371" /><Relationship Type="http://schemas.openxmlformats.org/officeDocument/2006/relationships/slideMaster" Target="/ppt/slideMasters/slideMaster1.xml" Id="R67119394417446b8" /><Relationship Type="http://schemas.openxmlformats.org/officeDocument/2006/relationships/notesMaster" Target="/ppt/notesMasters/notesMaster1.xml" Id="R9a56b62dc39f4823" /><Relationship Type="http://schemas.openxmlformats.org/officeDocument/2006/relationships/presProps" Target="/ppt/presProps.xml" Id="R1ea4b99ae04143b3" /><Relationship Type="http://schemas.openxmlformats.org/officeDocument/2006/relationships/tableStyles" Target="/ppt/tableStyles.xml" Id="Rc9d516f7f99b43e8" /><Relationship Type="http://schemas.openxmlformats.org/officeDocument/2006/relationships/slide" Target="/ppt/slides/slide1.xml" Id="R5a166b0179cb470d" /><Relationship Type="http://schemas.openxmlformats.org/officeDocument/2006/relationships/slide" Target="/ppt/slides/slide2.xml" Id="R483c365ecaf043de" /><Relationship Type="http://schemas.openxmlformats.org/officeDocument/2006/relationships/slide" Target="/ppt/slides/slide3.xml" Id="Rbc85921d809a4c31" /><Relationship Type="http://schemas.openxmlformats.org/officeDocument/2006/relationships/slide" Target="/ppt/slides/slide4.xml" Id="R87c24be3d91344be" /><Relationship Type="http://schemas.openxmlformats.org/officeDocument/2006/relationships/slide" Target="/ppt/slides/slide5.xml" Id="Rfb7ef75c0f964fc8" /><Relationship Type="http://schemas.openxmlformats.org/officeDocument/2006/relationships/slide" Target="/ppt/slides/slide6.xml" Id="Rb46e6af2a0344744" /><Relationship Type="http://schemas.openxmlformats.org/officeDocument/2006/relationships/slide" Target="/ppt/slides/slide7.xml" Id="R89947caf359b4020" /><Relationship Type="http://schemas.openxmlformats.org/officeDocument/2006/relationships/slide" Target="/ppt/slides/slide8.xml" Id="R6d6aae14cec04266" /><Relationship Type="http://schemas.openxmlformats.org/officeDocument/2006/relationships/slide" Target="/ppt/slides/slide9.xml" Id="R507129beb3d4497d" /><Relationship Type="http://schemas.openxmlformats.org/officeDocument/2006/relationships/slide" Target="/ppt/slides/slide10.xml" Id="R5ec083889d82400a" /><Relationship Type="http://schemas.openxmlformats.org/officeDocument/2006/relationships/slide" Target="/ppt/slides/slide11.xml" Id="Rbdc1f9b8f67a4833" /><Relationship Type="http://schemas.openxmlformats.org/officeDocument/2006/relationships/slide" Target="/ppt/slides/slide12.xml" Id="R6f96042eac9b4294" /><Relationship Type="http://schemas.openxmlformats.org/officeDocument/2006/relationships/slide" Target="/ppt/slides/slide13.xml" Id="Rc069e28ec24d4aad" /><Relationship Type="http://schemas.openxmlformats.org/officeDocument/2006/relationships/slide" Target="/ppt/slides/slide14.xml" Id="Rb031c46063c7496d" /><Relationship Type="http://schemas.openxmlformats.org/officeDocument/2006/relationships/slide" Target="/ppt/slides/slide15.xml" Id="R03a11439051848da" /><Relationship Type="http://schemas.openxmlformats.org/officeDocument/2006/relationships/slide" Target="/ppt/slides/slide16.xml" Id="R2593eca4002d4042" /><Relationship Type="http://schemas.openxmlformats.org/officeDocument/2006/relationships/slide" Target="/ppt/slides/slide17.xml" Id="Rc4685154266c4dd8" /><Relationship Type="http://schemas.openxmlformats.org/officeDocument/2006/relationships/slide" Target="/ppt/slides/slide18.xml" Id="R92a3eee4914e4451" /><Relationship Type="http://schemas.openxmlformats.org/officeDocument/2006/relationships/slide" Target="/ppt/slides/slide19.xml" Id="R7f5f012c5c9a43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fa9cabf5a349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42254846a3417f" /><Relationship Type="http://schemas.openxmlformats.org/officeDocument/2006/relationships/notesMaster" Target="/ppt/notesMasters/notesMaster1.xml" Id="R41d2e6de91334c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6cef2ff0eb4fc0" /><Relationship Type="http://schemas.openxmlformats.org/officeDocument/2006/relationships/notesMaster" Target="/ppt/notesMasters/notesMaster1.xml" Id="R5484da8d226444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2a37a425ce466a" /><Relationship Type="http://schemas.openxmlformats.org/officeDocument/2006/relationships/notesMaster" Target="/ppt/notesMasters/notesMaster1.xml" Id="R3c3bc04a6c8e40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8a0bfb826d4953" /><Relationship Type="http://schemas.openxmlformats.org/officeDocument/2006/relationships/notesMaster" Target="/ppt/notesMasters/notesMaster1.xml" Id="Ra3cf8eb1091d44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a96e5db896496f" /><Relationship Type="http://schemas.openxmlformats.org/officeDocument/2006/relationships/notesMaster" Target="/ppt/notesMasters/notesMaster1.xml" Id="R534533dbff3c4a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ed497f621a41fb" /><Relationship Type="http://schemas.openxmlformats.org/officeDocument/2006/relationships/notesMaster" Target="/ppt/notesMasters/notesMaster1.xml" Id="R27f40271893042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564fd2fc7c4e00" /><Relationship Type="http://schemas.openxmlformats.org/officeDocument/2006/relationships/notesMaster" Target="/ppt/notesMasters/notesMaster1.xml" Id="Rd5ad66226c694e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b0e913efc349ec" /><Relationship Type="http://schemas.openxmlformats.org/officeDocument/2006/relationships/notesMaster" Target="/ppt/notesMasters/notesMaster1.xml" Id="R710780110e0d43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7ae50db8f54005" /><Relationship Type="http://schemas.openxmlformats.org/officeDocument/2006/relationships/notesMaster" Target="/ppt/notesMasters/notesMaster1.xml" Id="R9749ffaceed743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bc40f37be84426" /><Relationship Type="http://schemas.openxmlformats.org/officeDocument/2006/relationships/notesMaster" Target="/ppt/notesMasters/notesMaster1.xml" Id="R3f48533727fb44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4ab8abb2b84a10" /><Relationship Type="http://schemas.openxmlformats.org/officeDocument/2006/relationships/notesMaster" Target="/ppt/notesMasters/notesMaster1.xml" Id="R53323c3bcaae46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cd99db8b5b4399" /><Relationship Type="http://schemas.openxmlformats.org/officeDocument/2006/relationships/notesMaster" Target="/ppt/notesMasters/notesMaster1.xml" Id="R0a5ae8987fff4f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37f9148c174f45" /><Relationship Type="http://schemas.openxmlformats.org/officeDocument/2006/relationships/notesMaster" Target="/ppt/notesMasters/notesMaster1.xml" Id="R79ec7f4f099b42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c17752252f42c0" /><Relationship Type="http://schemas.openxmlformats.org/officeDocument/2006/relationships/notesMaster" Target="/ppt/notesMasters/notesMaster1.xml" Id="Rdceacc16b06544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5db05dd8f6486f" /><Relationship Type="http://schemas.openxmlformats.org/officeDocument/2006/relationships/notesMaster" Target="/ppt/notesMasters/notesMaster1.xml" Id="Rc03594be27864c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fd60c7f8184ca2" /><Relationship Type="http://schemas.openxmlformats.org/officeDocument/2006/relationships/notesMaster" Target="/ppt/notesMasters/notesMaster1.xml" Id="Ra7462987646a49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845f64f1174042" /><Relationship Type="http://schemas.openxmlformats.org/officeDocument/2006/relationships/notesMaster" Target="/ppt/notesMasters/notesMaster1.xml" Id="R2ec2bc4777ec48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db25571ff94a41" /><Relationship Type="http://schemas.openxmlformats.org/officeDocument/2006/relationships/notesMaster" Target="/ppt/notesMasters/notesMaster1.xml" Id="Rb3cd502690674f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f87aa1b7d3460f" /><Relationship Type="http://schemas.openxmlformats.org/officeDocument/2006/relationships/notesMaster" Target="/ppt/notesMasters/notesMaster1.xml" Id="R3a5408327dcc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Thesis is a working local research prototype. This is a progress showcase at 9 October 2026, not a claim of completed Week 11 or Week 12 outcomes. Team names were supplied by the user. Roles remain blank as requested. The structure follows the course announcement and the supplied RedPen examples, emphasizing development decisions, evidence, lessons and the next test. The RedPen results belong to the sample and are not Thesis results.</a:t>
            </a:r>
          </a:p>
          <a:p xmlns:a="http://schemas.openxmlformats.org/drawingml/2006/main">
            <a:r>
              <a:t/>
            </a:r>
          </a:p>
          <a:p xmlns:a="http://schemas.openxmlformats.org/drawingml/2006/main">
            <a:r>
              <a:t>Sources:</a:t>
            </a:r>
          </a:p>
          <a:p xmlns:a="http://schemas.openxmlformats.org/drawingml/2006/main">
            <a:r>
              <a:t>/Users/jiahuiwong/Downloads/RedPen Week 12 showcase v2.1.pdf</a:t>
            </a:r>
          </a:p>
          <a:p xmlns:a="http://schemas.openxmlformats.org/drawingml/2006/main">
            <a:r>
              <a:t>/Users/jiahuiwong/Documents/GitHub/Thesis/docs/features/companion-journey.md</a:t>
            </a:r>
          </a:p>
          <a:p xmlns:a="http://schemas.openxmlformats.org/drawingml/2006/main">
            <a:r>
              <a:t>/Users/jiahuiwong/Documents/GitHub/Thesis/README.md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 comes from the supplied journey map and the companion-journey design. She represents a student investor with a few holdings, not an interviewed participant. The problem and benefit are hypotheses. Daniel, a student preparing a club pitch without holding shares, is a second proposed path. A sourced argument or deciding not to invest can be a successful outcome.</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/var/folders/87/0jfdr_313bx978dg0l25xkzh0000gn/T/codex-clipboard-75aed1dd-4265-4068-8a34-89431640c625.png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1 October plan explicitly excludes cash-flow, CPF, insurance, card matching and curriculum gates from the current product. The 9 October companion journey adds a beginner-oriented path to the existing research and saved-reasoning foundation. These are scope and design decisions, not a completed customer pivot or validated business result.</a:t>
            </a:r>
          </a:p>
          <a:p xmlns:a="http://schemas.openxmlformats.org/drawingml/2006/main">
            <a:r>
              <a:t/>
            </a:r>
          </a:p>
          <a:p xmlns:a="http://schemas.openxmlformats.org/drawingml/2006/main">
            <a:r>
              <a:t>Sources:</a:t>
            </a:r>
          </a:p>
          <a:p xmlns:a="http://schemas.openxmlformats.org/drawingml/2006/main">
            <a:r>
              <a:t>/Users/jiahuiwong/Documents/GitHub/Thesis/docs/archive/planning/product-and-launch-plan.md</a:t>
            </a:r>
          </a:p>
          <a:p xmlns:a="http://schemas.openxmlformats.org/drawingml/2006/main">
            <a:r>
              <a:t>/Users/jiahuiwong/Documents/GitHub/Thesis/docs/features/companion-journey.md</a:t>
            </a:r>
          </a:p>
          <a:p xmlns:a="http://schemas.openxmlformats.org/drawingml/2006/main">
            <a:r>
              <a:t>/Users/jiahuiwong/Documents/GitHub/Thesis/docs/reviews/2026-10-09/companion-start.md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synthesizes the supplied five-stage persona journey and the two Mermaid flowcharts. Commit means committing the reasoning to a record, not committing money. Emotional states and likely pain points remain design hypotheses. No measured emotional journey or user conversion funnel is claimed.</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/Users/jiahuiwong/Downloads/mermaid-diagram.png</a:t>
            </a:r>
          </a:p>
          <a:p xmlns:a="http://schemas.openxmlformats.org/drawingml/2006/main">
            <a:r>
              <a:t>/Users/jiahuiwong/Downloads/mermaid-diagram (1).png</a:t>
            </a:r>
          </a:p>
          <a:p xmlns:a="http://schemas.openxmlformats.org/drawingml/2006/main">
            <a:r>
              <a:t>/var/folders/87/0jfdr_313bx978dg0l25xkzh0000gn/T/codex-clipboard-75aed1dd-4265-4068-8a34-89431640c625.png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flow is a synthesis of the conceptual journey. Current evidence dialogs, research questions and saved reasoning support it. Starter questions, term explanations and sentence-template hints were implemented on 9 October. A shortcut does not generate an answer or save an idea. The diagram expresses the intended experience, not an observed sequence or measured completion rate.</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/Users/jiahuiwong/Documents/GitHub/Thesis/docs/reviews/2026-10-09/companion-start.md</a:t>
            </a:r>
          </a:p>
          <a:p xmlns:a="http://schemas.openxmlformats.org/drawingml/2006/main">
            <a:r>
              <a:t>/Users/jiahuiwong/Downloads/mermaid-diagram.png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Following a real company, optional approved watches, check history, Updates, review acknowledgements and saved revision history exist. A dedicated practice-first dated-case mode and a connected look-back narrative remain proposed. The look-back step here can use existing saved history; it does not assert that the proposed summary is built. Acknowledging an alert records attention, not an investment decision. Monitoring is bounded by source coverage and app running state.</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/Users/jiahuiwong/Downloads/mermaid-diagram.png</a:t>
            </a:r>
          </a:p>
          <a:p xmlns:a="http://schemas.openxmlformats.org/drawingml/2006/main">
            <a:r>
              <a:t>/Users/jiahuiwong/Downloads/mermaid-diagram (1).png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friction is a design hypothesis. The shipped first slice provides four optional navigation shortcuts, eight types of term explanations, drafting hints and improved empty-state wording. Selecting a starter can prefill a new draft question only. It never writes the user’s reasoning or enables a watch. The captured guide is actual saved Broadcom UI from the documented read-only check, not a participant session. Independent comprehension testing remains outstanding.</a:t>
            </a:r>
          </a:p>
          <a:p xmlns:a="http://schemas.openxmlformats.org/drawingml/2006/main">
            <a:r>
              <a:t/>
            </a:r>
          </a:p>
          <a:p xmlns:a="http://schemas.openxmlformats.org/drawingml/2006/main">
            <a:r>
              <a:t>Sources:</a:t>
            </a:r>
          </a:p>
          <a:p xmlns:a="http://schemas.openxmlformats.org/drawingml/2006/main">
            <a:r>
              <a:t>/Users/jiahuiwong/Documents/GitHub/Thesis/docs/reviews/2026-10-09/companion-start.md</a:t>
            </a:r>
          </a:p>
          <a:p xmlns:a="http://schemas.openxmlformats.org/drawingml/2006/main">
            <a:r>
              <a:t>/Users/jiahuiwong/Documents/GitHub/Thesis/docs/features/companion-journey.md</a:t>
            </a:r>
          </a:p>
          <a:p xmlns:a="http://schemas.openxmlformats.org/drawingml/2006/main">
            <a:r>
              <a:t>/Users/jiahuiwong/Documents/GitHub/Thesis/.local/live-tests/companion-start-20261009/actual-guide-390.png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reported apparently conflicting revenue growth. The documented read-only check found Broadcom annual revenue US$63.887bn versus US$51.574bn, 23.9%, for 4 Nov 2024–2 Nov 2025 versus 30 Oct 2023–3 Nov 2024. Trailing revenue US$89.104bn versus US$59.926bn, 48.7%, for 4 Aug 2025–2 Aug 2026 versus 5 Aug 2024–3 Aug 2025. Values are rounded as displayed in the review. The change labels actual windows and preserves the original calculations. This demonstrates a presentation issue, not an independently validated financial conclusion. Screenshot is a saved local prototype view, not participant evidence.</a:t>
            </a:r>
          </a:p>
          <a:p xmlns:a="http://schemas.openxmlformats.org/drawingml/2006/main">
            <a:r>
              <a:t/>
            </a:r>
          </a:p>
          <a:p xmlns:a="http://schemas.openxmlformats.org/drawingml/2006/main">
            <a:r>
              <a:t>Sources:</a:t>
            </a:r>
          </a:p>
          <a:p xmlns:a="http://schemas.openxmlformats.org/drawingml/2006/main">
            <a:r>
              <a:t>/Users/jiahuiwong/Documents/GitHub/Thesis/docs/reviews/2026-10-09/content-first-ui.md</a:t>
            </a:r>
          </a:p>
          <a:p xmlns:a="http://schemas.openxmlformats.org/drawingml/2006/main">
            <a:r>
              <a:t>/Users/jiahuiwong/Documents/GitHub/Thesis/docs/features/financial-reading.md</a:t>
            </a:r>
          </a:p>
          <a:p xmlns:a="http://schemas.openxmlformats.org/drawingml/2006/main">
            <a:r>
              <a:t>/Users/jiahuiwong/Documents/GitHub/Thesis/.local/live-tests/reading-flow-20261009/actual-financials-1440.png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empty My ideas view explains the job and exposes the original editor. The companion implementation adds sentence-template placeholders and help, without writing them into saved reasoning. Drafts require no monitoring condition. Watches require a separate explicit action. The screenshot contains zero saved Broadcom ideas in that captured local account; this is not a customer usage count.</a:t>
            </a:r>
          </a:p>
          <a:p xmlns:a="http://schemas.openxmlformats.org/drawingml/2006/main">
            <a:r>
              <a:t/>
            </a:r>
          </a:p>
          <a:p xmlns:a="http://schemas.openxmlformats.org/drawingml/2006/main">
            <a:r>
              <a:t>Sources:</a:t>
            </a:r>
          </a:p>
          <a:p xmlns:a="http://schemas.openxmlformats.org/drawingml/2006/main">
            <a:r>
              <a:t>/Users/jiahuiwong/Documents/GitHub/Thesis/docs/reviews/2026-10-09/companion-start.md</a:t>
            </a:r>
          </a:p>
          <a:p xmlns:a="http://schemas.openxmlformats.org/drawingml/2006/main">
            <a:r>
              <a:t>/Users/jiahuiwong/Documents/GitHub/Thesis/docs/features/companion-journey.md</a:t>
            </a:r>
          </a:p>
          <a:p xmlns:a="http://schemas.openxmlformats.org/drawingml/2006/main">
            <a:r>
              <a:t>/Users/jiahuiwong/Documents/GitHub/Thesis/docs/reviews/2026-10-09/ideas-ui.md</a:t>
            </a:r>
          </a:p>
          <a:p xmlns:a="http://schemas.openxmlformats.org/drawingml/2006/main">
            <a:r>
              <a:t>/Users/jiahuiwong/Documents/GitHub/Thesis/.local/live-tests/reading-flow-20261009/actual-my-ideas-1440.png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shows an actual company-only Broadcom news alert. It does not establish personal relevance to a saved idea. The companion design proposes clearer private-alert and weekly-review wording when an exact saved-idea link exists. It must not invent that connection for company-only updates. The existing UI states that marking reviewed records attention, not approval of an investment or resolution of risk. Capture comes from the saved local prototype, not a live user study.</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/Users/jiahuiwong/Documents/GitHub/Thesis/docs/reviews/2026-10-09/updates-ui.md</a:t>
            </a:r>
          </a:p>
          <a:p xmlns:a="http://schemas.openxmlformats.org/drawingml/2006/main">
            <a:r>
              <a:t>/Users/jiahuiwong/Documents/GitHub/Thesis/.local/live-tests/reading-flow-20261009/actual-updates-1440.png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9 October, the first low-effort full sentiment trial stopped at batch five because it linked sources that it had classified unrelated. The unchanged validator rejected the complete response and no combined analysis was published. A clarified relevance instruction and subsequent test corrected the issue. The later frozen 12:07 SGT sample completed at 13:01:12 SGT: 120 originals, 15 batches, US$0.70617 across contributing calls. Earlier failures and their charges remain recorded. The number of completed batches and developer passage checks do not establish semantic accuracy, investment usefulness or future reliability.</a:t>
            </a:r>
          </a:p>
          <a:p xmlns:a="http://schemas.openxmlformats.org/drawingml/2006/main">
            <a:r>
              <a:t/>
            </a:r>
          </a:p>
          <a:p xmlns:a="http://schemas.openxmlformats.org/drawingml/2006/main">
            <a:r>
              <a:t>Sources:</a:t>
            </a:r>
          </a:p>
          <a:p xmlns:a="http://schemas.openxmlformats.org/drawingml/2006/main">
            <a:r>
              <a:t>/Users/jiahuiwong/Documents/GitHub/Thesis/docs/reviews/2026-10-09/sentiment-low-reasoning.md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supplied diagram’s Exists / Change / New labels using the documented 9 October implementation. The first slice shipped starter questions, term explanations, sentence-template hints and empty-state wording. It did not ship evidence-status grouping, the worry wizard, the new private-alert narrative, decision notes, the connected look-back view or practice-first dated cases. A generic existing fictional scenario is not the proposed staged practice mode. No signup-policy change is implied.</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/Users/jiahuiwong/Documents/GitHub/Thesis/docs/reviews/2026-10-09/companion-start.md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lessons are a synthesis of the cited design contracts and owner-reported implementation issues. They are not fabricated interview conclusions or personal testimony attributed to Bryant or Jia Hui. Starter-question usefulness, beginner understanding, repeat use and wider interpretation accuracy still need participant evaluation.</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a:p xmlns:a="http://schemas.openxmlformats.org/drawingml/2006/main">
            <a:r>
              <a:t>/Users/jiahuiwong/Documents/GitHub/Thesis/docs/reviews/2026-10-09/companion-start.md</a:t>
            </a:r>
          </a:p>
          <a:p xmlns:a="http://schemas.openxmlformats.org/drawingml/2006/main">
            <a:r>
              <a:t>/Users/jiahuiwong/Documents/GitHub/Thesis/docs/reviews/2026-10-09/content-first-ui.md</a:t>
            </a:r>
          </a:p>
          <a:p xmlns:a="http://schemas.openxmlformats.org/drawingml/2006/main">
            <a:r>
              <a:t>/Users/jiahuiwong/Documents/GitHub/Thesis/docs/reviews/2026-10-09/sentiment-low-reasoning.md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size and task come from the companion-journey testing proposal. Participants have not been recruited or tested by this deck task. Record completion, help, misconceptions and deliberate stopping. Include users who choose not to invest. Prepared sources and an identical case reduce differences in available evidence. The small sample supports formative learning, not population estimates.</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evaluation plan, not reported performance. The companion proposal suggests a frozen before/after sample and baseline notes workflow, followed later by return behavior around genuinely relevant independently reviewed events. Count participants and report help/misconceptions rather than inflating a small-sample rate. An alert open, acknowledgement, login, long session or trade alone is not proof of comprehension. Record people who stop rather than treating every stop as product failure.</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supplied no confirmed pricing, customer traction or funding ask. Engineering checks are not customer validation. The launch plan proposes subscriptions but leaves prices and quotas unresolved. A single successful analysis cost is not unit economics: shared reuse, refresh frequency, private checks, data access and support all affect operating costs. Independent usefulness, regulatory review of the actual intended service, hosting/security and participant readiness remain separate work before a public launch. No public launch or outreach is performed here.</a:t>
            </a:r>
          </a:p>
          <a:p xmlns:a="http://schemas.openxmlformats.org/drawingml/2006/main">
            <a:r>
              <a:t/>
            </a:r>
          </a:p>
          <a:p xmlns:a="http://schemas.openxmlformats.org/drawingml/2006/main">
            <a:r>
              <a:t>Sources:</a:t>
            </a:r>
          </a:p>
          <a:p xmlns:a="http://schemas.openxmlformats.org/drawingml/2006/main">
            <a:r>
              <a:t>/Users/jiahuiwong/Documents/GitHub/Thesis/README.md</a:t>
            </a:r>
          </a:p>
          <a:p xmlns:a="http://schemas.openxmlformats.org/drawingml/2006/main">
            <a:r>
              <a:t>/Users/jiahuiwong/Documents/GitHub/Thesis/docs/archive/planning/product-and-launch-plan.md</a:t>
            </a:r>
          </a:p>
          <a:p xmlns:a="http://schemas.openxmlformats.org/drawingml/2006/main">
            <a:r>
              <a:t>/Users/jiahuiwong/Documents/GitHub/Thesis/docs/reviews/2026-10-09/companion-start.md</a:t>
            </a:r>
          </a:p>
          <a:p xmlns:a="http://schemas.openxmlformats.org/drawingml/2006/main">
            <a:r>
              <a:t>/Users/jiahuiwong/Documents/GitHub/Thesis/docs/reviews/2026-10-09/sentiment-low-reasoning.md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showcase sample covers idea, execution, founder, teammate and person, with specific evidence for each member. Product/idea and execution lessons in this deck come from project records. No personal reflections, assigned roles, team conflict accounts or self-scores were supplied for Bryant or Jia Hui, so this slide is explicitly a retrospective discussion rather than invented testimony. For the final course submission, each person should ground their answer in an actual event, what they changed and where the lesson applies. The sample’s facts and reflections are not Thesis evidence.</a:t>
            </a:r>
          </a:p>
          <a:p xmlns:a="http://schemas.openxmlformats.org/drawingml/2006/main">
            <a:r>
              <a:t/>
            </a:r>
          </a:p>
          <a:p xmlns:a="http://schemas.openxmlformats.org/drawingml/2006/main">
            <a:r>
              <a:t>Sources:</a:t>
            </a:r>
          </a:p>
          <a:p xmlns:a="http://schemas.openxmlformats.org/drawingml/2006/main">
            <a:r>
              <a:t>/Users/jiahuiwong/Downloads/RedPen Week 12 showcase v2.1.pdf</a:t>
            </a:r>
          </a:p>
          <a:p xmlns:a="http://schemas.openxmlformats.org/drawingml/2006/main">
            <a:r>
              <a:t>https://canvas.nus.edu.sg/courses/98334/modules/174598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closing question is the next research objective. The deck does not claim that Thesis has improved user comprehension, returns or retention. A decision not to invest or to leave uncertainty unresolved can be a good outcome.</a:t>
            </a:r>
          </a:p>
          <a:p xmlns:a="http://schemas.openxmlformats.org/drawingml/2006/main">
            <a:r>
              <a:t/>
            </a:r>
          </a:p>
          <a:p xmlns:a="http://schemas.openxmlformats.org/drawingml/2006/main">
            <a:r>
              <a:t>Sources:</a:t>
            </a:r>
          </a:p>
          <a:p xmlns:a="http://schemas.openxmlformats.org/drawingml/2006/main">
            <a:r>
              <a:t>/Users/jiahuiwong/Documents/GitHub/Thesis/docs/features/companion-journey.md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user-supplied image preserved unchanged and scaled proportionally. The pictured Exists / Change / New labels precede the implemented starter-question and term-explanation slice, so see slide 12 for the current status. The curve is an authored hypothetical journey, not measured feelings. The other two supplied flowcharts inform slides 4–6 and retain the optional-monitoring, valid-stopping, reflection and proposed-practice branches.</a:t>
            </a:r>
          </a:p>
          <a:p xmlns:a="http://schemas.openxmlformats.org/drawingml/2006/main">
            <a:r>
              <a:t/>
            </a:r>
          </a:p>
          <a:p xmlns:a="http://schemas.openxmlformats.org/drawingml/2006/main">
            <a:r>
              <a:t>Sources:</a:t>
            </a:r>
          </a:p>
          <a:p xmlns:a="http://schemas.openxmlformats.org/drawingml/2006/main">
            <a:r>
              <a:t>/var/folders/87/0jfdr_313bx978dg0l25xkzh0000gn/T/codex-clipboard-75aed1dd-4265-4068-8a34-89431640c625.png</a:t>
            </a:r>
          </a:p>
          <a:p xmlns:a="http://schemas.openxmlformats.org/drawingml/2006/main">
            <a:r>
              <a:t>/Users/jiahuiwong/Downloads/mermaid-diagram.png</a:t>
            </a:r>
          </a:p>
          <a:p xmlns:a="http://schemas.openxmlformats.org/drawingml/2006/main">
            <a:r>
              <a:t>/Users/jiahuiwong/Downloads/mermaid-diagram (1).png</a:t>
            </a:r>
          </a:p>
          <a:p xmlns:a="http://schemas.openxmlformats.org/drawingml/2006/main">
            <a:r>
              <a:t>/Users/jiahuiwong/Documents/GitHub/Thesis/docs/features/companion-journey.md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04117e01c14b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ef7f2886d04a9f" /><Relationship Type="http://schemas.openxmlformats.org/officeDocument/2006/relationships/slideLayout" Target="/ppt/slideLayouts/slideLayout1.xml" Id="Rf76e06058f664d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6e06058f664d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243fc529114169" /><Relationship Type="http://schemas.openxmlformats.org/officeDocument/2006/relationships/notesSlide" Target="/ppt/notesSlides/notesSlide1.xml" Id="R3b905ad55ebb4d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c01dfa4fa742b1" /><Relationship Type="http://schemas.openxmlformats.org/officeDocument/2006/relationships/notesSlide" Target="/ppt/notesSlides/notesSlide2.xml" Id="Rad0f07754f5e40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96e7d1b44d4dbd" /><Relationship Type="http://schemas.openxmlformats.org/officeDocument/2006/relationships/notesSlide" Target="/ppt/notesSlides/notesSlide3.xml" Id="Rf9055b7c9c0046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26186b98914855" /><Relationship Type="http://schemas.openxmlformats.org/officeDocument/2006/relationships/notesSlide" Target="/ppt/notesSlides/notesSlide4.xml" Id="Rbe7439757d7d4a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9fe04d65334cdd" /><Relationship Type="http://schemas.openxmlformats.org/officeDocument/2006/relationships/notesSlide" Target="/ppt/notesSlides/notesSlide5.xml" Id="R980136828e464a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13c7aa4636493b" /><Relationship Type="http://schemas.openxmlformats.org/officeDocument/2006/relationships/notesSlide" Target="/ppt/notesSlides/notesSlide6.xml" Id="Re73819cac57442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22a4cee4924c9e" /><Relationship Type="http://schemas.openxmlformats.org/officeDocument/2006/relationships/image" Target="/ppt/media/image.png" Id="Rfede070826ae4cb3" /><Relationship Type="http://schemas.openxmlformats.org/officeDocument/2006/relationships/notesSlide" Target="/ppt/notesSlides/notesSlide7.xml" Id="R7e4df10292944c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433f43255945af" /><Relationship Type="http://schemas.openxmlformats.org/officeDocument/2006/relationships/image" Target="/ppt/media/image2.png" Id="R98ea2984a2eb402e" /><Relationship Type="http://schemas.openxmlformats.org/officeDocument/2006/relationships/notesSlide" Target="/ppt/notesSlides/notesSlide8.xml" Id="Re1ed6d930b7042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71045a9964481b" /><Relationship Type="http://schemas.openxmlformats.org/officeDocument/2006/relationships/image" Target="/ppt/media/image3.png" Id="R1cab34bb21c4490b" /><Relationship Type="http://schemas.openxmlformats.org/officeDocument/2006/relationships/notesSlide" Target="/ppt/notesSlides/notesSlide9.xml" Id="R8e692ba78a6342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9a7292a0af456e" /><Relationship Type="http://schemas.openxmlformats.org/officeDocument/2006/relationships/image" Target="/ppt/media/image4.png" Id="R39616b026ba54b66" /><Relationship Type="http://schemas.openxmlformats.org/officeDocument/2006/relationships/notesSlide" Target="/ppt/notesSlides/notesSlide10.xml" Id="R2165313971fb4b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b2a0c288e74b11" /><Relationship Type="http://schemas.openxmlformats.org/officeDocument/2006/relationships/notesSlide" Target="/ppt/notesSlides/notesSlide11.xml" Id="R51e06a17db5a46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3a64ce64384dfb" /><Relationship Type="http://schemas.openxmlformats.org/officeDocument/2006/relationships/notesSlide" Target="/ppt/notesSlides/notesSlide12.xml" Id="R2752f3cad4bd4b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d9baf8f449401e" /><Relationship Type="http://schemas.openxmlformats.org/officeDocument/2006/relationships/notesSlide" Target="/ppt/notesSlides/notesSlide13.xml" Id="R6d897e3a5ae240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f082efae894da5" /><Relationship Type="http://schemas.openxmlformats.org/officeDocument/2006/relationships/notesSlide" Target="/ppt/notesSlides/notesSlide14.xml" Id="Rf9e08802f3f946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f4c128f4e234f95" /><Relationship Type="http://schemas.openxmlformats.org/officeDocument/2006/relationships/notesSlide" Target="/ppt/notesSlides/notesSlide15.xml" Id="R01a6fdd8372942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283ae53193a4e95" /><Relationship Type="http://schemas.openxmlformats.org/officeDocument/2006/relationships/notesSlide" Target="/ppt/notesSlides/notesSlide16.xml" Id="R121acde2e3c44a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d1f0bad4e249df" /><Relationship Type="http://schemas.openxmlformats.org/officeDocument/2006/relationships/notesSlide" Target="/ppt/notesSlides/notesSlide17.xml" Id="R988e533d45d745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e79e34dff64c0b" /><Relationship Type="http://schemas.openxmlformats.org/officeDocument/2006/relationships/notesSlide" Target="/ppt/notesSlides/notesSlide18.xml" Id="Rf977711ab95943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523831133d049ed" /><Relationship Type="http://schemas.openxmlformats.org/officeDocument/2006/relationships/image" Target="/ppt/media/image5.png" Id="Rbd1a2506368d40a7" /><Relationship Type="http://schemas.openxmlformats.org/officeDocument/2006/relationships/notesSlide" Target="/ppt/notesSlides/notesSlide19.xml" Id="R4f8c4fc45b1e493e" /></Relationships>
</file>

<file path=ppt/slides/slide1.xml><?xml version="1.0" encoding="utf-8"?>
<p:sld xmlns:p="http://schemas.openxmlformats.org/presentationml/2006/main">
  <p:cSld>
    <p:bg>
      <p:bgPr>
        <a:solidFill xmlns:a="http://schemas.openxmlformats.org/drawingml/2006/main">
          <a:srgbClr val="304674"/>
        </a:solidFill>
      </p:bgPr>
    </p:bg>
    <p:spTree>
      <p:nvGrpSpPr>
        <p:cNvPr id="1" name=""/>
        <p:cNvGrpSpPr/>
        <p:nvPr/>
      </p:nvGrpSpPr>
      <p:grpSpPr>
        <a:xfrm xmlns:a="http://schemas.openxmlformats.org/drawingml/2006/main"/>
      </p:grpSpPr>
      <p:sp>
        <p:nvSpPr>
          <p:cNvPr id="8" name="THESIS">
            <a:extLst xmlns:a="http://schemas.openxmlformats.org/drawingml/2006/main">
              <a:ext uri="{FF2B5EF4-FFF2-40B4-BE49-F238E27FC236}">
                <a16:creationId xmlns:a16="http://schemas.microsoft.com/office/drawing/2014/main" id="{24B99E0A-48F7-4272-AA15-5F9660D7517A}"/>
              </a:ext>
            </a:extLst>
          </p:cNvPr>
          <p:cNvSpPr>
            <a:spLocks xmlns:a="http://schemas.openxmlformats.org/drawingml/2006/main" noGrp="1"/>
          </p:cNvSpPr>
          <p:nvPr/>
        </p:nvSpPr>
        <p:spPr>
          <a:xfrm xmlns:a="http://schemas.openxmlformats.org/drawingml/2006/main">
            <a:off x="628650" y="4667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00" b="1">
                <a:solidFill>
                  <a:srgbClr val="FFFFFF"/>
                </a:solidFill>
                <a:latin typeface="Trebuchet MS"/>
                <a:ea typeface="Trebuchet MS"/>
                <a:cs typeface="Trebuchet MS"/>
              </a:defRPr>
            </a:pPr>
            <a:r>
              <a:rPr sz="1800" b="1">
                <a:solidFill>
                  <a:srgbClr val="FFFFFF"/>
                </a:solidFill>
                <a:latin typeface="Trebuchet MS"/>
                <a:ea typeface="Trebuchet MS"/>
                <a:cs typeface="Trebuchet MS"/>
              </a:rPr>
              <a:t>THESIS</a:t>
            </a:r>
          </a:p>
        </p:txBody>
      </p:sp>
      <p:sp>
        <p:nvSpPr>
          <p:cNvPr id="2" name="Our product journey&#10;so far">
            <a:extLst xmlns:a="http://schemas.openxmlformats.org/drawingml/2006/main">
              <a:ext uri="{FF2B5EF4-FFF2-40B4-BE49-F238E27FC236}">
                <a16:creationId xmlns:a16="http://schemas.microsoft.com/office/drawing/2014/main" id="{52A074D2-84A7-4F57-858A-06A3C5947530}"/>
              </a:ext>
            </a:extLst>
          </p:cNvPr>
          <p:cNvSpPr>
            <a:spLocks xmlns:a="http://schemas.openxmlformats.org/drawingml/2006/main" noGrp="1"/>
          </p:cNvSpPr>
          <p:nvPr/>
        </p:nvSpPr>
        <p:spPr>
          <a:xfrm xmlns:a="http://schemas.openxmlformats.org/drawingml/2006/main">
            <a:off x="628650" y="1733550"/>
            <a:ext cx="1038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5250" b="1">
                <a:solidFill>
                  <a:srgbClr val="FFFFFF"/>
                </a:solidFill>
                <a:latin typeface="Trebuchet MS"/>
                <a:ea typeface="Trebuchet MS"/>
                <a:cs typeface="Trebuchet MS"/>
              </a:defRPr>
            </a:pPr>
            <a:r>
              <a:rPr sz="5250" b="1">
                <a:solidFill>
                  <a:srgbClr val="FFFFFF"/>
                </a:solidFill>
                <a:latin typeface="Trebuchet MS"/>
                <a:ea typeface="Trebuchet MS"/>
                <a:cs typeface="Trebuchet MS"/>
              </a:rPr>
              <a:t>Our product journey</a:t>
            </a:r>
          </a:p>
          <a:p xmlns:a="http://schemas.openxmlformats.org/drawingml/2006/main">
            <a:pPr marL="0" indent="0" algn="l">
              <a:lnSpc>
                <a:spcPct val="112000"/>
              </a:lnSpc>
              <a:spcBef>
                <a:spcPts val="0"/>
              </a:spcBef>
              <a:spcAft>
                <a:spcPts val="0"/>
              </a:spcAft>
              <a:buNone/>
              <a:defRPr sz="5250" b="1">
                <a:solidFill>
                  <a:srgbClr val="FFFFFF"/>
                </a:solidFill>
                <a:latin typeface="Trebuchet MS"/>
                <a:ea typeface="Trebuchet MS"/>
                <a:cs typeface="Trebuchet MS"/>
              </a:defRPr>
            </a:pPr>
            <a:r>
              <a:rPr sz="5250" b="1">
                <a:solidFill>
                  <a:srgbClr val="FFFFFF"/>
                </a:solidFill>
                <a:latin typeface="Trebuchet MS"/>
                <a:ea typeface="Trebuchet MS"/>
                <a:cs typeface="Trebuchet MS"/>
              </a:rPr>
              <a:t>so far</a:t>
            </a:r>
          </a:p>
        </p:txBody>
      </p:sp>
      <p:sp>
        <p:nvSpPr>
          <p:cNvPr id="3" name="Helping new investors explore an idea&#10;and revisit their own reas">
            <a:extLst xmlns:a="http://schemas.openxmlformats.org/drawingml/2006/main">
              <a:ext uri="{FF2B5EF4-FFF2-40B4-BE49-F238E27FC236}">
                <a16:creationId xmlns:a16="http://schemas.microsoft.com/office/drawing/2014/main" id="{A5F69730-1643-45FF-BD65-57424DAE0AA3}"/>
              </a:ext>
            </a:extLst>
          </p:cNvPr>
          <p:cNvSpPr>
            <a:spLocks xmlns:a="http://schemas.openxmlformats.org/drawingml/2006/main" noGrp="1"/>
          </p:cNvSpPr>
          <p:nvPr/>
        </p:nvSpPr>
        <p:spPr>
          <a:xfrm xmlns:a="http://schemas.openxmlformats.org/drawingml/2006/main">
            <a:off x="666750" y="3705225"/>
            <a:ext cx="1028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550" b="0">
                <a:solidFill>
                  <a:srgbClr val="FFFFFF"/>
                </a:solidFill>
                <a:latin typeface="Trebuchet MS"/>
                <a:ea typeface="Trebuchet MS"/>
                <a:cs typeface="Trebuchet MS"/>
              </a:defRPr>
            </a:pPr>
            <a:r>
              <a:rPr sz="2550" b="0">
                <a:solidFill>
                  <a:srgbClr val="FFFFFF"/>
                </a:solidFill>
                <a:latin typeface="Trebuchet MS"/>
                <a:ea typeface="Trebuchet MS"/>
                <a:cs typeface="Trebuchet MS"/>
              </a:rPr>
              <a:t>Helping new investors explore an idea</a:t>
            </a:r>
          </a:p>
          <a:p xmlns:a="http://schemas.openxmlformats.org/drawingml/2006/main">
            <a:pPr marL="0" indent="0" algn="l">
              <a:lnSpc>
                <a:spcPct val="112000"/>
              </a:lnSpc>
              <a:spcBef>
                <a:spcPts val="0"/>
              </a:spcBef>
              <a:spcAft>
                <a:spcPts val="0"/>
              </a:spcAft>
              <a:buNone/>
              <a:defRPr sz="2550" b="0">
                <a:solidFill>
                  <a:srgbClr val="FFFFFF"/>
                </a:solidFill>
                <a:latin typeface="Trebuchet MS"/>
                <a:ea typeface="Trebuchet MS"/>
                <a:cs typeface="Trebuchet MS"/>
              </a:defRPr>
            </a:pPr>
            <a:r>
              <a:rPr sz="2550" b="0">
                <a:solidFill>
                  <a:srgbClr val="FFFFFF"/>
                </a:solidFill>
                <a:latin typeface="Trebuchet MS"/>
                <a:ea typeface="Trebuchet MS"/>
                <a:cs typeface="Trebuchet MS"/>
              </a:rPr>
              <a:t>and revisit their own reasoning</a:t>
            </a:r>
          </a:p>
        </p:txBody>
      </p:sp>
      <p:sp>
        <p:nvSpPr>
          <p:cNvPr id="4" name="Bryant   &amp;   Jia Hui">
            <a:extLst xmlns:a="http://schemas.openxmlformats.org/drawingml/2006/main">
              <a:ext uri="{FF2B5EF4-FFF2-40B4-BE49-F238E27FC236}">
                <a16:creationId xmlns:a16="http://schemas.microsoft.com/office/drawing/2014/main" id="{F31D23A8-69A0-47F2-BAF7-6EE59EC3758E}"/>
              </a:ext>
            </a:extLst>
          </p:cNvPr>
          <p:cNvSpPr>
            <a:spLocks xmlns:a="http://schemas.openxmlformats.org/drawingml/2006/main" noGrp="1"/>
          </p:cNvSpPr>
          <p:nvPr/>
        </p:nvSpPr>
        <p:spPr>
          <a:xfrm xmlns:a="http://schemas.openxmlformats.org/drawingml/2006/main">
            <a:off x="666750" y="53244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0">
                <a:solidFill>
                  <a:srgbClr val="FFFFFF"/>
                </a:solidFill>
                <a:latin typeface="Trebuchet MS"/>
                <a:ea typeface="Trebuchet MS"/>
                <a:cs typeface="Trebuchet MS"/>
              </a:defRPr>
            </a:pPr>
            <a:r>
              <a:rPr sz="2100" b="0">
                <a:solidFill>
                  <a:srgbClr val="FFFFFF"/>
                </a:solidFill>
                <a:latin typeface="Trebuchet MS"/>
                <a:ea typeface="Trebuchet MS"/>
                <a:cs typeface="Trebuchet MS"/>
              </a:rPr>
              <a:t>Bryant   &amp;   Jia Hui</a:t>
            </a:r>
          </a:p>
        </p:txBody>
      </p:sp>
      <p:sp>
        <p:nvSpPr>
          <p:cNvPr id="5" name="Bryant role (blank)">
            <a:extLst xmlns:a="http://schemas.openxmlformats.org/drawingml/2006/main">
              <a:ext uri="{FF2B5EF4-FFF2-40B4-BE49-F238E27FC236}">
                <a16:creationId xmlns:a16="http://schemas.microsoft.com/office/drawing/2014/main" id="{F286E3DC-3CAB-42FB-B224-1B903CE10B79}"/>
              </a:ext>
            </a:extLst>
          </p:cNvPr>
          <p:cNvSpPr>
            <a:spLocks xmlns:a="http://schemas.openxmlformats.org/drawingml/2006/main" noGrp="1"/>
          </p:cNvSpPr>
          <p:nvPr/>
        </p:nvSpPr>
        <p:spPr>
          <a:xfrm xmlns:a="http://schemas.openxmlformats.org/drawingml/2006/main">
            <a:off x="666750" y="57912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pPr>
            <a:r>
              <a:rPr sz="1500" b="0">
                <a:solidFill>
                  <a:srgbClr val="FFFFFF"/>
                </a:solidFill>
                <a:latin typeface="Trebuchet MS"/>
                <a:ea typeface="Trebuchet MS"/>
                <a:cs typeface="Trebuchet MS"/>
              </a:rPr>
              <a:t/>
            </a:r>
          </a:p>
        </p:txBody>
      </p:sp>
      <p:sp>
        <p:nvSpPr>
          <p:cNvPr id="6" name="Jia Hui role (blank)">
            <a:extLst xmlns:a="http://schemas.openxmlformats.org/drawingml/2006/main">
              <a:ext uri="{FF2B5EF4-FFF2-40B4-BE49-F238E27FC236}">
                <a16:creationId xmlns:a16="http://schemas.microsoft.com/office/drawing/2014/main" id="{49CE5576-E890-41F2-A1E6-40ACA040A052}"/>
              </a:ext>
            </a:extLst>
          </p:cNvPr>
          <p:cNvSpPr>
            <a:spLocks xmlns:a="http://schemas.openxmlformats.org/drawingml/2006/main" noGrp="1"/>
          </p:cNvSpPr>
          <p:nvPr/>
        </p:nvSpPr>
        <p:spPr>
          <a:xfrm xmlns:a="http://schemas.openxmlformats.org/drawingml/2006/main">
            <a:off x="5048250" y="57912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pPr>
            <a:r>
              <a:rPr sz="1500" b="0">
                <a:solidFill>
                  <a:srgbClr val="FFFFFF"/>
                </a:solidFill>
                <a:latin typeface="Trebuchet MS"/>
                <a:ea typeface="Trebuchet MS"/>
                <a:cs typeface="Trebuchet MS"/>
              </a:rPr>
              <a:t/>
            </a:r>
          </a:p>
        </p:txBody>
      </p:sp>
      <p:sp>
        <p:nvSpPr>
          <p:cNvPr id="7" name="CP1001 progress showcase   9 October 2026">
            <a:extLst xmlns:a="http://schemas.openxmlformats.org/drawingml/2006/main">
              <a:ext uri="{FF2B5EF4-FFF2-40B4-BE49-F238E27FC236}">
                <a16:creationId xmlns:a16="http://schemas.microsoft.com/office/drawing/2014/main" id="{5CFB3FF7-98A4-453C-868A-D24C75735F6C}"/>
              </a:ext>
            </a:extLst>
          </p:cNvPr>
          <p:cNvSpPr>
            <a:spLocks xmlns:a="http://schemas.openxmlformats.org/drawingml/2006/main" noGrp="1"/>
          </p:cNvSpPr>
          <p:nvPr/>
        </p:nvSpPr>
        <p:spPr>
          <a:xfrm xmlns:a="http://schemas.openxmlformats.org/drawingml/2006/main">
            <a:off x="666750" y="633412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425" b="0">
                <a:solidFill>
                  <a:srgbClr val="D9E0EF"/>
                </a:solidFill>
                <a:latin typeface="Trebuchet MS"/>
                <a:ea typeface="Trebuchet MS"/>
                <a:cs typeface="Trebuchet MS"/>
              </a:defRPr>
            </a:pPr>
            <a:r>
              <a:rPr sz="1425" b="0">
                <a:solidFill>
                  <a:srgbClr val="D9E0EF"/>
                </a:solidFill>
                <a:latin typeface="Trebuchet MS"/>
                <a:ea typeface="Trebuchet MS"/>
                <a:cs typeface="Trebuchet MS"/>
              </a:rPr>
              <a:t>CP1001 progress showcase   9 October 2026</a:t>
            </a:r>
          </a:p>
        </p:txBody>
      </p:sp>
    </p:spTree>
    <p:extLst>
      <p:ext uri="{BB962C8B-B14F-4D97-AF65-F5344CB8AC3E}">
        <p14:creationId xmlns:p14="http://schemas.microsoft.com/office/powerpoint/2010/main" val="133930311"/>
      </p:ext>
    </p:extLst>
  </p:cSld>
</p:sld>
</file>

<file path=ppt/slides/slide2.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0" name="The starting problem">
            <a:extLst xmlns:a="http://schemas.openxmlformats.org/drawingml/2006/main">
              <a:ext uri="{FF2B5EF4-FFF2-40B4-BE49-F238E27FC236}">
                <a16:creationId xmlns:a16="http://schemas.microsoft.com/office/drawing/2014/main" id="{F23837C8-A7D2-43CF-BEDA-7B1D95DB1EAF}"/>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The starting problem</a:t>
            </a:r>
          </a:p>
        </p:txBody>
      </p:sp>
      <p:sp>
        <p:nvSpPr>
          <p:cNvPr id="2" name="A price move leaves a harder question">
            <a:extLst xmlns:a="http://schemas.openxmlformats.org/drawingml/2006/main">
              <a:ext uri="{FF2B5EF4-FFF2-40B4-BE49-F238E27FC236}">
                <a16:creationId xmlns:a16="http://schemas.microsoft.com/office/drawing/2014/main" id="{7003F4DF-3883-4540-84ED-3DD853D5DBCC}"/>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A price move leaves a harder question</a:t>
            </a:r>
          </a:p>
        </p:txBody>
      </p:sp>
      <p:sp>
        <p:nvSpPr>
          <p:cNvPr id="3" name="Thesis   CP1001   9 October 2026">
            <a:extLst xmlns:a="http://schemas.openxmlformats.org/drawingml/2006/main">
              <a:ext uri="{FF2B5EF4-FFF2-40B4-BE49-F238E27FC236}">
                <a16:creationId xmlns:a16="http://schemas.microsoft.com/office/drawing/2014/main" id="{A6EDC245-2A7E-42D3-873C-4BBCB2F65573}"/>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2">
            <a:extLst xmlns:a="http://schemas.openxmlformats.org/drawingml/2006/main">
              <a:ext uri="{FF2B5EF4-FFF2-40B4-BE49-F238E27FC236}">
                <a16:creationId xmlns:a16="http://schemas.microsoft.com/office/drawing/2014/main" id="{BA86F668-D822-43E4-BEBF-1192E95E264C}"/>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2</a:t>
            </a:r>
          </a:p>
        </p:txBody>
      </p:sp>
      <p:sp>
        <p:nvSpPr>
          <p:cNvPr id="5" name="“Does my reason&#10;still hold?”">
            <a:extLst xmlns:a="http://schemas.openxmlformats.org/drawingml/2006/main">
              <a:ext uri="{FF2B5EF4-FFF2-40B4-BE49-F238E27FC236}">
                <a16:creationId xmlns:a16="http://schemas.microsoft.com/office/drawing/2014/main" id="{B54F6AC4-4F08-4EAB-8ABA-0637F8873106}"/>
              </a:ext>
            </a:extLst>
          </p:cNvPr>
          <p:cNvSpPr>
            <a:spLocks xmlns:a="http://schemas.openxmlformats.org/drawingml/2006/main" noGrp="1"/>
          </p:cNvSpPr>
          <p:nvPr/>
        </p:nvSpPr>
        <p:spPr>
          <a:xfrm xmlns:a="http://schemas.openxmlformats.org/drawingml/2006/main">
            <a:off x="571500" y="2190750"/>
            <a:ext cx="5429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4200" b="1">
                <a:solidFill>
                  <a:srgbClr val="304674"/>
                </a:solidFill>
                <a:latin typeface="Trebuchet MS"/>
                <a:ea typeface="Trebuchet MS"/>
                <a:cs typeface="Trebuchet MS"/>
              </a:defRPr>
            </a:pPr>
            <a:r>
              <a:rPr sz="4200" b="1">
                <a:solidFill>
                  <a:srgbClr val="304674"/>
                </a:solidFill>
                <a:latin typeface="Trebuchet MS"/>
                <a:ea typeface="Trebuchet MS"/>
                <a:cs typeface="Trebuchet MS"/>
              </a:rPr>
              <a:t>“Does my reason</a:t>
            </a:r>
          </a:p>
          <a:p xmlns:a="http://schemas.openxmlformats.org/drawingml/2006/main">
            <a:pPr marL="0" indent="0" algn="l">
              <a:lnSpc>
                <a:spcPct val="112000"/>
              </a:lnSpc>
              <a:spcBef>
                <a:spcPts val="0"/>
              </a:spcBef>
              <a:spcAft>
                <a:spcPts val="0"/>
              </a:spcAft>
              <a:buNone/>
              <a:defRPr sz="4200" b="1">
                <a:solidFill>
                  <a:srgbClr val="304674"/>
                </a:solidFill>
                <a:latin typeface="Trebuchet MS"/>
                <a:ea typeface="Trebuchet MS"/>
                <a:cs typeface="Trebuchet MS"/>
              </a:defRPr>
            </a:pPr>
            <a:r>
              <a:rPr sz="4200" b="1">
                <a:solidFill>
                  <a:srgbClr val="304674"/>
                </a:solidFill>
                <a:latin typeface="Trebuchet MS"/>
                <a:ea typeface="Trebuchet MS"/>
                <a:cs typeface="Trebuchet MS"/>
              </a:rPr>
              <a:t>still hold?”</a:t>
            </a:r>
          </a:p>
        </p:txBody>
      </p:sp>
      <p:sp>
        <p:nvSpPr>
          <p:cNvPr id="6" name="Mei checks the headlines after a fall.&#10;She can see the price, bu">
            <a:extLst xmlns:a="http://schemas.openxmlformats.org/drawingml/2006/main">
              <a:ext uri="{FF2B5EF4-FFF2-40B4-BE49-F238E27FC236}">
                <a16:creationId xmlns:a16="http://schemas.microsoft.com/office/drawing/2014/main" id="{4A0ED099-BE00-4F51-BD7C-2263EFE3E787}"/>
              </a:ext>
            </a:extLst>
          </p:cNvPr>
          <p:cNvSpPr>
            <a:spLocks xmlns:a="http://schemas.openxmlformats.org/drawingml/2006/main" noGrp="1"/>
          </p:cNvSpPr>
          <p:nvPr/>
        </p:nvSpPr>
        <p:spPr>
          <a:xfrm xmlns:a="http://schemas.openxmlformats.org/drawingml/2006/main">
            <a:off x="6762750" y="2209800"/>
            <a:ext cx="4714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75" b="0">
                <a:solidFill>
                  <a:srgbClr val="202322"/>
                </a:solidFill>
                <a:latin typeface="Trebuchet MS"/>
                <a:ea typeface="Trebuchet MS"/>
                <a:cs typeface="Trebuchet MS"/>
              </a:defRPr>
            </a:pPr>
            <a:r>
              <a:rPr sz="2175" b="0">
                <a:solidFill>
                  <a:srgbClr val="202322"/>
                </a:solidFill>
                <a:latin typeface="Trebuchet MS"/>
                <a:ea typeface="Trebuchet MS"/>
                <a:cs typeface="Trebuchet MS"/>
              </a:rPr>
              <a:t>Mei checks the headlines after a fall.</a:t>
            </a:r>
          </a:p>
          <a:p xmlns:a="http://schemas.openxmlformats.org/drawingml/2006/main">
            <a:pPr marL="0" indent="0" algn="l">
              <a:lnSpc>
                <a:spcPct val="112000"/>
              </a:lnSpc>
              <a:spcBef>
                <a:spcPts val="0"/>
              </a:spcBef>
              <a:spcAft>
                <a:spcPts val="0"/>
              </a:spcAft>
              <a:buNone/>
              <a:defRPr sz="2175" b="0">
                <a:solidFill>
                  <a:srgbClr val="202322"/>
                </a:solidFill>
                <a:latin typeface="Trebuchet MS"/>
                <a:ea typeface="Trebuchet MS"/>
                <a:cs typeface="Trebuchet MS"/>
              </a:defRPr>
            </a:pPr>
            <a:r>
              <a:rPr sz="2175" b="0">
                <a:solidFill>
                  <a:srgbClr val="202322"/>
                </a:solidFill>
                <a:latin typeface="Trebuchet MS"/>
                <a:ea typeface="Trebuchet MS"/>
                <a:cs typeface="Trebuchet MS"/>
              </a:rPr>
              <a:t>She can see the price, but struggles</a:t>
            </a:r>
          </a:p>
          <a:p xmlns:a="http://schemas.openxmlformats.org/drawingml/2006/main">
            <a:pPr marL="0" indent="0" algn="l">
              <a:lnSpc>
                <a:spcPct val="112000"/>
              </a:lnSpc>
              <a:spcBef>
                <a:spcPts val="0"/>
              </a:spcBef>
              <a:spcAft>
                <a:spcPts val="0"/>
              </a:spcAft>
              <a:buNone/>
              <a:defRPr sz="2175" b="0">
                <a:solidFill>
                  <a:srgbClr val="202322"/>
                </a:solidFill>
                <a:latin typeface="Trebuchet MS"/>
                <a:ea typeface="Trebuchet MS"/>
                <a:cs typeface="Trebuchet MS"/>
              </a:defRPr>
            </a:pPr>
            <a:r>
              <a:rPr sz="2175" b="0">
                <a:solidFill>
                  <a:srgbClr val="202322"/>
                </a:solidFill>
                <a:latin typeface="Trebuchet MS"/>
                <a:ea typeface="Trebuchet MS"/>
                <a:cs typeface="Trebuchet MS"/>
              </a:rPr>
              <a:t>to connect it to her original view.</a:t>
            </a:r>
          </a:p>
        </p:txBody>
      </p:sp>
      <p:sp>
        <p:nvSpPr>
          <p:cNvPr id="7" name="Our hypothesis">
            <a:extLst xmlns:a="http://schemas.openxmlformats.org/drawingml/2006/main">
              <a:ext uri="{FF2B5EF4-FFF2-40B4-BE49-F238E27FC236}">
                <a16:creationId xmlns:a16="http://schemas.microsoft.com/office/drawing/2014/main" id="{87FF0821-AC7E-4E26-9DCD-DAB6C0E34068}"/>
              </a:ext>
            </a:extLst>
          </p:cNvPr>
          <p:cNvSpPr>
            <a:spLocks xmlns:a="http://schemas.openxmlformats.org/drawingml/2006/main" noGrp="1"/>
          </p:cNvSpPr>
          <p:nvPr/>
        </p:nvSpPr>
        <p:spPr>
          <a:xfrm xmlns:a="http://schemas.openxmlformats.org/drawingml/2006/main">
            <a:off x="6762750" y="3990975"/>
            <a:ext cx="471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D95520"/>
                </a:solidFill>
                <a:latin typeface="Trebuchet MS"/>
                <a:ea typeface="Trebuchet MS"/>
                <a:cs typeface="Trebuchet MS"/>
              </a:defRPr>
            </a:pPr>
            <a:r>
              <a:rPr sz="1875" b="1">
                <a:solidFill>
                  <a:srgbClr val="D95520"/>
                </a:solidFill>
                <a:latin typeface="Trebuchet MS"/>
                <a:ea typeface="Trebuchet MS"/>
                <a:cs typeface="Trebuchet MS"/>
              </a:rPr>
              <a:t>Our hypothesis</a:t>
            </a:r>
          </a:p>
        </p:txBody>
      </p:sp>
      <p:sp>
        <p:nvSpPr>
          <p:cNvPr id="8" name="Keeping the reasoning beside dated&#10;evidence could make the next ">
            <a:extLst xmlns:a="http://schemas.openxmlformats.org/drawingml/2006/main">
              <a:ext uri="{FF2B5EF4-FFF2-40B4-BE49-F238E27FC236}">
                <a16:creationId xmlns:a16="http://schemas.microsoft.com/office/drawing/2014/main" id="{709581A2-8D2F-4773-8193-CFA9AC2F6FCD}"/>
              </a:ext>
            </a:extLst>
          </p:cNvPr>
          <p:cNvSpPr>
            <a:spLocks xmlns:a="http://schemas.openxmlformats.org/drawingml/2006/main" noGrp="1"/>
          </p:cNvSpPr>
          <p:nvPr/>
        </p:nvSpPr>
        <p:spPr>
          <a:xfrm xmlns:a="http://schemas.openxmlformats.org/drawingml/2006/main">
            <a:off x="6762750" y="4429125"/>
            <a:ext cx="4714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0">
                <a:solidFill>
                  <a:srgbClr val="202322"/>
                </a:solidFill>
                <a:latin typeface="Trebuchet MS"/>
                <a:ea typeface="Trebuchet MS"/>
                <a:cs typeface="Trebuchet MS"/>
              </a:defRPr>
            </a:pPr>
            <a:r>
              <a:rPr sz="2100" b="0">
                <a:solidFill>
                  <a:srgbClr val="202322"/>
                </a:solidFill>
                <a:latin typeface="Trebuchet MS"/>
                <a:ea typeface="Trebuchet MS"/>
                <a:cs typeface="Trebuchet MS"/>
              </a:rPr>
              <a:t>Keeping the reasoning beside dated</a:t>
            </a:r>
          </a:p>
          <a:p xmlns:a="http://schemas.openxmlformats.org/drawingml/2006/main">
            <a:pPr marL="0" indent="0" algn="l">
              <a:lnSpc>
                <a:spcPct val="112000"/>
              </a:lnSpc>
              <a:spcBef>
                <a:spcPts val="0"/>
              </a:spcBef>
              <a:spcAft>
                <a:spcPts val="0"/>
              </a:spcAft>
              <a:buNone/>
              <a:defRPr sz="2100" b="0">
                <a:solidFill>
                  <a:srgbClr val="202322"/>
                </a:solidFill>
                <a:latin typeface="Trebuchet MS"/>
                <a:ea typeface="Trebuchet MS"/>
                <a:cs typeface="Trebuchet MS"/>
              </a:defRPr>
            </a:pPr>
            <a:r>
              <a:rPr sz="2100" b="0">
                <a:solidFill>
                  <a:srgbClr val="202322"/>
                </a:solidFill>
                <a:latin typeface="Trebuchet MS"/>
                <a:ea typeface="Trebuchet MS"/>
                <a:cs typeface="Trebuchet MS"/>
              </a:rPr>
              <a:t>evidence could make the next review</a:t>
            </a:r>
          </a:p>
          <a:p xmlns:a="http://schemas.openxmlformats.org/drawingml/2006/main">
            <a:pPr marL="0" indent="0" algn="l">
              <a:lnSpc>
                <a:spcPct val="112000"/>
              </a:lnSpc>
              <a:spcBef>
                <a:spcPts val="0"/>
              </a:spcBef>
              <a:spcAft>
                <a:spcPts val="0"/>
              </a:spcAft>
              <a:buNone/>
              <a:defRPr sz="2100" b="0">
                <a:solidFill>
                  <a:srgbClr val="202322"/>
                </a:solidFill>
                <a:latin typeface="Trebuchet MS"/>
                <a:ea typeface="Trebuchet MS"/>
                <a:cs typeface="Trebuchet MS"/>
              </a:defRPr>
            </a:pPr>
            <a:r>
              <a:rPr sz="2100" b="0">
                <a:solidFill>
                  <a:srgbClr val="202322"/>
                </a:solidFill>
                <a:latin typeface="Trebuchet MS"/>
                <a:ea typeface="Trebuchet MS"/>
                <a:cs typeface="Trebuchet MS"/>
              </a:rPr>
              <a:t>easier to understand.</a:t>
            </a:r>
          </a:p>
        </p:txBody>
      </p:sp>
      <p:sp>
        <p:nvSpPr>
          <p:cNvPr id="9" name="Mei is a design persona. Her thoughts and feelings are hypothese">
            <a:extLst xmlns:a="http://schemas.openxmlformats.org/drawingml/2006/main">
              <a:ext uri="{FF2B5EF4-FFF2-40B4-BE49-F238E27FC236}">
                <a16:creationId xmlns:a16="http://schemas.microsoft.com/office/drawing/2014/main" id="{51E3A20F-37C7-4819-8BE0-8D2F3D343B5D}"/>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Mei is a design persona. Her thoughts and feelings are hypotheses, not interview findings.</a:t>
            </a:r>
          </a:p>
        </p:txBody>
      </p:sp>
    </p:spTree>
    <p:extLst>
      <p:ext uri="{BB962C8B-B14F-4D97-AF65-F5344CB8AC3E}">
        <p14:creationId xmlns:p14="http://schemas.microsoft.com/office/powerpoint/2010/main" val="1731096359"/>
      </p:ext>
    </p:extLst>
  </p:cSld>
</p:sld>
</file>

<file path=ppt/slides/slide3.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7" name="How the idea changed">
            <a:extLst xmlns:a="http://schemas.openxmlformats.org/drawingml/2006/main">
              <a:ext uri="{FF2B5EF4-FFF2-40B4-BE49-F238E27FC236}">
                <a16:creationId xmlns:a16="http://schemas.microsoft.com/office/drawing/2014/main" id="{01EEF3C3-B5CA-4C71-9865-94C9F5B5376C}"/>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How the idea changed</a:t>
            </a:r>
          </a:p>
        </p:txBody>
      </p:sp>
      <p:sp>
        <p:nvSpPr>
          <p:cNvPr id="2" name="The scope narrowed around one research loop">
            <a:extLst xmlns:a="http://schemas.openxmlformats.org/drawingml/2006/main">
              <a:ext uri="{FF2B5EF4-FFF2-40B4-BE49-F238E27FC236}">
                <a16:creationId xmlns:a16="http://schemas.microsoft.com/office/drawing/2014/main" id="{8009BB14-417F-432C-A3FF-4F8687F57734}"/>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The scope narrowed around one research loop</a:t>
            </a:r>
          </a:p>
        </p:txBody>
      </p:sp>
      <p:sp>
        <p:nvSpPr>
          <p:cNvPr id="3" name="Thesis   CP1001   9 October 2026">
            <a:extLst xmlns:a="http://schemas.openxmlformats.org/drawingml/2006/main">
              <a:ext uri="{FF2B5EF4-FFF2-40B4-BE49-F238E27FC236}">
                <a16:creationId xmlns:a16="http://schemas.microsoft.com/office/drawing/2014/main" id="{F3A4B09E-F925-4C68-9F95-DCAF63217ECC}"/>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3">
            <a:extLst xmlns:a="http://schemas.openxmlformats.org/drawingml/2006/main">
              <a:ext uri="{FF2B5EF4-FFF2-40B4-BE49-F238E27FC236}">
                <a16:creationId xmlns:a16="http://schemas.microsoft.com/office/drawing/2014/main" id="{5F800C7C-E0FC-48ED-A1E9-3E6E90C7AB62}"/>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3</a:t>
            </a:r>
          </a:p>
        </p:txBody>
      </p:sp>
      <p:graphicFrame>
        <p:nvGraphicFramePr>
          <p:cNvPr id="11" name=""/>
          <p:cNvGraphicFramePr/>
          <p:nvPr/>
        </p:nvGraphicFramePr>
        <p:xfrm>
          <a:off xmlns:a="http://schemas.openxmlformats.org/drawingml/2006/main" x="571500" y="2143125"/>
          <a:ext xmlns:a="http://schemas.openxmlformats.org/drawingml/2006/main" cx="11049000" cy="3638550"/>
        </p:xfrm>
        <a:graphic xmlns:a="http://schemas.openxmlformats.org/drawingml/2006/main">
          <a:graphicData uri="http://schemas.openxmlformats.org/drawingml/2006/table">
            <a:tbl>
              <a:tblPr firstRow="1" bandRow="0" bandCol="0"/>
              <a:tblGrid>
                <a:gridCol w="2190750"/>
                <a:gridCol w="3857625"/>
                <a:gridCol w="5000625"/>
              </a:tblGrid>
              <a:tr h="552450">
                <a:tc>
                  <a:txBody>
                    <a:bodyPr lIns="152400" tIns="95250" rIns="152400" bIns="95250">
                      <a:noAutofit/>
                    </a:bodyPr>
                    <a:lstStyle/>
                    <a:p>
                      <a:r>
                        <a:rPr sz="1875" b="1">
                          <a:solidFill>
                            <a:srgbClr val="FFFFFF"/>
                          </a:solidFill>
                          <a:latin typeface="Trebuchet MS"/>
                          <a:ea typeface="Trebuchet MS"/>
                          <a:cs typeface="Trebuchet MS"/>
                        </a:rPr>
                        <a:t>Stage</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Product direction</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Decision</a:t>
                      </a:r>
                    </a:p>
                  </a:txBody>
                  <a:tcPr marL="91440" marR="91440" marT="45720" marB="45720" anchor="ctr">
                    <a:solidFill>
                      <a:srgbClr val="304674"/>
                    </a:solidFill>
                  </a:tcPr>
                </a:tc>
              </a:tr>
              <a:tr h="1028700">
                <a:tc>
                  <a:txBody>
                    <a:bodyPr lIns="152400" tIns="95250" rIns="152400" bIns="95250">
                      <a:noAutofit/>
                    </a:bodyPr>
                    <a:lstStyle/>
                    <a:p>
                      <a:r>
                        <a:rPr sz="1875" b="0">
                          <a:solidFill>
                            <a:srgbClr val="202322"/>
                          </a:solidFill>
                          <a:latin typeface="Trebuchet MS"/>
                          <a:ea typeface="Trebuchet MS"/>
                          <a:cs typeface="Trebuchet MS"/>
                        </a:rPr>
                        <a:t>Original concept</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A broad investment companion</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Leave personal-finance planning</a:t>
                      </a:r>
                    </a:p>
                    <a:p>
                      <a:r>
                        <a:rPr sz="1875" b="0">
                          <a:solidFill>
                            <a:srgbClr val="202322"/>
                          </a:solidFill>
                          <a:latin typeface="Trebuchet MS"/>
                          <a:ea typeface="Trebuchet MS"/>
                          <a:cs typeface="Trebuchet MS"/>
                        </a:rPr>
                        <a:t>and a course curriculum outside scope.</a:t>
                      </a:r>
                    </a:p>
                  </a:txBody>
                  <a:tcPr marL="91440" marR="91440" marT="45720" marB="45720" anchor="ctr">
                    <a:solidFill>
                      <a:srgbClr val="FFFFFF"/>
                    </a:solidFill>
                  </a:tcPr>
                </a:tc>
              </a:tr>
              <a:tr h="1028700">
                <a:tc>
                  <a:txBody>
                    <a:bodyPr lIns="152400" tIns="95250" rIns="152400" bIns="95250">
                      <a:noAutofit/>
                    </a:bodyPr>
                    <a:lstStyle/>
                    <a:p>
                      <a:r>
                        <a:rPr sz="1875" b="0">
                          <a:solidFill>
                            <a:srgbClr val="202322"/>
                          </a:solidFill>
                          <a:latin typeface="Trebuchet MS"/>
                          <a:ea typeface="Trebuchet MS"/>
                          <a:cs typeface="Trebuchet MS"/>
                        </a:rPr>
                        <a:t>1 October plan</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Company research and monitoring</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Connect an investment question</a:t>
                      </a:r>
                    </a:p>
                    <a:p>
                      <a:r>
                        <a:rPr sz="1875" b="0">
                          <a:solidFill>
                            <a:srgbClr val="202322"/>
                          </a:solidFill>
                          <a:latin typeface="Trebuchet MS"/>
                          <a:ea typeface="Trebuchet MS"/>
                          <a:cs typeface="Trebuchet MS"/>
                        </a:rPr>
                        <a:t>to evidence and review conditions.</a:t>
                      </a:r>
                    </a:p>
                  </a:txBody>
                  <a:tcPr marL="91440" marR="91440" marT="45720" marB="45720" anchor="ctr">
                    <a:solidFill>
                      <a:srgbClr val="E8EBE8"/>
                    </a:solidFill>
                  </a:tcPr>
                </a:tc>
              </a:tr>
              <a:tr h="1028700">
                <a:tc>
                  <a:txBody>
                    <a:bodyPr lIns="152400" tIns="95250" rIns="152400" bIns="95250">
                      <a:noAutofit/>
                    </a:bodyPr>
                    <a:lstStyle/>
                    <a:p>
                      <a:r>
                        <a:rPr sz="1875" b="0">
                          <a:solidFill>
                            <a:srgbClr val="202322"/>
                          </a:solidFill>
                          <a:latin typeface="Trebuchet MS"/>
                          <a:ea typeface="Trebuchet MS"/>
                          <a:cs typeface="Trebuchet MS"/>
                        </a:rPr>
                        <a:t>9 October journey</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A guided research companion</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Help users begin, write their own view</a:t>
                      </a:r>
                    </a:p>
                    <a:p>
                      <a:r>
                        <a:rPr sz="1875" b="0">
                          <a:solidFill>
                            <a:srgbClr val="202322"/>
                          </a:solidFill>
                          <a:latin typeface="Trebuchet MS"/>
                          <a:ea typeface="Trebuchet MS"/>
                          <a:cs typeface="Trebuchet MS"/>
                        </a:rPr>
                        <a:t>and revisit what changed.</a:t>
                      </a:r>
                    </a:p>
                  </a:txBody>
                  <a:tcPr marL="91440" marR="91440" marT="45720" marB="45720" anchor="ctr">
                    <a:solidFill>
                      <a:srgbClr val="FFFFFF"/>
                    </a:solidFill>
                  </a:tcPr>
                </a:tc>
              </a:tr>
            </a:tbl>
          </a:graphicData>
        </a:graphic>
      </p:graphicFrame>
      <p:sp>
        <p:nvSpPr>
          <p:cNvPr id="6" name="The product direction is documented. Customer demand for this lo">
            <a:extLst xmlns:a="http://schemas.openxmlformats.org/drawingml/2006/main">
              <a:ext uri="{FF2B5EF4-FFF2-40B4-BE49-F238E27FC236}">
                <a16:creationId xmlns:a16="http://schemas.microsoft.com/office/drawing/2014/main" id="{3E74F2D4-20D8-4092-A617-32F78292CE07}"/>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The product direction is documented. Customer demand for this loop remains untested.</a:t>
            </a:r>
          </a:p>
        </p:txBody>
      </p:sp>
    </p:spTree>
    <p:extLst>
      <p:ext uri="{BB962C8B-B14F-4D97-AF65-F5344CB8AC3E}">
        <p14:creationId xmlns:p14="http://schemas.microsoft.com/office/powerpoint/2010/main" val="2095145015"/>
      </p:ext>
    </p:extLst>
  </p:cSld>
</p:sld>
</file>

<file path=ppt/slides/slide4.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8" name="The intended user journey">
            <a:extLst xmlns:a="http://schemas.openxmlformats.org/drawingml/2006/main">
              <a:ext uri="{FF2B5EF4-FFF2-40B4-BE49-F238E27FC236}">
                <a16:creationId xmlns:a16="http://schemas.microsoft.com/office/drawing/2014/main" id="{5C5D4068-6B7E-42A6-815F-65F038FE85CD}"/>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The intended user journey</a:t>
            </a:r>
          </a:p>
        </p:txBody>
      </p:sp>
      <p:sp>
        <p:nvSpPr>
          <p:cNvPr id="2" name="Five moments that Thesis needs to support">
            <a:extLst xmlns:a="http://schemas.openxmlformats.org/drawingml/2006/main">
              <a:ext uri="{FF2B5EF4-FFF2-40B4-BE49-F238E27FC236}">
                <a16:creationId xmlns:a16="http://schemas.microsoft.com/office/drawing/2014/main" id="{2F710330-B4B7-4F7B-8562-E4138207ACFB}"/>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Five moments that Thesis needs to support</a:t>
            </a:r>
          </a:p>
        </p:txBody>
      </p:sp>
      <p:sp>
        <p:nvSpPr>
          <p:cNvPr id="3" name="A simplified view of the supplied journey map">
            <a:extLst xmlns:a="http://schemas.openxmlformats.org/drawingml/2006/main">
              <a:ext uri="{FF2B5EF4-FFF2-40B4-BE49-F238E27FC236}">
                <a16:creationId xmlns:a16="http://schemas.microsoft.com/office/drawing/2014/main" id="{E94254A3-A6A4-49FE-98F7-3B6672954813}"/>
              </a:ext>
            </a:extLst>
          </p:cNvPr>
          <p:cNvSpPr>
            <a:spLocks xmlns:a="http://schemas.openxmlformats.org/drawingml/2006/main" noGrp="1"/>
          </p:cNvSpPr>
          <p:nvPr/>
        </p:nvSpPr>
        <p:spPr>
          <a:xfrm xmlns:a="http://schemas.openxmlformats.org/drawingml/2006/main">
            <a:off x="571500" y="17240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59616B"/>
                </a:solidFill>
                <a:latin typeface="Trebuchet MS"/>
                <a:ea typeface="Trebuchet MS"/>
                <a:cs typeface="Trebuchet MS"/>
              </a:defRPr>
            </a:pPr>
            <a:r>
              <a:rPr sz="1725" b="0">
                <a:solidFill>
                  <a:srgbClr val="59616B"/>
                </a:solidFill>
                <a:latin typeface="Trebuchet MS"/>
                <a:ea typeface="Trebuchet MS"/>
                <a:cs typeface="Trebuchet MS"/>
              </a:rPr>
              <a:t>A simplified view of the supplied journey map</a:t>
            </a:r>
          </a:p>
        </p:txBody>
      </p:sp>
      <p:sp>
        <p:nvSpPr>
          <p:cNvPr id="4" name="Thesis   CP1001   9 October 2026">
            <a:extLst xmlns:a="http://schemas.openxmlformats.org/drawingml/2006/main">
              <a:ext uri="{FF2B5EF4-FFF2-40B4-BE49-F238E27FC236}">
                <a16:creationId xmlns:a16="http://schemas.microsoft.com/office/drawing/2014/main" id="{804C71B7-6511-4BC0-A896-42D3B8CF7ADF}"/>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5" name="4">
            <a:extLst xmlns:a="http://schemas.openxmlformats.org/drawingml/2006/main">
              <a:ext uri="{FF2B5EF4-FFF2-40B4-BE49-F238E27FC236}">
                <a16:creationId xmlns:a16="http://schemas.microsoft.com/office/drawing/2014/main" id="{E4292C89-626B-4EE1-90D9-3828B4D28A52}"/>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4</a:t>
            </a:r>
          </a:p>
        </p:txBody>
      </p:sp>
      <p:graphicFrame>
        <p:nvGraphicFramePr>
          <p:cNvPr id="13" name=""/>
          <p:cNvGraphicFramePr/>
          <p:nvPr/>
        </p:nvGraphicFramePr>
        <p:xfrm>
          <a:off xmlns:a="http://schemas.openxmlformats.org/drawingml/2006/main" x="571500" y="2466975"/>
          <a:ext xmlns:a="http://schemas.openxmlformats.org/drawingml/2006/main" cx="11049000" cy="3076575"/>
        </p:xfrm>
        <a:graphic xmlns:a="http://schemas.openxmlformats.org/drawingml/2006/main">
          <a:graphicData uri="http://schemas.openxmlformats.org/drawingml/2006/table">
            <a:tbl>
              <a:tblPr firstRow="1" bandRow="0" bandCol="0"/>
              <a:tblGrid>
                <a:gridCol w="2209800"/>
                <a:gridCol w="2209800"/>
                <a:gridCol w="2209800"/>
                <a:gridCol w="2209800"/>
                <a:gridCol w="2209800"/>
              </a:tblGrid>
              <a:tr h="628650">
                <a:tc>
                  <a:txBody>
                    <a:bodyPr lIns="152400" tIns="95250" rIns="152400" bIns="95250">
                      <a:noAutofit/>
                    </a:bodyPr>
                    <a:lstStyle/>
                    <a:p>
                      <a:r>
                        <a:rPr sz="1875" b="1">
                          <a:solidFill>
                            <a:srgbClr val="FFFFFF"/>
                          </a:solidFill>
                          <a:latin typeface="Trebuchet MS"/>
                          <a:ea typeface="Trebuchet MS"/>
                          <a:cs typeface="Trebuchet MS"/>
                        </a:rPr>
                        <a:t>Discover</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Explore</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Commit</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Live with it</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Reflect</a:t>
                      </a:r>
                    </a:p>
                  </a:txBody>
                  <a:tcPr marL="91440" marR="91440" marT="45720" marB="45720" anchor="ctr">
                    <a:solidFill>
                      <a:srgbClr val="304674"/>
                    </a:solidFill>
                  </a:tcPr>
                </a:tc>
              </a:tr>
              <a:tr h="1009650">
                <a:tc>
                  <a:txBody>
                    <a:bodyPr lIns="152400" tIns="95250" rIns="152400" bIns="95250">
                      <a:noAutofit/>
                    </a:bodyPr>
                    <a:lstStyle/>
                    <a:p>
                      <a:r>
                        <a:rPr sz="1875" b="0">
                          <a:solidFill>
                            <a:srgbClr val="202322"/>
                          </a:solidFill>
                          <a:latin typeface="Trebuchet MS"/>
                          <a:ea typeface="Trebuchet MS"/>
                          <a:cs typeface="Trebuchet MS"/>
                        </a:rPr>
                        <a:t>Is this useful</a:t>
                      </a:r>
                    </a:p>
                    <a:p>
                      <a:r>
                        <a:rPr sz="1875" b="0">
                          <a:solidFill>
                            <a:srgbClr val="202322"/>
                          </a:solidFill>
                          <a:latin typeface="Trebuchet MS"/>
                          <a:ea typeface="Trebuchet MS"/>
                          <a:cs typeface="Trebuchet MS"/>
                        </a:rPr>
                        <a:t>for my company?</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What should</a:t>
                      </a:r>
                    </a:p>
                    <a:p>
                      <a:r>
                        <a:rPr sz="1875" b="0">
                          <a:solidFill>
                            <a:srgbClr val="202322"/>
                          </a:solidFill>
                          <a:latin typeface="Trebuchet MS"/>
                          <a:ea typeface="Trebuchet MS"/>
                          <a:cs typeface="Trebuchet MS"/>
                        </a:rPr>
                        <a:t>I look at?</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Why do I</a:t>
                      </a:r>
                    </a:p>
                    <a:p>
                      <a:r>
                        <a:rPr sz="1875" b="0">
                          <a:solidFill>
                            <a:srgbClr val="202322"/>
                          </a:solidFill>
                          <a:latin typeface="Trebuchet MS"/>
                          <a:ea typeface="Trebuchet MS"/>
                          <a:cs typeface="Trebuchet MS"/>
                        </a:rPr>
                        <a:t>believe this?</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Has something</a:t>
                      </a:r>
                    </a:p>
                    <a:p>
                      <a:r>
                        <a:rPr sz="1875" b="0">
                          <a:solidFill>
                            <a:srgbClr val="202322"/>
                          </a:solidFill>
                          <a:latin typeface="Trebuchet MS"/>
                          <a:ea typeface="Trebuchet MS"/>
                          <a:cs typeface="Trebuchet MS"/>
                        </a:rPr>
                        <a:t>important changed?</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Does my reason</a:t>
                      </a:r>
                    </a:p>
                    <a:p>
                      <a:r>
                        <a:rPr sz="1875" b="0">
                          <a:solidFill>
                            <a:srgbClr val="202322"/>
                          </a:solidFill>
                          <a:latin typeface="Trebuchet MS"/>
                          <a:ea typeface="Trebuchet MS"/>
                          <a:cs typeface="Trebuchet MS"/>
                        </a:rPr>
                        <a:t>still hold?</a:t>
                      </a:r>
                    </a:p>
                  </a:txBody>
                  <a:tcPr marL="91440" marR="91440" marT="45720" marB="45720" anchor="ctr">
                    <a:solidFill>
                      <a:srgbClr val="FFFFFF"/>
                    </a:solidFill>
                  </a:tcPr>
                </a:tc>
              </a:tr>
              <a:tr h="1438275">
                <a:tc>
                  <a:txBody>
                    <a:bodyPr lIns="152400" tIns="95250" rIns="152400" bIns="95250">
                      <a:noAutofit/>
                    </a:bodyPr>
                    <a:lstStyle/>
                    <a:p>
                      <a:r>
                        <a:rPr sz="1875" b="0">
                          <a:solidFill>
                            <a:srgbClr val="202322"/>
                          </a:solidFill>
                          <a:latin typeface="Trebuchet MS"/>
                          <a:ea typeface="Trebuchet MS"/>
                          <a:cs typeface="Trebuchet MS"/>
                        </a:rPr>
                        <a:t>Find a familiar</a:t>
                      </a:r>
                    </a:p>
                    <a:p>
                      <a:r>
                        <a:rPr sz="1875" b="0">
                          <a:solidFill>
                            <a:srgbClr val="202322"/>
                          </a:solidFill>
                          <a:latin typeface="Trebuchet MS"/>
                          <a:ea typeface="Trebuchet MS"/>
                          <a:cs typeface="Trebuchet MS"/>
                        </a:rPr>
                        <a:t>company.</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Read one question</a:t>
                      </a:r>
                    </a:p>
                    <a:p>
                      <a:r>
                        <a:rPr sz="1875" b="0">
                          <a:solidFill>
                            <a:srgbClr val="202322"/>
                          </a:solidFill>
                          <a:latin typeface="Trebuchet MS"/>
                          <a:ea typeface="Trebuchet MS"/>
                          <a:cs typeface="Trebuchet MS"/>
                        </a:rPr>
                        <a:t>and inspect</a:t>
                      </a:r>
                    </a:p>
                    <a:p>
                      <a:r>
                        <a:rPr sz="1875" b="0">
                          <a:solidFill>
                            <a:srgbClr val="202322"/>
                          </a:solidFill>
                          <a:latin typeface="Trebuchet MS"/>
                          <a:ea typeface="Trebuchet MS"/>
                          <a:cs typeface="Trebuchet MS"/>
                        </a:rPr>
                        <a:t>a source.</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Save a reason</a:t>
                      </a:r>
                    </a:p>
                    <a:p>
                      <a:r>
                        <a:rPr sz="1875" b="0">
                          <a:solidFill>
                            <a:srgbClr val="202322"/>
                          </a:solidFill>
                          <a:latin typeface="Trebuchet MS"/>
                          <a:ea typeface="Trebuchet MS"/>
                          <a:cs typeface="Trebuchet MS"/>
                        </a:rPr>
                        <a:t>and an uncertainty.</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Return voluntarily</a:t>
                      </a:r>
                    </a:p>
                    <a:p>
                      <a:r>
                        <a:rPr sz="1875" b="0">
                          <a:solidFill>
                            <a:srgbClr val="202322"/>
                          </a:solidFill>
                          <a:latin typeface="Trebuchet MS"/>
                          <a:ea typeface="Trebuchet MS"/>
                          <a:cs typeface="Trebuchet MS"/>
                        </a:rPr>
                        <a:t>or enable an</a:t>
                      </a:r>
                    </a:p>
                    <a:p>
                      <a:r>
                        <a:rPr sz="1875" b="0">
                          <a:solidFill>
                            <a:srgbClr val="202322"/>
                          </a:solidFill>
                          <a:latin typeface="Trebuchet MS"/>
                          <a:ea typeface="Trebuchet MS"/>
                          <a:cs typeface="Trebuchet MS"/>
                        </a:rPr>
                        <a:t>optional watch.</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Compare evidence,</a:t>
                      </a:r>
                    </a:p>
                    <a:p>
                      <a:r>
                        <a:rPr sz="1875" b="0">
                          <a:solidFill>
                            <a:srgbClr val="202322"/>
                          </a:solidFill>
                          <a:latin typeface="Trebuchet MS"/>
                          <a:ea typeface="Trebuchet MS"/>
                          <a:cs typeface="Trebuchet MS"/>
                        </a:rPr>
                        <a:t>revise the view</a:t>
                      </a:r>
                    </a:p>
                    <a:p>
                      <a:r>
                        <a:rPr sz="1875" b="0">
                          <a:solidFill>
                            <a:srgbClr val="202322"/>
                          </a:solidFill>
                          <a:latin typeface="Trebuchet MS"/>
                          <a:ea typeface="Trebuchet MS"/>
                          <a:cs typeface="Trebuchet MS"/>
                        </a:rPr>
                        <a:t>or leave it open.</a:t>
                      </a:r>
                    </a:p>
                  </a:txBody>
                  <a:tcPr marL="91440" marR="91440" marT="45720" marB="45720" anchor="ctr">
                    <a:solidFill>
                      <a:srgbClr val="E8EBE8"/>
                    </a:solidFill>
                  </a:tcPr>
                </a:tc>
              </a:tr>
            </a:tbl>
          </a:graphicData>
        </a:graphic>
      </p:graphicFrame>
      <p:sp>
        <p:nvSpPr>
          <p:cNvPr id="7" name="The loop can end with “I need more evidence” or “I would not inv">
            <a:extLst xmlns:a="http://schemas.openxmlformats.org/drawingml/2006/main">
              <a:ext uri="{FF2B5EF4-FFF2-40B4-BE49-F238E27FC236}">
                <a16:creationId xmlns:a16="http://schemas.microsoft.com/office/drawing/2014/main" id="{789D7B31-DC0D-4271-B5E9-940BCB158823}"/>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The loop can end with “I need more evidence” or “I would not invest.” Both are useful outcomes.</a:t>
            </a:r>
          </a:p>
        </p:txBody>
      </p:sp>
    </p:spTree>
    <p:extLst>
      <p:ext uri="{BB962C8B-B14F-4D97-AF65-F5344CB8AC3E}">
        <p14:creationId xmlns:p14="http://schemas.microsoft.com/office/powerpoint/2010/main" val="647685754"/>
      </p:ext>
    </p:extLst>
  </p:cSld>
</p:sld>
</file>

<file path=ppt/slides/slide5.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22" name="The first session">
            <a:extLst xmlns:a="http://schemas.openxmlformats.org/drawingml/2006/main">
              <a:ext uri="{FF2B5EF4-FFF2-40B4-BE49-F238E27FC236}">
                <a16:creationId xmlns:a16="http://schemas.microsoft.com/office/drawing/2014/main" id="{21B61984-7269-4B7E-990E-CB68845255F8}"/>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The first session</a:t>
            </a:r>
          </a:p>
        </p:txBody>
      </p:sp>
      <p:sp>
        <p:nvSpPr>
          <p:cNvPr id="2" name="A question becomes a view the user can explain">
            <a:extLst xmlns:a="http://schemas.openxmlformats.org/drawingml/2006/main">
              <a:ext uri="{FF2B5EF4-FFF2-40B4-BE49-F238E27FC236}">
                <a16:creationId xmlns:a16="http://schemas.microsoft.com/office/drawing/2014/main" id="{B2EA4B97-133B-4967-9AE3-06F249D0BE28}"/>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A question becomes a view the user can explain</a:t>
            </a:r>
          </a:p>
        </p:txBody>
      </p:sp>
      <p:sp>
        <p:nvSpPr>
          <p:cNvPr id="3" name="Thesis   CP1001   9 October 2026">
            <a:extLst xmlns:a="http://schemas.openxmlformats.org/drawingml/2006/main">
              <a:ext uri="{FF2B5EF4-FFF2-40B4-BE49-F238E27FC236}">
                <a16:creationId xmlns:a16="http://schemas.microsoft.com/office/drawing/2014/main" id="{A60F39C2-8C1D-4997-A258-7968D83094C9}"/>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5">
            <a:extLst xmlns:a="http://schemas.openxmlformats.org/drawingml/2006/main">
              <a:ext uri="{FF2B5EF4-FFF2-40B4-BE49-F238E27FC236}">
                <a16:creationId xmlns:a16="http://schemas.microsoft.com/office/drawing/2014/main" id="{D4A61959-7BA7-414B-9CB6-F6DA618A8365}"/>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5</a:t>
            </a:r>
          </a:p>
        </p:txBody>
      </p:sp>
      <p:sp>
        <p:nvSpPr>
          <p:cNvPr id="5" name="1  Choose a company">
            <a:extLst xmlns:a="http://schemas.openxmlformats.org/drawingml/2006/main">
              <a:ext uri="{FF2B5EF4-FFF2-40B4-BE49-F238E27FC236}">
                <a16:creationId xmlns:a16="http://schemas.microsoft.com/office/drawing/2014/main" id="{3AA21AEC-5D27-4EB4-AF30-6E8D921BC1D7}"/>
              </a:ext>
            </a:extLst>
          </p:cNvPr>
          <p:cNvSpPr>
            <a:spLocks xmlns:a="http://schemas.openxmlformats.org/drawingml/2006/main" noGrp="1"/>
          </p:cNvSpPr>
          <p:nvPr/>
        </p:nvSpPr>
        <p:spPr>
          <a:xfrm xmlns:a="http://schemas.openxmlformats.org/drawingml/2006/main">
            <a:off x="571500" y="2286000"/>
            <a:ext cx="2428875"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6" name="1  Choose a company">
            <a:extLst xmlns:a="http://schemas.openxmlformats.org/drawingml/2006/main">
              <a:ext uri="{FF2B5EF4-FFF2-40B4-BE49-F238E27FC236}">
                <a16:creationId xmlns:a16="http://schemas.microsoft.com/office/drawing/2014/main" id="{2569936E-4A83-4FA9-9AE3-A6F47052DE17}"/>
              </a:ext>
            </a:extLst>
          </p:cNvPr>
          <p:cNvSpPr>
            <a:spLocks xmlns:a="http://schemas.openxmlformats.org/drawingml/2006/main" noGrp="1"/>
          </p:cNvSpPr>
          <p:nvPr/>
        </p:nvSpPr>
        <p:spPr>
          <a:xfrm xmlns:a="http://schemas.openxmlformats.org/drawingml/2006/main">
            <a:off x="742950" y="2438400"/>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1  Choose a company</a:t>
            </a:r>
          </a:p>
        </p:txBody>
      </p:sp>
      <p:sp>
        <p:nvSpPr>
          <p:cNvPr id="7" name="An existing holding&#10;or a company of&#10;interest.">
            <a:extLst xmlns:a="http://schemas.openxmlformats.org/drawingml/2006/main">
              <a:ext uri="{FF2B5EF4-FFF2-40B4-BE49-F238E27FC236}">
                <a16:creationId xmlns:a16="http://schemas.microsoft.com/office/drawing/2014/main" id="{553F34CE-7892-4189-8D4A-83565A6BD3A2}"/>
              </a:ext>
            </a:extLst>
          </p:cNvPr>
          <p:cNvSpPr>
            <a:spLocks xmlns:a="http://schemas.openxmlformats.org/drawingml/2006/main" noGrp="1"/>
          </p:cNvSpPr>
          <p:nvPr/>
        </p:nvSpPr>
        <p:spPr>
          <a:xfrm xmlns:a="http://schemas.openxmlformats.org/drawingml/2006/main">
            <a:off x="742950" y="3076575"/>
            <a:ext cx="20859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An existing holding</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or a company of</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interest.</a:t>
            </a:r>
          </a:p>
        </p:txBody>
      </p:sp>
      <p:sp>
        <p:nvSpPr>
          <p:cNvPr id="8" name="2  Understand">
            <a:extLst xmlns:a="http://schemas.openxmlformats.org/drawingml/2006/main">
              <a:ext uri="{FF2B5EF4-FFF2-40B4-BE49-F238E27FC236}">
                <a16:creationId xmlns:a16="http://schemas.microsoft.com/office/drawing/2014/main" id="{2D4C79C6-BF34-4CEC-9CA3-F55AB8C543C8}"/>
              </a:ext>
            </a:extLst>
          </p:cNvPr>
          <p:cNvSpPr>
            <a:spLocks xmlns:a="http://schemas.openxmlformats.org/drawingml/2006/main" noGrp="1"/>
          </p:cNvSpPr>
          <p:nvPr/>
        </p:nvSpPr>
        <p:spPr>
          <a:xfrm xmlns:a="http://schemas.openxmlformats.org/drawingml/2006/main">
            <a:off x="3448050" y="2286000"/>
            <a:ext cx="2428875"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9" name="2  Understand">
            <a:extLst xmlns:a="http://schemas.openxmlformats.org/drawingml/2006/main">
              <a:ext uri="{FF2B5EF4-FFF2-40B4-BE49-F238E27FC236}">
                <a16:creationId xmlns:a16="http://schemas.microsoft.com/office/drawing/2014/main" id="{A9A769D3-CBD5-4A15-BD45-5822B0461705}"/>
              </a:ext>
            </a:extLst>
          </p:cNvPr>
          <p:cNvSpPr>
            <a:spLocks xmlns:a="http://schemas.openxmlformats.org/drawingml/2006/main" noGrp="1"/>
          </p:cNvSpPr>
          <p:nvPr/>
        </p:nvSpPr>
        <p:spPr>
          <a:xfrm xmlns:a="http://schemas.openxmlformats.org/drawingml/2006/main">
            <a:off x="3619500" y="2438400"/>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2  Understand</a:t>
            </a:r>
          </a:p>
        </p:txBody>
      </p:sp>
      <p:sp>
        <p:nvSpPr>
          <p:cNvPr id="10" name="Read the business.&#10;Open one source.">
            <a:extLst xmlns:a="http://schemas.openxmlformats.org/drawingml/2006/main">
              <a:ext uri="{FF2B5EF4-FFF2-40B4-BE49-F238E27FC236}">
                <a16:creationId xmlns:a16="http://schemas.microsoft.com/office/drawing/2014/main" id="{61DA909A-3792-4D26-A73A-1151544DE4DE}"/>
              </a:ext>
            </a:extLst>
          </p:cNvPr>
          <p:cNvSpPr>
            <a:spLocks xmlns:a="http://schemas.openxmlformats.org/drawingml/2006/main" noGrp="1"/>
          </p:cNvSpPr>
          <p:nvPr/>
        </p:nvSpPr>
        <p:spPr>
          <a:xfrm xmlns:a="http://schemas.openxmlformats.org/drawingml/2006/main">
            <a:off x="3619500" y="3076575"/>
            <a:ext cx="20859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Read the business.</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Open one source.</a:t>
            </a:r>
          </a:p>
        </p:txBody>
      </p:sp>
      <p:sp>
        <p:nvSpPr>
          <p:cNvPr id="11" name="3  Question the view">
            <a:extLst xmlns:a="http://schemas.openxmlformats.org/drawingml/2006/main">
              <a:ext uri="{FF2B5EF4-FFF2-40B4-BE49-F238E27FC236}">
                <a16:creationId xmlns:a16="http://schemas.microsoft.com/office/drawing/2014/main" id="{B6F0E73B-CBB1-412B-ACF2-631A625BB07D}"/>
              </a:ext>
            </a:extLst>
          </p:cNvPr>
          <p:cNvSpPr>
            <a:spLocks xmlns:a="http://schemas.openxmlformats.org/drawingml/2006/main" noGrp="1"/>
          </p:cNvSpPr>
          <p:nvPr/>
        </p:nvSpPr>
        <p:spPr>
          <a:xfrm xmlns:a="http://schemas.openxmlformats.org/drawingml/2006/main">
            <a:off x="6324600" y="2286000"/>
            <a:ext cx="2428875"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12" name="3  Question the view">
            <a:extLst xmlns:a="http://schemas.openxmlformats.org/drawingml/2006/main">
              <a:ext uri="{FF2B5EF4-FFF2-40B4-BE49-F238E27FC236}">
                <a16:creationId xmlns:a16="http://schemas.microsoft.com/office/drawing/2014/main" id="{18714C27-43F2-45B1-9E8D-9CAB527EE958}"/>
              </a:ext>
            </a:extLst>
          </p:cNvPr>
          <p:cNvSpPr>
            <a:spLocks xmlns:a="http://schemas.openxmlformats.org/drawingml/2006/main" noGrp="1"/>
          </p:cNvSpPr>
          <p:nvPr/>
        </p:nvSpPr>
        <p:spPr>
          <a:xfrm xmlns:a="http://schemas.openxmlformats.org/drawingml/2006/main">
            <a:off x="6496050" y="2438400"/>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3  Question the view</a:t>
            </a:r>
          </a:p>
        </p:txBody>
      </p:sp>
      <p:sp>
        <p:nvSpPr>
          <p:cNvPr id="13" name="Check support and&#10;counter-evidence.&#10;Keep unknowns.">
            <a:extLst xmlns:a="http://schemas.openxmlformats.org/drawingml/2006/main">
              <a:ext uri="{FF2B5EF4-FFF2-40B4-BE49-F238E27FC236}">
                <a16:creationId xmlns:a16="http://schemas.microsoft.com/office/drawing/2014/main" id="{D02A178A-EAAD-41C9-AED0-2DE02B51AFEB}"/>
              </a:ext>
            </a:extLst>
          </p:cNvPr>
          <p:cNvSpPr>
            <a:spLocks xmlns:a="http://schemas.openxmlformats.org/drawingml/2006/main" noGrp="1"/>
          </p:cNvSpPr>
          <p:nvPr/>
        </p:nvSpPr>
        <p:spPr>
          <a:xfrm xmlns:a="http://schemas.openxmlformats.org/drawingml/2006/main">
            <a:off x="6496050" y="3076575"/>
            <a:ext cx="20859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Check support and</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counter-evidence.</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Keep unknowns.</a:t>
            </a:r>
          </a:p>
        </p:txBody>
      </p:sp>
      <p:sp>
        <p:nvSpPr>
          <p:cNvPr id="14" name="4  Save reasoning">
            <a:extLst xmlns:a="http://schemas.openxmlformats.org/drawingml/2006/main">
              <a:ext uri="{FF2B5EF4-FFF2-40B4-BE49-F238E27FC236}">
                <a16:creationId xmlns:a16="http://schemas.microsoft.com/office/drawing/2014/main" id="{5884C312-5F48-4A19-A483-80F6738C7C64}"/>
              </a:ext>
            </a:extLst>
          </p:cNvPr>
          <p:cNvSpPr>
            <a:spLocks xmlns:a="http://schemas.openxmlformats.org/drawingml/2006/main" noGrp="1"/>
          </p:cNvSpPr>
          <p:nvPr/>
        </p:nvSpPr>
        <p:spPr>
          <a:xfrm xmlns:a="http://schemas.openxmlformats.org/drawingml/2006/main">
            <a:off x="9201150" y="2286000"/>
            <a:ext cx="2428875"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15" name="4  Save reasoning">
            <a:extLst xmlns:a="http://schemas.openxmlformats.org/drawingml/2006/main">
              <a:ext uri="{FF2B5EF4-FFF2-40B4-BE49-F238E27FC236}">
                <a16:creationId xmlns:a16="http://schemas.microsoft.com/office/drawing/2014/main" id="{F40DCE9C-6640-482F-8E38-7493E282109D}"/>
              </a:ext>
            </a:extLst>
          </p:cNvPr>
          <p:cNvSpPr>
            <a:spLocks xmlns:a="http://schemas.openxmlformats.org/drawingml/2006/main" noGrp="1"/>
          </p:cNvSpPr>
          <p:nvPr/>
        </p:nvSpPr>
        <p:spPr>
          <a:xfrm xmlns:a="http://schemas.openxmlformats.org/drawingml/2006/main">
            <a:off x="9372600" y="2438400"/>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4  Save reasoning</a:t>
            </a:r>
          </a:p>
        </p:txBody>
      </p:sp>
      <p:sp>
        <p:nvSpPr>
          <p:cNvPr id="16" name="Write a reason and&#10;an uncertainty in&#10;your own words.">
            <a:extLst xmlns:a="http://schemas.openxmlformats.org/drawingml/2006/main">
              <a:ext uri="{FF2B5EF4-FFF2-40B4-BE49-F238E27FC236}">
                <a16:creationId xmlns:a16="http://schemas.microsoft.com/office/drawing/2014/main" id="{08147C1E-AF47-43CD-9C51-AC100196D481}"/>
              </a:ext>
            </a:extLst>
          </p:cNvPr>
          <p:cNvSpPr>
            <a:spLocks xmlns:a="http://schemas.openxmlformats.org/drawingml/2006/main" noGrp="1"/>
          </p:cNvSpPr>
          <p:nvPr/>
        </p:nvSpPr>
        <p:spPr>
          <a:xfrm xmlns:a="http://schemas.openxmlformats.org/drawingml/2006/main">
            <a:off x="9372600" y="3076575"/>
            <a:ext cx="20859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Write a reason and</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an uncertainty in</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your own words.</a:t>
            </a:r>
          </a:p>
        </p:txBody>
      </p:sp>
      <p:cxnSp>
        <p:nvCxnSpPr>
          <p:cNvPr id="38" name=""/>
          <p:cNvCxnSpPr>
            <a:stCxn xmlns:a="http://schemas.openxmlformats.org/drawingml/2006/main" id="5" idx="3"/>
            <a:endCxn xmlns:a="http://schemas.openxmlformats.org/drawingml/2006/main" id="8" idx="1"/>
          </p:cNvCxnSpPr>
          <p:nvPr/>
        </p:nvCxnSpPr>
        <p:spPr>
          <a:xfrm xmlns:a="http://schemas.openxmlformats.org/drawingml/2006/main">
            <a:off x="3000375" y="3324225"/>
            <a:ext cx="447675" cy="0"/>
          </a:xfrm>
          <a:prstGeom xmlns:a="http://schemas.openxmlformats.org/drawingml/2006/main" prst="straightConnector1">
            <a:avLst/>
          </a:prstGeom>
          <a:ln xmlns:a="http://schemas.openxmlformats.org/drawingml/2006/main" w="19050">
            <a:solidFill>
              <a:srgbClr val="435D94"/>
            </a:solidFill>
            <a:prstDash val="solid"/>
            <a:tailEnd type="arrow" w="med" len="med"/>
          </a:ln>
        </p:spPr>
      </p:cxnSp>
      <p:cxnSp>
        <p:nvCxnSpPr>
          <p:cNvPr id="39" name=""/>
          <p:cNvCxnSpPr>
            <a:stCxn xmlns:a="http://schemas.openxmlformats.org/drawingml/2006/main" id="8" idx="3"/>
            <a:endCxn xmlns:a="http://schemas.openxmlformats.org/drawingml/2006/main" id="11" idx="1"/>
          </p:cNvCxnSpPr>
          <p:nvPr/>
        </p:nvCxnSpPr>
        <p:spPr>
          <a:xfrm xmlns:a="http://schemas.openxmlformats.org/drawingml/2006/main">
            <a:off x="5876925" y="3324225"/>
            <a:ext cx="447675" cy="0"/>
          </a:xfrm>
          <a:prstGeom xmlns:a="http://schemas.openxmlformats.org/drawingml/2006/main" prst="straightConnector1">
            <a:avLst/>
          </a:prstGeom>
          <a:ln xmlns:a="http://schemas.openxmlformats.org/drawingml/2006/main" w="19050">
            <a:solidFill>
              <a:srgbClr val="435D94"/>
            </a:solidFill>
            <a:prstDash val="solid"/>
            <a:tailEnd type="arrow" w="med" len="med"/>
          </a:ln>
        </p:spPr>
      </p:cxnSp>
      <p:cxnSp>
        <p:nvCxnSpPr>
          <p:cNvPr id="40" name=""/>
          <p:cNvCxnSpPr>
            <a:stCxn xmlns:a="http://schemas.openxmlformats.org/drawingml/2006/main" id="11" idx="3"/>
            <a:endCxn xmlns:a="http://schemas.openxmlformats.org/drawingml/2006/main" id="14" idx="1"/>
          </p:cNvCxnSpPr>
          <p:nvPr/>
        </p:nvCxnSpPr>
        <p:spPr>
          <a:xfrm xmlns:a="http://schemas.openxmlformats.org/drawingml/2006/main">
            <a:off x="8753475" y="3324225"/>
            <a:ext cx="447675" cy="0"/>
          </a:xfrm>
          <a:prstGeom xmlns:a="http://schemas.openxmlformats.org/drawingml/2006/main" prst="straightConnector1">
            <a:avLst/>
          </a:prstGeom>
          <a:ln xmlns:a="http://schemas.openxmlformats.org/drawingml/2006/main" w="19050">
            <a:solidFill>
              <a:srgbClr val="435D94"/>
            </a:solidFill>
            <a:prstDash val="solid"/>
            <a:tailEnd type="arrow" w="med" len="med"/>
          </a:ln>
        </p:spPr>
      </p:cxnSp>
      <p:sp>
        <p:nvSpPr>
          <p:cNvPr id="20" name="A draft is enough">
            <a:extLst xmlns:a="http://schemas.openxmlformats.org/drawingml/2006/main">
              <a:ext uri="{FF2B5EF4-FFF2-40B4-BE49-F238E27FC236}">
                <a16:creationId xmlns:a16="http://schemas.microsoft.com/office/drawing/2014/main" id="{275330CF-ACE9-4C09-B2FE-51A8E6192676}"/>
              </a:ext>
            </a:extLst>
          </p:cNvPr>
          <p:cNvSpPr>
            <a:spLocks xmlns:a="http://schemas.openxmlformats.org/drawingml/2006/main" noGrp="1"/>
          </p:cNvSpPr>
          <p:nvPr/>
        </p:nvSpPr>
        <p:spPr>
          <a:xfrm xmlns:a="http://schemas.openxmlformats.org/drawingml/2006/main">
            <a:off x="571500" y="4791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250" b="1">
                <a:solidFill>
                  <a:srgbClr val="304674"/>
                </a:solidFill>
                <a:latin typeface="Trebuchet MS"/>
                <a:ea typeface="Trebuchet MS"/>
                <a:cs typeface="Trebuchet MS"/>
              </a:defRPr>
            </a:pPr>
            <a:r>
              <a:rPr sz="2250" b="1">
                <a:solidFill>
                  <a:srgbClr val="304674"/>
                </a:solidFill>
                <a:latin typeface="Trebuchet MS"/>
                <a:ea typeface="Trebuchet MS"/>
                <a:cs typeface="Trebuchet MS"/>
              </a:rPr>
              <a:t>A draft is enough</a:t>
            </a:r>
          </a:p>
        </p:txBody>
      </p:sp>
      <p:sp>
        <p:nvSpPr>
          <p:cNvPr id="21" name="The user can keep researching, reject the idea or stop without s">
            <a:extLst xmlns:a="http://schemas.openxmlformats.org/drawingml/2006/main">
              <a:ext uri="{FF2B5EF4-FFF2-40B4-BE49-F238E27FC236}">
                <a16:creationId xmlns:a16="http://schemas.microsoft.com/office/drawing/2014/main" id="{C0631D55-EEDA-4601-A88B-86AB8590FC8B}"/>
              </a:ext>
            </a:extLst>
          </p:cNvPr>
          <p:cNvSpPr>
            <a:spLocks xmlns:a="http://schemas.openxmlformats.org/drawingml/2006/main" noGrp="1"/>
          </p:cNvSpPr>
          <p:nvPr/>
        </p:nvSpPr>
        <p:spPr>
          <a:xfrm xmlns:a="http://schemas.openxmlformats.org/drawingml/2006/main">
            <a:off x="571500" y="5286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0">
                <a:solidFill>
                  <a:srgbClr val="202322"/>
                </a:solidFill>
                <a:latin typeface="Trebuchet MS"/>
                <a:ea typeface="Trebuchet MS"/>
                <a:cs typeface="Trebuchet MS"/>
              </a:defRPr>
            </a:pPr>
            <a:r>
              <a:rPr sz="2100" b="0">
                <a:solidFill>
                  <a:srgbClr val="202322"/>
                </a:solidFill>
                <a:latin typeface="Trebuchet MS"/>
                <a:ea typeface="Trebuchet MS"/>
                <a:cs typeface="Trebuchet MS"/>
              </a:rPr>
              <a:t>The user can keep researching, reject the idea or stop without setting a watch.</a:t>
            </a:r>
          </a:p>
        </p:txBody>
      </p:sp>
    </p:spTree>
    <p:extLst>
      <p:ext uri="{BB962C8B-B14F-4D97-AF65-F5344CB8AC3E}">
        <p14:creationId xmlns:p14="http://schemas.microsoft.com/office/powerpoint/2010/main" val="198692003"/>
      </p:ext>
    </p:extLst>
  </p:cSld>
</p:sld>
</file>

<file path=ppt/slides/slide6.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29" name="The return visit">
            <a:extLst xmlns:a="http://schemas.openxmlformats.org/drawingml/2006/main">
              <a:ext uri="{FF2B5EF4-FFF2-40B4-BE49-F238E27FC236}">
                <a16:creationId xmlns:a16="http://schemas.microsoft.com/office/drawing/2014/main" id="{4C1EA82D-5D49-44D5-90EF-9C527F29C840}"/>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The return visit</a:t>
            </a:r>
          </a:p>
        </p:txBody>
      </p:sp>
      <p:sp>
        <p:nvSpPr>
          <p:cNvPr id="2" name="New evidence returns to the original reasoning">
            <a:extLst xmlns:a="http://schemas.openxmlformats.org/drawingml/2006/main">
              <a:ext uri="{FF2B5EF4-FFF2-40B4-BE49-F238E27FC236}">
                <a16:creationId xmlns:a16="http://schemas.microsoft.com/office/drawing/2014/main" id="{48C62BCF-8A76-4241-9566-306138211274}"/>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New evidence returns to the original reasoning</a:t>
            </a:r>
          </a:p>
        </p:txBody>
      </p:sp>
      <p:sp>
        <p:nvSpPr>
          <p:cNvPr id="3" name="Thesis   CP1001   9 October 2026">
            <a:extLst xmlns:a="http://schemas.openxmlformats.org/drawingml/2006/main">
              <a:ext uri="{FF2B5EF4-FFF2-40B4-BE49-F238E27FC236}">
                <a16:creationId xmlns:a16="http://schemas.microsoft.com/office/drawing/2014/main" id="{76E72856-65D0-472B-B5A7-00C21A7D09E1}"/>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6">
            <a:extLst xmlns:a="http://schemas.openxmlformats.org/drawingml/2006/main">
              <a:ext uri="{FF2B5EF4-FFF2-40B4-BE49-F238E27FC236}">
                <a16:creationId xmlns:a16="http://schemas.microsoft.com/office/drawing/2014/main" id="{CC4025B8-A00D-4F91-84E2-1046E145A2E7}"/>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6</a:t>
            </a:r>
          </a:p>
        </p:txBody>
      </p:sp>
      <p:sp>
        <p:nvSpPr>
          <p:cNvPr id="5" name="Follow a real company">
            <a:extLst xmlns:a="http://schemas.openxmlformats.org/drawingml/2006/main">
              <a:ext uri="{FF2B5EF4-FFF2-40B4-BE49-F238E27FC236}">
                <a16:creationId xmlns:a16="http://schemas.microsoft.com/office/drawing/2014/main" id="{B8D832FC-F881-4D1E-9965-B1BC17B8BDED}"/>
              </a:ext>
            </a:extLst>
          </p:cNvPr>
          <p:cNvSpPr>
            <a:spLocks xmlns:a="http://schemas.openxmlformats.org/drawingml/2006/main" noGrp="1"/>
          </p:cNvSpPr>
          <p:nvPr/>
        </p:nvSpPr>
        <p:spPr>
          <a:xfrm xmlns:a="http://schemas.openxmlformats.org/drawingml/2006/main">
            <a:off x="571500" y="1952625"/>
            <a:ext cx="5095875" cy="1504950"/>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6" name="Follow a real company">
            <a:extLst xmlns:a="http://schemas.openxmlformats.org/drawingml/2006/main">
              <a:ext uri="{FF2B5EF4-FFF2-40B4-BE49-F238E27FC236}">
                <a16:creationId xmlns:a16="http://schemas.microsoft.com/office/drawing/2014/main" id="{A25FA744-3582-4077-9179-97EF0741AE5B}"/>
              </a:ext>
            </a:extLst>
          </p:cNvPr>
          <p:cNvSpPr>
            <a:spLocks xmlns:a="http://schemas.openxmlformats.org/drawingml/2006/main" noGrp="1"/>
          </p:cNvSpPr>
          <p:nvPr/>
        </p:nvSpPr>
        <p:spPr>
          <a:xfrm xmlns:a="http://schemas.openxmlformats.org/drawingml/2006/main">
            <a:off x="742950" y="2105025"/>
            <a:ext cx="4752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Follow a real company</a:t>
            </a:r>
          </a:p>
        </p:txBody>
      </p:sp>
      <p:sp>
        <p:nvSpPr>
          <p:cNvPr id="7" name="Return when ready, or enable relevant watches separately.">
            <a:extLst xmlns:a="http://schemas.openxmlformats.org/drawingml/2006/main">
              <a:ext uri="{FF2B5EF4-FFF2-40B4-BE49-F238E27FC236}">
                <a16:creationId xmlns:a16="http://schemas.microsoft.com/office/drawing/2014/main" id="{7285D909-19BF-41F5-BA82-D3B4DF5F4FA1}"/>
              </a:ext>
            </a:extLst>
          </p:cNvPr>
          <p:cNvSpPr>
            <a:spLocks xmlns:a="http://schemas.openxmlformats.org/drawingml/2006/main" noGrp="1"/>
          </p:cNvSpPr>
          <p:nvPr/>
        </p:nvSpPr>
        <p:spPr>
          <a:xfrm xmlns:a="http://schemas.openxmlformats.org/drawingml/2006/main">
            <a:off x="742950" y="2743200"/>
            <a:ext cx="47529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Return when ready, or enable relevant watches separately.</a:t>
            </a:r>
          </a:p>
        </p:txBody>
      </p:sp>
      <p:sp>
        <p:nvSpPr>
          <p:cNvPr id="8" name="Practice with a dated case">
            <a:extLst xmlns:a="http://schemas.openxmlformats.org/drawingml/2006/main">
              <a:ext uri="{FF2B5EF4-FFF2-40B4-BE49-F238E27FC236}">
                <a16:creationId xmlns:a16="http://schemas.microsoft.com/office/drawing/2014/main" id="{6E95E43D-5AB4-4773-B5BE-C812E615111A}"/>
              </a:ext>
            </a:extLst>
          </p:cNvPr>
          <p:cNvSpPr>
            <a:spLocks xmlns:a="http://schemas.openxmlformats.org/drawingml/2006/main" noGrp="1"/>
          </p:cNvSpPr>
          <p:nvPr/>
        </p:nvSpPr>
        <p:spPr>
          <a:xfrm xmlns:a="http://schemas.openxmlformats.org/drawingml/2006/main">
            <a:off x="6524625" y="1952625"/>
            <a:ext cx="5095875" cy="1504950"/>
          </a:xfrm>
          <a:prstGeom xmlns:a="http://schemas.openxmlformats.org/drawingml/2006/main" prst="rect">
            <a:avLst/>
          </a:prstGeom>
          <a:solidFill xmlns:a="http://schemas.openxmlformats.org/drawingml/2006/main">
            <a:srgbClr val="F2F3ED"/>
          </a:solidFill>
          <a:ln xmlns:a="http://schemas.openxmlformats.org/drawingml/2006/main" w="19050">
            <a:solidFill>
              <a:srgbClr val="D95520"/>
            </a:solidFill>
            <a:prstDash val="dash"/>
          </a:ln>
        </p:spPr>
      </p:sp>
      <p:sp>
        <p:nvSpPr>
          <p:cNvPr id="9" name="Practice with a dated case">
            <a:extLst xmlns:a="http://schemas.openxmlformats.org/drawingml/2006/main">
              <a:ext uri="{FF2B5EF4-FFF2-40B4-BE49-F238E27FC236}">
                <a16:creationId xmlns:a16="http://schemas.microsoft.com/office/drawing/2014/main" id="{C7F4FEFB-E00E-4207-9F68-902A9A1CC571}"/>
              </a:ext>
            </a:extLst>
          </p:cNvPr>
          <p:cNvSpPr>
            <a:spLocks xmlns:a="http://schemas.openxmlformats.org/drawingml/2006/main" noGrp="1"/>
          </p:cNvSpPr>
          <p:nvPr/>
        </p:nvSpPr>
        <p:spPr>
          <a:xfrm xmlns:a="http://schemas.openxmlformats.org/drawingml/2006/main">
            <a:off x="6696075" y="2105025"/>
            <a:ext cx="4752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D95520"/>
                </a:solidFill>
                <a:latin typeface="Trebuchet MS"/>
                <a:ea typeface="Trebuchet MS"/>
                <a:cs typeface="Trebuchet MS"/>
              </a:defRPr>
            </a:pPr>
            <a:r>
              <a:rPr sz="1875" b="1">
                <a:solidFill>
                  <a:srgbClr val="D95520"/>
                </a:solidFill>
                <a:latin typeface="Trebuchet MS"/>
                <a:ea typeface="Trebuchet MS"/>
                <a:cs typeface="Trebuchet MS"/>
              </a:rPr>
              <a:t>Practice with a dated case</a:t>
            </a:r>
          </a:p>
        </p:txBody>
      </p:sp>
      <p:sp>
        <p:nvSpPr>
          <p:cNvPr id="10" name="Proposed: record a view, then reveal a later development.">
            <a:extLst xmlns:a="http://schemas.openxmlformats.org/drawingml/2006/main">
              <a:ext uri="{FF2B5EF4-FFF2-40B4-BE49-F238E27FC236}">
                <a16:creationId xmlns:a16="http://schemas.microsoft.com/office/drawing/2014/main" id="{FC60327D-CEC3-4516-88E1-8AD9DA884384}"/>
              </a:ext>
            </a:extLst>
          </p:cNvPr>
          <p:cNvSpPr>
            <a:spLocks xmlns:a="http://schemas.openxmlformats.org/drawingml/2006/main" noGrp="1"/>
          </p:cNvSpPr>
          <p:nvPr/>
        </p:nvSpPr>
        <p:spPr>
          <a:xfrm xmlns:a="http://schemas.openxmlformats.org/drawingml/2006/main">
            <a:off x="6696075" y="2743200"/>
            <a:ext cx="47529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Proposed: record a view, then reveal a later development.</a:t>
            </a:r>
          </a:p>
        </p:txBody>
      </p:sp>
      <p:sp>
        <p:nvSpPr>
          <p:cNvPr id="11" name="Inspect the change">
            <a:extLst xmlns:a="http://schemas.openxmlformats.org/drawingml/2006/main">
              <a:ext uri="{FF2B5EF4-FFF2-40B4-BE49-F238E27FC236}">
                <a16:creationId xmlns:a16="http://schemas.microsoft.com/office/drawing/2014/main" id="{9CAF31F6-E5BA-422C-BE02-E58649AB7ECD}"/>
              </a:ext>
            </a:extLst>
          </p:cNvPr>
          <p:cNvSpPr>
            <a:spLocks xmlns:a="http://schemas.openxmlformats.org/drawingml/2006/main" noGrp="1"/>
          </p:cNvSpPr>
          <p:nvPr/>
        </p:nvSpPr>
        <p:spPr>
          <a:xfrm xmlns:a="http://schemas.openxmlformats.org/drawingml/2006/main">
            <a:off x="571500" y="4048125"/>
            <a:ext cx="2428875"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12" name="Inspect the change">
            <a:extLst xmlns:a="http://schemas.openxmlformats.org/drawingml/2006/main">
              <a:ext uri="{FF2B5EF4-FFF2-40B4-BE49-F238E27FC236}">
                <a16:creationId xmlns:a16="http://schemas.microsoft.com/office/drawing/2014/main" id="{B673CE89-BC32-400C-8F13-BF530443CAAA}"/>
              </a:ext>
            </a:extLst>
          </p:cNvPr>
          <p:cNvSpPr>
            <a:spLocks xmlns:a="http://schemas.openxmlformats.org/drawingml/2006/main" noGrp="1"/>
          </p:cNvSpPr>
          <p:nvPr/>
        </p:nvSpPr>
        <p:spPr>
          <a:xfrm xmlns:a="http://schemas.openxmlformats.org/drawingml/2006/main">
            <a:off x="742950" y="4200525"/>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Inspect the change</a:t>
            </a:r>
          </a:p>
        </p:txBody>
      </p:sp>
      <p:sp>
        <p:nvSpPr>
          <p:cNvPr id="13" name="Check the source&#10;and coverage.">
            <a:extLst xmlns:a="http://schemas.openxmlformats.org/drawingml/2006/main">
              <a:ext uri="{FF2B5EF4-FFF2-40B4-BE49-F238E27FC236}">
                <a16:creationId xmlns:a16="http://schemas.microsoft.com/office/drawing/2014/main" id="{53C221F9-86EB-47B4-98DB-E7BB33D8B30C}"/>
              </a:ext>
            </a:extLst>
          </p:cNvPr>
          <p:cNvSpPr>
            <a:spLocks xmlns:a="http://schemas.openxmlformats.org/drawingml/2006/main" noGrp="1"/>
          </p:cNvSpPr>
          <p:nvPr/>
        </p:nvSpPr>
        <p:spPr>
          <a:xfrm xmlns:a="http://schemas.openxmlformats.org/drawingml/2006/main">
            <a:off x="742950" y="4838700"/>
            <a:ext cx="2085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Check the source</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and coverage.</a:t>
            </a:r>
          </a:p>
        </p:txBody>
      </p:sp>
      <p:sp>
        <p:nvSpPr>
          <p:cNvPr id="14" name="Compare reasoning">
            <a:extLst xmlns:a="http://schemas.openxmlformats.org/drawingml/2006/main">
              <a:ext uri="{FF2B5EF4-FFF2-40B4-BE49-F238E27FC236}">
                <a16:creationId xmlns:a16="http://schemas.microsoft.com/office/drawing/2014/main" id="{839FA7C2-4659-4092-8E4D-22238E74E00B}"/>
              </a:ext>
            </a:extLst>
          </p:cNvPr>
          <p:cNvSpPr>
            <a:spLocks xmlns:a="http://schemas.openxmlformats.org/drawingml/2006/main" noGrp="1"/>
          </p:cNvSpPr>
          <p:nvPr/>
        </p:nvSpPr>
        <p:spPr>
          <a:xfrm xmlns:a="http://schemas.openxmlformats.org/drawingml/2006/main">
            <a:off x="3448050" y="4048125"/>
            <a:ext cx="2428875"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15" name="Compare reasoning">
            <a:extLst xmlns:a="http://schemas.openxmlformats.org/drawingml/2006/main">
              <a:ext uri="{FF2B5EF4-FFF2-40B4-BE49-F238E27FC236}">
                <a16:creationId xmlns:a16="http://schemas.microsoft.com/office/drawing/2014/main" id="{2DFCABFE-A7B7-40F3-ACF8-F5DB3C02864C}"/>
              </a:ext>
            </a:extLst>
          </p:cNvPr>
          <p:cNvSpPr>
            <a:spLocks xmlns:a="http://schemas.openxmlformats.org/drawingml/2006/main" noGrp="1"/>
          </p:cNvSpPr>
          <p:nvPr/>
        </p:nvSpPr>
        <p:spPr>
          <a:xfrm xmlns:a="http://schemas.openxmlformats.org/drawingml/2006/main">
            <a:off x="3619500" y="4200525"/>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Compare reasoning</a:t>
            </a:r>
          </a:p>
        </p:txBody>
      </p:sp>
      <p:sp>
        <p:nvSpPr>
          <p:cNvPr id="16" name="Which assumption&#10;does it affect?">
            <a:extLst xmlns:a="http://schemas.openxmlformats.org/drawingml/2006/main">
              <a:ext uri="{FF2B5EF4-FFF2-40B4-BE49-F238E27FC236}">
                <a16:creationId xmlns:a16="http://schemas.microsoft.com/office/drawing/2014/main" id="{41A61ACF-660C-4895-8E23-DB9E167EDA88}"/>
              </a:ext>
            </a:extLst>
          </p:cNvPr>
          <p:cNvSpPr>
            <a:spLocks xmlns:a="http://schemas.openxmlformats.org/drawingml/2006/main" noGrp="1"/>
          </p:cNvSpPr>
          <p:nvPr/>
        </p:nvSpPr>
        <p:spPr>
          <a:xfrm xmlns:a="http://schemas.openxmlformats.org/drawingml/2006/main">
            <a:off x="3619500" y="4838700"/>
            <a:ext cx="2085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Which assumption</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does it affect?</a:t>
            </a:r>
          </a:p>
        </p:txBody>
      </p:sp>
      <p:sp>
        <p:nvSpPr>
          <p:cNvPr id="17" name="Record a response">
            <a:extLst xmlns:a="http://schemas.openxmlformats.org/drawingml/2006/main">
              <a:ext uri="{FF2B5EF4-FFF2-40B4-BE49-F238E27FC236}">
                <a16:creationId xmlns:a16="http://schemas.microsoft.com/office/drawing/2014/main" id="{EBEEA2DB-917F-401D-A6E5-B3F7AD3A81E2}"/>
              </a:ext>
            </a:extLst>
          </p:cNvPr>
          <p:cNvSpPr>
            <a:spLocks xmlns:a="http://schemas.openxmlformats.org/drawingml/2006/main" noGrp="1"/>
          </p:cNvSpPr>
          <p:nvPr/>
        </p:nvSpPr>
        <p:spPr>
          <a:xfrm xmlns:a="http://schemas.openxmlformats.org/drawingml/2006/main">
            <a:off x="6324600" y="4048125"/>
            <a:ext cx="2428875"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18" name="Record a response">
            <a:extLst xmlns:a="http://schemas.openxmlformats.org/drawingml/2006/main">
              <a:ext uri="{FF2B5EF4-FFF2-40B4-BE49-F238E27FC236}">
                <a16:creationId xmlns:a16="http://schemas.microsoft.com/office/drawing/2014/main" id="{C058651C-69DE-4820-90FA-44984C6BF123}"/>
              </a:ext>
            </a:extLst>
          </p:cNvPr>
          <p:cNvSpPr>
            <a:spLocks xmlns:a="http://schemas.openxmlformats.org/drawingml/2006/main" noGrp="1"/>
          </p:cNvSpPr>
          <p:nvPr/>
        </p:nvSpPr>
        <p:spPr>
          <a:xfrm xmlns:a="http://schemas.openxmlformats.org/drawingml/2006/main">
            <a:off x="6496050" y="4200525"/>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Record a response</a:t>
            </a:r>
          </a:p>
        </p:txBody>
      </p:sp>
      <p:sp>
        <p:nvSpPr>
          <p:cNvPr id="19" name="Revise, leave open&#10;or stop following.">
            <a:extLst xmlns:a="http://schemas.openxmlformats.org/drawingml/2006/main">
              <a:ext uri="{FF2B5EF4-FFF2-40B4-BE49-F238E27FC236}">
                <a16:creationId xmlns:a16="http://schemas.microsoft.com/office/drawing/2014/main" id="{7B9CA4FC-8A02-4A28-8411-8EC084032825}"/>
              </a:ext>
            </a:extLst>
          </p:cNvPr>
          <p:cNvSpPr>
            <a:spLocks xmlns:a="http://schemas.openxmlformats.org/drawingml/2006/main" noGrp="1"/>
          </p:cNvSpPr>
          <p:nvPr/>
        </p:nvSpPr>
        <p:spPr>
          <a:xfrm xmlns:a="http://schemas.openxmlformats.org/drawingml/2006/main">
            <a:off x="6496050" y="4838700"/>
            <a:ext cx="2085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Revise, leave open</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or stop following.</a:t>
            </a:r>
          </a:p>
        </p:txBody>
      </p:sp>
      <p:sp>
        <p:nvSpPr>
          <p:cNvPr id="20" name="Look back">
            <a:extLst xmlns:a="http://schemas.openxmlformats.org/drawingml/2006/main">
              <a:ext uri="{FF2B5EF4-FFF2-40B4-BE49-F238E27FC236}">
                <a16:creationId xmlns:a16="http://schemas.microsoft.com/office/drawing/2014/main" id="{09514559-3603-4A49-933D-205DF7A4B58E}"/>
              </a:ext>
            </a:extLst>
          </p:cNvPr>
          <p:cNvSpPr>
            <a:spLocks xmlns:a="http://schemas.openxmlformats.org/drawingml/2006/main" noGrp="1"/>
          </p:cNvSpPr>
          <p:nvPr/>
        </p:nvSpPr>
        <p:spPr>
          <a:xfrm xmlns:a="http://schemas.openxmlformats.org/drawingml/2006/main">
            <a:off x="9201150" y="4048125"/>
            <a:ext cx="2428875"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B9C2CF"/>
            </a:solidFill>
            <a:prstDash val="solid"/>
          </a:ln>
        </p:spPr>
      </p:sp>
      <p:sp>
        <p:nvSpPr>
          <p:cNvPr id="21" name="Look back">
            <a:extLst xmlns:a="http://schemas.openxmlformats.org/drawingml/2006/main">
              <a:ext uri="{FF2B5EF4-FFF2-40B4-BE49-F238E27FC236}">
                <a16:creationId xmlns:a16="http://schemas.microsoft.com/office/drawing/2014/main" id="{CAF1DE20-1294-4CB3-B674-36AF01E5C677}"/>
              </a:ext>
            </a:extLst>
          </p:cNvPr>
          <p:cNvSpPr>
            <a:spLocks xmlns:a="http://schemas.openxmlformats.org/drawingml/2006/main" noGrp="1"/>
          </p:cNvSpPr>
          <p:nvPr/>
        </p:nvSpPr>
        <p:spPr>
          <a:xfrm xmlns:a="http://schemas.openxmlformats.org/drawingml/2006/main">
            <a:off x="9372600" y="4200525"/>
            <a:ext cx="2085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75" b="1">
                <a:solidFill>
                  <a:srgbClr val="304674"/>
                </a:solidFill>
                <a:latin typeface="Trebuchet MS"/>
                <a:ea typeface="Trebuchet MS"/>
                <a:cs typeface="Trebuchet MS"/>
              </a:defRPr>
            </a:pPr>
            <a:r>
              <a:rPr sz="1875" b="1">
                <a:solidFill>
                  <a:srgbClr val="304674"/>
                </a:solidFill>
                <a:latin typeface="Trebuchet MS"/>
                <a:ea typeface="Trebuchet MS"/>
                <a:cs typeface="Trebuchet MS"/>
              </a:rPr>
              <a:t>Look back</a:t>
            </a:r>
          </a:p>
        </p:txBody>
      </p:sp>
      <p:sp>
        <p:nvSpPr>
          <p:cNvPr id="22" name="Use saved history.&#10;Ask a new question.">
            <a:extLst xmlns:a="http://schemas.openxmlformats.org/drawingml/2006/main">
              <a:ext uri="{FF2B5EF4-FFF2-40B4-BE49-F238E27FC236}">
                <a16:creationId xmlns:a16="http://schemas.microsoft.com/office/drawing/2014/main" id="{C23AB11D-4A03-4746-9075-B6D152F73C87}"/>
              </a:ext>
            </a:extLst>
          </p:cNvPr>
          <p:cNvSpPr>
            <a:spLocks xmlns:a="http://schemas.openxmlformats.org/drawingml/2006/main" noGrp="1"/>
          </p:cNvSpPr>
          <p:nvPr/>
        </p:nvSpPr>
        <p:spPr>
          <a:xfrm xmlns:a="http://schemas.openxmlformats.org/drawingml/2006/main">
            <a:off x="9372600" y="4838700"/>
            <a:ext cx="2085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Use saved history.</a:t>
            </a:r>
          </a:p>
          <a:p xmlns:a="http://schemas.openxmlformats.org/drawingml/2006/main">
            <a:pPr marL="0" indent="0" algn="l">
              <a:lnSpc>
                <a:spcPct val="112000"/>
              </a:lnSpc>
              <a:spcBef>
                <a:spcPts val="0"/>
              </a:spcBef>
              <a:spcAft>
                <a:spcPts val="0"/>
              </a:spcAft>
              <a:buNone/>
              <a:defRPr sz="1725" b="0">
                <a:solidFill>
                  <a:srgbClr val="202322"/>
                </a:solidFill>
                <a:latin typeface="Trebuchet MS"/>
                <a:ea typeface="Trebuchet MS"/>
                <a:cs typeface="Trebuchet MS"/>
              </a:defRPr>
            </a:pPr>
            <a:r>
              <a:rPr sz="1725" b="0">
                <a:solidFill>
                  <a:srgbClr val="202322"/>
                </a:solidFill>
                <a:latin typeface="Trebuchet MS"/>
                <a:ea typeface="Trebuchet MS"/>
                <a:cs typeface="Trebuchet MS"/>
              </a:rPr>
              <a:t>Ask a new question.</a:t>
            </a:r>
          </a:p>
        </p:txBody>
      </p:sp>
      <p:cxnSp>
        <p:nvCxnSpPr>
          <p:cNvPr id="51" name=""/>
          <p:cNvCxnSpPr>
            <a:stCxn xmlns:a="http://schemas.openxmlformats.org/drawingml/2006/main" id="5" idx="2"/>
            <a:endCxn xmlns:a="http://schemas.openxmlformats.org/drawingml/2006/main" id="11" idx="0"/>
          </p:cNvCxnSpPr>
          <p:nvPr/>
        </p:nvCxnSpPr>
        <p:spPr>
          <a:xfrm xmlns:a="http://schemas.openxmlformats.org/drawingml/2006/main" flipH="1">
            <a:off x="1785938" y="3457575"/>
            <a:ext cx="1333500" cy="590550"/>
          </a:xfrm>
          <a:prstGeom xmlns:a="http://schemas.openxmlformats.org/drawingml/2006/main" prst="bentConnector4">
            <a:avLst>
              <a:gd name="adj1" fmla="val 0"/>
              <a:gd name="adj2" fmla="val 50000"/>
            </a:avLst>
          </a:prstGeom>
          <a:ln xmlns:a="http://schemas.openxmlformats.org/drawingml/2006/main" w="19050">
            <a:solidFill>
              <a:srgbClr val="435D94"/>
            </a:solidFill>
            <a:prstDash val="solid"/>
            <a:tailEnd type="arrow" w="med" len="med"/>
          </a:ln>
        </p:spPr>
      </p:cxnSp>
      <p:cxnSp>
        <p:nvCxnSpPr>
          <p:cNvPr id="52" name=""/>
          <p:cNvCxnSpPr>
            <a:stCxn xmlns:a="http://schemas.openxmlformats.org/drawingml/2006/main" id="8" idx="2"/>
            <a:endCxn xmlns:a="http://schemas.openxmlformats.org/drawingml/2006/main" id="11" idx="0"/>
          </p:cNvCxnSpPr>
          <p:nvPr/>
        </p:nvCxnSpPr>
        <p:spPr>
          <a:xfrm xmlns:a="http://schemas.openxmlformats.org/drawingml/2006/main" flipH="1">
            <a:off x="1785938" y="3457575"/>
            <a:ext cx="7286625" cy="590550"/>
          </a:xfrm>
          <a:prstGeom xmlns:a="http://schemas.openxmlformats.org/drawingml/2006/main" prst="bentConnector4">
            <a:avLst>
              <a:gd name="adj1" fmla="val 0"/>
              <a:gd name="adj2" fmla="val 50000"/>
            </a:avLst>
          </a:prstGeom>
          <a:ln xmlns:a="http://schemas.openxmlformats.org/drawingml/2006/main" w="19050">
            <a:solidFill>
              <a:srgbClr val="D95520"/>
            </a:solidFill>
            <a:prstDash val="dash"/>
            <a:tailEnd type="arrow" w="med" len="med"/>
          </a:ln>
        </p:spPr>
      </p:cxnSp>
      <p:cxnSp>
        <p:nvCxnSpPr>
          <p:cNvPr id="53" name=""/>
          <p:cNvCxnSpPr>
            <a:stCxn xmlns:a="http://schemas.openxmlformats.org/drawingml/2006/main" id="11" idx="3"/>
            <a:endCxn xmlns:a="http://schemas.openxmlformats.org/drawingml/2006/main" id="14" idx="1"/>
          </p:cNvCxnSpPr>
          <p:nvPr/>
        </p:nvCxnSpPr>
        <p:spPr>
          <a:xfrm xmlns:a="http://schemas.openxmlformats.org/drawingml/2006/main">
            <a:off x="3000375" y="4872038"/>
            <a:ext cx="447675" cy="0"/>
          </a:xfrm>
          <a:prstGeom xmlns:a="http://schemas.openxmlformats.org/drawingml/2006/main" prst="straightConnector1">
            <a:avLst/>
          </a:prstGeom>
          <a:ln xmlns:a="http://schemas.openxmlformats.org/drawingml/2006/main" w="19050">
            <a:solidFill>
              <a:srgbClr val="435D94"/>
            </a:solidFill>
            <a:prstDash val="solid"/>
            <a:tailEnd type="arrow" w="med" len="med"/>
          </a:ln>
        </p:spPr>
      </p:cxnSp>
      <p:cxnSp>
        <p:nvCxnSpPr>
          <p:cNvPr id="54" name=""/>
          <p:cNvCxnSpPr>
            <a:stCxn xmlns:a="http://schemas.openxmlformats.org/drawingml/2006/main" id="14" idx="3"/>
            <a:endCxn xmlns:a="http://schemas.openxmlformats.org/drawingml/2006/main" id="17" idx="1"/>
          </p:cNvCxnSpPr>
          <p:nvPr/>
        </p:nvCxnSpPr>
        <p:spPr>
          <a:xfrm xmlns:a="http://schemas.openxmlformats.org/drawingml/2006/main">
            <a:off x="5876925" y="4872038"/>
            <a:ext cx="447675" cy="0"/>
          </a:xfrm>
          <a:prstGeom xmlns:a="http://schemas.openxmlformats.org/drawingml/2006/main" prst="straightConnector1">
            <a:avLst/>
          </a:prstGeom>
          <a:ln xmlns:a="http://schemas.openxmlformats.org/drawingml/2006/main" w="19050">
            <a:solidFill>
              <a:srgbClr val="435D94"/>
            </a:solidFill>
            <a:prstDash val="solid"/>
            <a:tailEnd type="arrow" w="med" len="med"/>
          </a:ln>
        </p:spPr>
      </p:cxnSp>
      <p:cxnSp>
        <p:nvCxnSpPr>
          <p:cNvPr id="55" name=""/>
          <p:cNvCxnSpPr>
            <a:stCxn xmlns:a="http://schemas.openxmlformats.org/drawingml/2006/main" id="17" idx="3"/>
            <a:endCxn xmlns:a="http://schemas.openxmlformats.org/drawingml/2006/main" id="20" idx="1"/>
          </p:cNvCxnSpPr>
          <p:nvPr/>
        </p:nvCxnSpPr>
        <p:spPr>
          <a:xfrm xmlns:a="http://schemas.openxmlformats.org/drawingml/2006/main">
            <a:off x="8753475" y="4872038"/>
            <a:ext cx="447675" cy="0"/>
          </a:xfrm>
          <a:prstGeom xmlns:a="http://schemas.openxmlformats.org/drawingml/2006/main" prst="straightConnector1">
            <a:avLst/>
          </a:prstGeom>
          <a:ln xmlns:a="http://schemas.openxmlformats.org/drawingml/2006/main" w="19050">
            <a:solidFill>
              <a:srgbClr val="435D94"/>
            </a:solidFill>
            <a:prstDash val="solid"/>
            <a:tailEnd type="arrow" w="med" len="med"/>
          </a:ln>
        </p:spPr>
      </p:cxnSp>
      <p:sp>
        <p:nvSpPr>
          <p:cNvPr id="28" name="Quiet periods need check history and coverage gaps. Silence alon">
            <a:extLst xmlns:a="http://schemas.openxmlformats.org/drawingml/2006/main">
              <a:ext uri="{FF2B5EF4-FFF2-40B4-BE49-F238E27FC236}">
                <a16:creationId xmlns:a16="http://schemas.microsoft.com/office/drawing/2014/main" id="{067F5028-1CD5-4913-8175-94EB0D9E01CD}"/>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Quiet periods need check history and coverage gaps. Silence alone cannot show that nothing changed.</a:t>
            </a:r>
          </a:p>
        </p:txBody>
      </p:sp>
    </p:spTree>
    <p:extLst>
      <p:ext uri="{BB962C8B-B14F-4D97-AF65-F5344CB8AC3E}">
        <p14:creationId xmlns:p14="http://schemas.microsoft.com/office/powerpoint/2010/main" val="1231346119"/>
      </p:ext>
    </p:extLst>
  </p:cSld>
</p:sld>
</file>

<file path=ppt/slides/slide7.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1" name="A design decision">
            <a:extLst xmlns:a="http://schemas.openxmlformats.org/drawingml/2006/main">
              <a:ext uri="{FF2B5EF4-FFF2-40B4-BE49-F238E27FC236}">
                <a16:creationId xmlns:a16="http://schemas.microsoft.com/office/drawing/2014/main" id="{398FD650-FEFC-4B83-BF79-BD51F2765EC3}"/>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 design decision</a:t>
            </a:r>
          </a:p>
        </p:txBody>
      </p:sp>
      <p:sp>
        <p:nvSpPr>
          <p:cNvPr id="2" name="A starting point without writing the user’s view">
            <a:extLst xmlns:a="http://schemas.openxmlformats.org/drawingml/2006/main">
              <a:ext uri="{FF2B5EF4-FFF2-40B4-BE49-F238E27FC236}">
                <a16:creationId xmlns:a16="http://schemas.microsoft.com/office/drawing/2014/main" id="{98E6337B-AC8B-41C5-BE1C-B4BF9F4A6D0C}"/>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A starting point without writing the user’s view</a:t>
            </a:r>
          </a:p>
        </p:txBody>
      </p:sp>
      <p:sp>
        <p:nvSpPr>
          <p:cNvPr id="3" name="Thesis   CP1001   9 October 2026">
            <a:extLst xmlns:a="http://schemas.openxmlformats.org/drawingml/2006/main">
              <a:ext uri="{FF2B5EF4-FFF2-40B4-BE49-F238E27FC236}">
                <a16:creationId xmlns:a16="http://schemas.microsoft.com/office/drawing/2014/main" id="{34002E79-87E4-4194-83BC-D0D69B9465C3}"/>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7">
            <a:extLst xmlns:a="http://schemas.openxmlformats.org/drawingml/2006/main">
              <a:ext uri="{FF2B5EF4-FFF2-40B4-BE49-F238E27FC236}">
                <a16:creationId xmlns:a16="http://schemas.microsoft.com/office/drawing/2014/main" id="{1C6B2AD5-44CB-4198-9FBD-08F61206815A}"/>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7</a:t>
            </a:r>
          </a:p>
        </p:txBody>
      </p:sp>
      <p:sp>
        <p:nvSpPr>
          <p:cNvPr id="5" name="The friction we designed for">
            <a:extLst xmlns:a="http://schemas.openxmlformats.org/drawingml/2006/main">
              <a:ext uri="{FF2B5EF4-FFF2-40B4-BE49-F238E27FC236}">
                <a16:creationId xmlns:a16="http://schemas.microsoft.com/office/drawing/2014/main" id="{8DB23299-889E-43EF-B650-09669D824EF1}"/>
              </a:ext>
            </a:extLst>
          </p:cNvPr>
          <p:cNvSpPr>
            <a:spLocks xmlns:a="http://schemas.openxmlformats.org/drawingml/2006/main" noGrp="1"/>
          </p:cNvSpPr>
          <p:nvPr/>
        </p:nvSpPr>
        <p:spPr>
          <a:xfrm xmlns:a="http://schemas.openxmlformats.org/drawingml/2006/main">
            <a:off x="571500" y="21145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1">
                <a:solidFill>
                  <a:srgbClr val="304674"/>
                </a:solidFill>
                <a:latin typeface="Trebuchet MS"/>
                <a:ea typeface="Trebuchet MS"/>
                <a:cs typeface="Trebuchet MS"/>
              </a:defRPr>
            </a:pPr>
            <a:r>
              <a:rPr sz="2100" b="1">
                <a:solidFill>
                  <a:srgbClr val="304674"/>
                </a:solidFill>
                <a:latin typeface="Trebuchet MS"/>
                <a:ea typeface="Trebuchet MS"/>
                <a:cs typeface="Trebuchet MS"/>
              </a:rPr>
              <a:t>The friction we designed for</a:t>
            </a:r>
          </a:p>
        </p:txBody>
      </p:sp>
      <p:sp>
        <p:nvSpPr>
          <p:cNvPr id="6" name="A beginner may not know which tab&#10;or financial question to start">
            <a:extLst xmlns:a="http://schemas.openxmlformats.org/drawingml/2006/main">
              <a:ext uri="{FF2B5EF4-FFF2-40B4-BE49-F238E27FC236}">
                <a16:creationId xmlns:a16="http://schemas.microsoft.com/office/drawing/2014/main" id="{28882DB9-D875-40E8-9D9E-E47393ABE98D}"/>
              </a:ext>
            </a:extLst>
          </p:cNvPr>
          <p:cNvSpPr>
            <a:spLocks xmlns:a="http://schemas.openxmlformats.org/drawingml/2006/main" noGrp="1"/>
          </p:cNvSpPr>
          <p:nvPr/>
        </p:nvSpPr>
        <p:spPr>
          <a:xfrm xmlns:a="http://schemas.openxmlformats.org/drawingml/2006/main">
            <a:off x="571500" y="2628900"/>
            <a:ext cx="6191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A beginner may not know which tab</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or financial question to start with.</a:t>
            </a:r>
          </a:p>
        </p:txBody>
      </p:sp>
      <p:sp>
        <p:nvSpPr>
          <p:cNvPr id="7" name="What changed on 9 October">
            <a:extLst xmlns:a="http://schemas.openxmlformats.org/drawingml/2006/main">
              <a:ext uri="{FF2B5EF4-FFF2-40B4-BE49-F238E27FC236}">
                <a16:creationId xmlns:a16="http://schemas.microsoft.com/office/drawing/2014/main" id="{0E3D99E0-F2AF-4AA0-B188-60668C58B021}"/>
              </a:ext>
            </a:extLst>
          </p:cNvPr>
          <p:cNvSpPr>
            <a:spLocks xmlns:a="http://schemas.openxmlformats.org/drawingml/2006/main" noGrp="1"/>
          </p:cNvSpPr>
          <p:nvPr/>
        </p:nvSpPr>
        <p:spPr>
          <a:xfrm xmlns:a="http://schemas.openxmlformats.org/drawingml/2006/main">
            <a:off x="571500" y="39433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1">
                <a:solidFill>
                  <a:srgbClr val="304674"/>
                </a:solidFill>
                <a:latin typeface="Trebuchet MS"/>
                <a:ea typeface="Trebuchet MS"/>
                <a:cs typeface="Trebuchet MS"/>
              </a:defRPr>
            </a:pPr>
            <a:r>
              <a:rPr sz="2100" b="1">
                <a:solidFill>
                  <a:srgbClr val="304674"/>
                </a:solidFill>
                <a:latin typeface="Trebuchet MS"/>
                <a:ea typeface="Trebuchet MS"/>
                <a:cs typeface="Trebuchet MS"/>
              </a:rPr>
              <a:t>What changed on 9 October</a:t>
            </a:r>
          </a:p>
        </p:txBody>
      </p:sp>
      <p:sp>
        <p:nvSpPr>
          <p:cNvPr id="8" name="Four optional starter questions open&#10;the relevant saved research">
            <a:extLst xmlns:a="http://schemas.openxmlformats.org/drawingml/2006/main">
              <a:ext uri="{FF2B5EF4-FFF2-40B4-BE49-F238E27FC236}">
                <a16:creationId xmlns:a16="http://schemas.microsoft.com/office/drawing/2014/main" id="{E940F7EE-2364-4336-9553-1790382E3B92}"/>
              </a:ext>
            </a:extLst>
          </p:cNvPr>
          <p:cNvSpPr>
            <a:spLocks xmlns:a="http://schemas.openxmlformats.org/drawingml/2006/main" noGrp="1"/>
          </p:cNvSpPr>
          <p:nvPr/>
        </p:nvSpPr>
        <p:spPr>
          <a:xfrm xmlns:a="http://schemas.openxmlformats.org/drawingml/2006/main">
            <a:off x="571500" y="4457700"/>
            <a:ext cx="6191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Four optional starter questions open</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the relevant saved research. Short</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term explanations sit beside figures.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ede070826ae4cb3"/>
          <a:stretch xmlns:a="http://schemas.openxmlformats.org/drawingml/2006/main"/>
        </p:blipFill>
        <p:spPr>
          <a:xfrm xmlns:a="http://schemas.openxmlformats.org/drawingml/2006/main">
            <a:off x="8104951" y="1676400"/>
            <a:ext cx="2011423" cy="4352925"/>
          </a:xfrm>
          <a:prstGeom xmlns:a="http://schemas.openxmlformats.org/drawingml/2006/main" prst="rect">
            <a:avLst/>
          </a:prstGeom>
        </p:spPr>
      </p:pic>
      <p:sp>
        <p:nvSpPr>
          <p:cNvPr id="10" name="Actual local prototype">
            <a:extLst xmlns:a="http://schemas.openxmlformats.org/drawingml/2006/main">
              <a:ext uri="{FF2B5EF4-FFF2-40B4-BE49-F238E27FC236}">
                <a16:creationId xmlns:a16="http://schemas.microsoft.com/office/drawing/2014/main" id="{695A7D21-DF62-4027-81B4-C235AA915953}"/>
              </a:ext>
            </a:extLst>
          </p:cNvPr>
          <p:cNvSpPr>
            <a:spLocks xmlns:a="http://schemas.openxmlformats.org/drawingml/2006/main" noGrp="1"/>
          </p:cNvSpPr>
          <p:nvPr/>
        </p:nvSpPr>
        <p:spPr>
          <a:xfrm xmlns:a="http://schemas.openxmlformats.org/drawingml/2006/main">
            <a:off x="7829550" y="61531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ct val="112000"/>
              </a:lnSpc>
              <a:spcBef>
                <a:spcPts val="0"/>
              </a:spcBef>
              <a:spcAft>
                <a:spcPts val="0"/>
              </a:spcAft>
              <a:buNone/>
              <a:defRPr sz="1275" b="0">
                <a:solidFill>
                  <a:srgbClr val="59616B"/>
                </a:solidFill>
                <a:latin typeface="Trebuchet MS"/>
                <a:ea typeface="Trebuchet MS"/>
                <a:cs typeface="Trebuchet MS"/>
              </a:defRPr>
            </a:pPr>
            <a:r>
              <a:rPr sz="1275" b="0">
                <a:solidFill>
                  <a:srgbClr val="59616B"/>
                </a:solidFill>
                <a:latin typeface="Trebuchet MS"/>
                <a:ea typeface="Trebuchet MS"/>
                <a:cs typeface="Trebuchet MS"/>
              </a:rPr>
              <a:t>Actual local prototype</a:t>
            </a:r>
          </a:p>
        </p:txBody>
      </p:sp>
    </p:spTree>
    <p:extLst>
      <p:ext uri="{BB962C8B-B14F-4D97-AF65-F5344CB8AC3E}">
        <p14:creationId xmlns:p14="http://schemas.microsoft.com/office/powerpoint/2010/main" val="1732732235"/>
      </p:ext>
    </p:extLst>
  </p:cSld>
</p:sld>
</file>

<file path=ppt/slides/slide8.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1" name="A lesson from the interface">
            <a:extLst xmlns:a="http://schemas.openxmlformats.org/drawingml/2006/main">
              <a:ext uri="{FF2B5EF4-FFF2-40B4-BE49-F238E27FC236}">
                <a16:creationId xmlns:a16="http://schemas.microsoft.com/office/drawing/2014/main" id="{3BD222D5-1FC1-4E12-B151-D850E8B20A84}"/>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 lesson from the interface</a:t>
            </a:r>
          </a:p>
        </p:txBody>
      </p:sp>
      <p:sp>
        <p:nvSpPr>
          <p:cNvPr id="2" name="Dates change what a number means">
            <a:extLst xmlns:a="http://schemas.openxmlformats.org/drawingml/2006/main">
              <a:ext uri="{FF2B5EF4-FFF2-40B4-BE49-F238E27FC236}">
                <a16:creationId xmlns:a16="http://schemas.microsoft.com/office/drawing/2014/main" id="{44AC23FD-3E0F-42D5-8650-5AB01F84B7F1}"/>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Dates change what a number means</a:t>
            </a:r>
          </a:p>
        </p:txBody>
      </p:sp>
      <p:sp>
        <p:nvSpPr>
          <p:cNvPr id="3" name="Thesis   CP1001   9 October 2026">
            <a:extLst xmlns:a="http://schemas.openxmlformats.org/drawingml/2006/main">
              <a:ext uri="{FF2B5EF4-FFF2-40B4-BE49-F238E27FC236}">
                <a16:creationId xmlns:a16="http://schemas.microsoft.com/office/drawing/2014/main" id="{DF52B0A7-6A02-4E96-AFDD-B6F064FA3F96}"/>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8">
            <a:extLst xmlns:a="http://schemas.openxmlformats.org/drawingml/2006/main">
              <a:ext uri="{FF2B5EF4-FFF2-40B4-BE49-F238E27FC236}">
                <a16:creationId xmlns:a16="http://schemas.microsoft.com/office/drawing/2014/main" id="{466BE9D9-E28F-4673-93F2-3411C89BE4A2}"/>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8</a:t>
            </a:r>
          </a:p>
        </p:txBody>
      </p:sp>
      <p:sp>
        <p:nvSpPr>
          <p:cNvPr id="5" name="23.9%">
            <a:extLst xmlns:a="http://schemas.openxmlformats.org/drawingml/2006/main">
              <a:ext uri="{FF2B5EF4-FFF2-40B4-BE49-F238E27FC236}">
                <a16:creationId xmlns:a16="http://schemas.microsoft.com/office/drawing/2014/main" id="{3A47AF23-7623-46B3-B2EA-974830BB74A9}"/>
              </a:ext>
            </a:extLst>
          </p:cNvPr>
          <p:cNvSpPr>
            <a:spLocks xmlns:a="http://schemas.openxmlformats.org/drawingml/2006/main" noGrp="1"/>
          </p:cNvSpPr>
          <p:nvPr/>
        </p:nvSpPr>
        <p:spPr>
          <a:xfrm xmlns:a="http://schemas.openxmlformats.org/drawingml/2006/main">
            <a:off x="571500" y="2114550"/>
            <a:ext cx="295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4875" b="1">
                <a:solidFill>
                  <a:srgbClr val="304674"/>
                </a:solidFill>
                <a:latin typeface="Trebuchet MS"/>
                <a:ea typeface="Trebuchet MS"/>
                <a:cs typeface="Trebuchet MS"/>
              </a:defRPr>
            </a:pPr>
            <a:r>
              <a:rPr sz="4875" b="1">
                <a:solidFill>
                  <a:srgbClr val="304674"/>
                </a:solidFill>
                <a:latin typeface="Trebuchet MS"/>
                <a:ea typeface="Trebuchet MS"/>
                <a:cs typeface="Trebuchet MS"/>
              </a:rPr>
              <a:t>23.9%</a:t>
            </a:r>
          </a:p>
        </p:txBody>
      </p:sp>
      <p:sp>
        <p:nvSpPr>
          <p:cNvPr id="6" name="Fiscal year to 2 Nov 2025&#10;Revenue growth">
            <a:extLst xmlns:a="http://schemas.openxmlformats.org/drawingml/2006/main">
              <a:ext uri="{FF2B5EF4-FFF2-40B4-BE49-F238E27FC236}">
                <a16:creationId xmlns:a16="http://schemas.microsoft.com/office/drawing/2014/main" id="{D80CADCD-3E96-4578-B383-346275B03FAB}"/>
              </a:ext>
            </a:extLst>
          </p:cNvPr>
          <p:cNvSpPr>
            <a:spLocks xmlns:a="http://schemas.openxmlformats.org/drawingml/2006/main" noGrp="1"/>
          </p:cNvSpPr>
          <p:nvPr/>
        </p:nvSpPr>
        <p:spPr>
          <a:xfrm xmlns:a="http://schemas.openxmlformats.org/drawingml/2006/main">
            <a:off x="571500" y="300990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Fiscal year to 2 Nov 2025</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Revenue growth</a:t>
            </a:r>
          </a:p>
        </p:txBody>
      </p:sp>
      <p:sp>
        <p:nvSpPr>
          <p:cNvPr id="7" name="48.7%">
            <a:extLst xmlns:a="http://schemas.openxmlformats.org/drawingml/2006/main">
              <a:ext uri="{FF2B5EF4-FFF2-40B4-BE49-F238E27FC236}">
                <a16:creationId xmlns:a16="http://schemas.microsoft.com/office/drawing/2014/main" id="{0A222726-5148-4946-BA8A-C0FEAA4EC9F2}"/>
              </a:ext>
            </a:extLst>
          </p:cNvPr>
          <p:cNvSpPr>
            <a:spLocks xmlns:a="http://schemas.openxmlformats.org/drawingml/2006/main" noGrp="1"/>
          </p:cNvSpPr>
          <p:nvPr/>
        </p:nvSpPr>
        <p:spPr>
          <a:xfrm xmlns:a="http://schemas.openxmlformats.org/drawingml/2006/main">
            <a:off x="571500" y="4000500"/>
            <a:ext cx="314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4875" b="1">
                <a:solidFill>
                  <a:srgbClr val="D95520"/>
                </a:solidFill>
                <a:latin typeface="Trebuchet MS"/>
                <a:ea typeface="Trebuchet MS"/>
                <a:cs typeface="Trebuchet MS"/>
              </a:defRPr>
            </a:pPr>
            <a:r>
              <a:rPr sz="4875" b="1">
                <a:solidFill>
                  <a:srgbClr val="D95520"/>
                </a:solidFill>
                <a:latin typeface="Trebuchet MS"/>
                <a:ea typeface="Trebuchet MS"/>
                <a:cs typeface="Trebuchet MS"/>
              </a:rPr>
              <a:t>48.7%</a:t>
            </a:r>
          </a:p>
        </p:txBody>
      </p:sp>
      <p:sp>
        <p:nvSpPr>
          <p:cNvPr id="8" name="12 months to 2 Aug 2026&#10;Revenue growth">
            <a:extLst xmlns:a="http://schemas.openxmlformats.org/drawingml/2006/main">
              <a:ext uri="{FF2B5EF4-FFF2-40B4-BE49-F238E27FC236}">
                <a16:creationId xmlns:a16="http://schemas.microsoft.com/office/drawing/2014/main" id="{1534D9F3-2AB9-4CC9-874D-947CA4C34C16}"/>
              </a:ext>
            </a:extLst>
          </p:cNvPr>
          <p:cNvSpPr>
            <a:spLocks xmlns:a="http://schemas.openxmlformats.org/drawingml/2006/main" noGrp="1"/>
          </p:cNvSpPr>
          <p:nvPr/>
        </p:nvSpPr>
        <p:spPr>
          <a:xfrm xmlns:a="http://schemas.openxmlformats.org/drawingml/2006/main">
            <a:off x="571500" y="4895850"/>
            <a:ext cx="361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12 months to 2 Aug 2026</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Revenue growth</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8ea2984a2eb402e"/>
          <a:stretch xmlns:a="http://schemas.openxmlformats.org/drawingml/2006/main"/>
        </p:blipFill>
        <p:spPr>
          <a:xfrm xmlns:a="http://schemas.openxmlformats.org/drawingml/2006/main">
            <a:off x="5497150" y="2076450"/>
            <a:ext cx="5055326" cy="3686175"/>
          </a:xfrm>
          <a:prstGeom xmlns:a="http://schemas.openxmlformats.org/drawingml/2006/main" prst="rect">
            <a:avLst/>
          </a:prstGeom>
        </p:spPr>
      </p:pic>
      <p:sp>
        <p:nvSpPr>
          <p:cNvPr id="10" name="Broadcom’s saved figures, different periods. The fix made the co">
            <a:extLst xmlns:a="http://schemas.openxmlformats.org/drawingml/2006/main">
              <a:ext uri="{FF2B5EF4-FFF2-40B4-BE49-F238E27FC236}">
                <a16:creationId xmlns:a16="http://schemas.microsoft.com/office/drawing/2014/main" id="{48C01D93-B001-4E08-9ACC-7CFA859101E4}"/>
              </a:ext>
            </a:extLst>
          </p:cNvPr>
          <p:cNvSpPr>
            <a:spLocks xmlns:a="http://schemas.openxmlformats.org/drawingml/2006/main" noGrp="1"/>
          </p:cNvSpPr>
          <p:nvPr/>
        </p:nvSpPr>
        <p:spPr>
          <a:xfrm xmlns:a="http://schemas.openxmlformats.org/drawingml/2006/main">
            <a:off x="571500" y="59531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Broadcom’s saved figures, different periods. The fix made the comparison windows explicit.</a:t>
            </a:r>
          </a:p>
        </p:txBody>
      </p:sp>
    </p:spTree>
    <p:extLst>
      <p:ext uri="{BB962C8B-B14F-4D97-AF65-F5344CB8AC3E}">
        <p14:creationId xmlns:p14="http://schemas.microsoft.com/office/powerpoint/2010/main" val="668594451"/>
      </p:ext>
    </p:extLst>
  </p:cSld>
</p:sld>
</file>

<file path=ppt/slides/slide9.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0" name="A lesson from the journey">
            <a:extLst xmlns:a="http://schemas.openxmlformats.org/drawingml/2006/main">
              <a:ext uri="{FF2B5EF4-FFF2-40B4-BE49-F238E27FC236}">
                <a16:creationId xmlns:a16="http://schemas.microsoft.com/office/drawing/2014/main" id="{AC93774E-1C31-4F82-A3E1-E053C2D10CAC}"/>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 lesson from the journey</a:t>
            </a:r>
          </a:p>
        </p:txBody>
      </p:sp>
      <p:sp>
        <p:nvSpPr>
          <p:cNvPr id="2" name="Saving reasoning needs a clear first step">
            <a:extLst xmlns:a="http://schemas.openxmlformats.org/drawingml/2006/main">
              <a:ext uri="{FF2B5EF4-FFF2-40B4-BE49-F238E27FC236}">
                <a16:creationId xmlns:a16="http://schemas.microsoft.com/office/drawing/2014/main" id="{59ED40FB-E050-4599-97BA-845FABAC1068}"/>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Saving reasoning needs a clear first step</a:t>
            </a:r>
          </a:p>
        </p:txBody>
      </p:sp>
      <p:sp>
        <p:nvSpPr>
          <p:cNvPr id="3" name="Thesis   CP1001   9 October 2026">
            <a:extLst xmlns:a="http://schemas.openxmlformats.org/drawingml/2006/main">
              <a:ext uri="{FF2B5EF4-FFF2-40B4-BE49-F238E27FC236}">
                <a16:creationId xmlns:a16="http://schemas.microsoft.com/office/drawing/2014/main" id="{317785A4-E6FA-4E75-B6C0-BC1B2993B877}"/>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9">
            <a:extLst xmlns:a="http://schemas.openxmlformats.org/drawingml/2006/main">
              <a:ext uri="{FF2B5EF4-FFF2-40B4-BE49-F238E27FC236}">
                <a16:creationId xmlns:a16="http://schemas.microsoft.com/office/drawing/2014/main" id="{1EEF9280-F4C6-409D-A1A5-746816F4F841}"/>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cab34bb21c4490b"/>
          <a:srcRect xmlns:a="http://schemas.openxmlformats.org/drawingml/2006/main" l="0" t="18063" r="0" b="18063"/>
          <a:stretch xmlns:a="http://schemas.openxmlformats.org/drawingml/2006/main">
            <a:fillRect l="0" t="0" r="0" b="0"/>
          </a:stretch>
        </p:blipFill>
        <p:spPr>
          <a:xfrm xmlns:a="http://schemas.openxmlformats.org/drawingml/2006/main">
            <a:off x="571500" y="2381250"/>
            <a:ext cx="6953250" cy="3238500"/>
          </a:xfrm>
          <a:prstGeom xmlns:a="http://schemas.openxmlformats.org/drawingml/2006/main" prst="rect">
            <a:avLst/>
          </a:prstGeom>
        </p:spPr>
      </p:pic>
      <p:sp>
        <p:nvSpPr>
          <p:cNvPr id="6" name="Actual My ideas view, 9 October 2026">
            <a:extLst xmlns:a="http://schemas.openxmlformats.org/drawingml/2006/main">
              <a:ext uri="{FF2B5EF4-FFF2-40B4-BE49-F238E27FC236}">
                <a16:creationId xmlns:a16="http://schemas.microsoft.com/office/drawing/2014/main" id="{90BCC6AE-628F-4372-BAE6-9E51ABC883D3}"/>
              </a:ext>
            </a:extLst>
          </p:cNvPr>
          <p:cNvSpPr>
            <a:spLocks xmlns:a="http://schemas.openxmlformats.org/drawingml/2006/main" noGrp="1"/>
          </p:cNvSpPr>
          <p:nvPr/>
        </p:nvSpPr>
        <p:spPr>
          <a:xfrm xmlns:a="http://schemas.openxmlformats.org/drawingml/2006/main">
            <a:off x="571500" y="5762625"/>
            <a:ext cx="695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0">
                <a:solidFill>
                  <a:srgbClr val="59616B"/>
                </a:solidFill>
                <a:latin typeface="Trebuchet MS"/>
                <a:ea typeface="Trebuchet MS"/>
                <a:cs typeface="Trebuchet MS"/>
              </a:defRPr>
            </a:pPr>
            <a:r>
              <a:rPr sz="1350" b="0">
                <a:solidFill>
                  <a:srgbClr val="59616B"/>
                </a:solidFill>
                <a:latin typeface="Trebuchet MS"/>
                <a:ea typeface="Trebuchet MS"/>
                <a:cs typeface="Trebuchet MS"/>
              </a:rPr>
              <a:t>Actual My ideas view, 9 October 2026</a:t>
            </a:r>
          </a:p>
        </p:txBody>
      </p:sp>
      <p:sp>
        <p:nvSpPr>
          <p:cNvPr id="7" name="A prompt helps begin">
            <a:extLst xmlns:a="http://schemas.openxmlformats.org/drawingml/2006/main">
              <a:ext uri="{FF2B5EF4-FFF2-40B4-BE49-F238E27FC236}">
                <a16:creationId xmlns:a16="http://schemas.microsoft.com/office/drawing/2014/main" id="{4043C6CF-ABE3-484B-BD0E-8B20B5A3B264}"/>
              </a:ext>
            </a:extLst>
          </p:cNvPr>
          <p:cNvSpPr>
            <a:spLocks xmlns:a="http://schemas.openxmlformats.org/drawingml/2006/main" noGrp="1"/>
          </p:cNvSpPr>
          <p:nvPr/>
        </p:nvSpPr>
        <p:spPr>
          <a:xfrm xmlns:a="http://schemas.openxmlformats.org/drawingml/2006/main">
            <a:off x="7953375" y="2143125"/>
            <a:ext cx="3667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475" b="1">
                <a:solidFill>
                  <a:srgbClr val="304674"/>
                </a:solidFill>
                <a:latin typeface="Trebuchet MS"/>
                <a:ea typeface="Trebuchet MS"/>
                <a:cs typeface="Trebuchet MS"/>
              </a:defRPr>
            </a:pPr>
            <a:r>
              <a:rPr sz="2475" b="1">
                <a:solidFill>
                  <a:srgbClr val="304674"/>
                </a:solidFill>
                <a:latin typeface="Trebuchet MS"/>
                <a:ea typeface="Trebuchet MS"/>
                <a:cs typeface="Trebuchet MS"/>
              </a:rPr>
              <a:t>A prompt helps begin</a:t>
            </a:r>
          </a:p>
        </p:txBody>
      </p:sp>
      <p:sp>
        <p:nvSpPr>
          <p:cNvPr id="8" name="“I think ___&#10;because ___.&#10;I’m unsure about ___.”">
            <a:extLst xmlns:a="http://schemas.openxmlformats.org/drawingml/2006/main">
              <a:ext uri="{FF2B5EF4-FFF2-40B4-BE49-F238E27FC236}">
                <a16:creationId xmlns:a16="http://schemas.microsoft.com/office/drawing/2014/main" id="{C27BA543-1FCC-4C87-AC3D-0B29600157CE}"/>
              </a:ext>
            </a:extLst>
          </p:cNvPr>
          <p:cNvSpPr>
            <a:spLocks xmlns:a="http://schemas.openxmlformats.org/drawingml/2006/main" noGrp="1"/>
          </p:cNvSpPr>
          <p:nvPr/>
        </p:nvSpPr>
        <p:spPr>
          <a:xfrm xmlns:a="http://schemas.openxmlformats.org/drawingml/2006/main">
            <a:off x="7953375" y="3105150"/>
            <a:ext cx="36671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325" b="0">
                <a:solidFill>
                  <a:srgbClr val="202322"/>
                </a:solidFill>
                <a:latin typeface="Trebuchet MS"/>
                <a:ea typeface="Trebuchet MS"/>
                <a:cs typeface="Trebuchet MS"/>
              </a:defRPr>
            </a:pPr>
            <a:r>
              <a:rPr sz="2325" b="0">
                <a:solidFill>
                  <a:srgbClr val="202322"/>
                </a:solidFill>
                <a:latin typeface="Trebuchet MS"/>
                <a:ea typeface="Trebuchet MS"/>
                <a:cs typeface="Trebuchet MS"/>
              </a:rPr>
              <a:t>“I think ___</a:t>
            </a:r>
          </a:p>
          <a:p xmlns:a="http://schemas.openxmlformats.org/drawingml/2006/main">
            <a:pPr marL="0" indent="0" algn="l">
              <a:lnSpc>
                <a:spcPct val="112000"/>
              </a:lnSpc>
              <a:spcBef>
                <a:spcPts val="0"/>
              </a:spcBef>
              <a:spcAft>
                <a:spcPts val="0"/>
              </a:spcAft>
              <a:buNone/>
              <a:defRPr sz="2325" b="0">
                <a:solidFill>
                  <a:srgbClr val="202322"/>
                </a:solidFill>
                <a:latin typeface="Trebuchet MS"/>
                <a:ea typeface="Trebuchet MS"/>
                <a:cs typeface="Trebuchet MS"/>
              </a:defRPr>
            </a:pPr>
            <a:r>
              <a:rPr sz="2325" b="0">
                <a:solidFill>
                  <a:srgbClr val="202322"/>
                </a:solidFill>
                <a:latin typeface="Trebuchet MS"/>
                <a:ea typeface="Trebuchet MS"/>
                <a:cs typeface="Trebuchet MS"/>
              </a:rPr>
              <a:t>because ___.</a:t>
            </a:r>
          </a:p>
          <a:p xmlns:a="http://schemas.openxmlformats.org/drawingml/2006/main">
            <a:pPr marL="0" indent="0" algn="l">
              <a:lnSpc>
                <a:spcPct val="112000"/>
              </a:lnSpc>
              <a:spcBef>
                <a:spcPts val="0"/>
              </a:spcBef>
              <a:spcAft>
                <a:spcPts val="0"/>
              </a:spcAft>
              <a:buNone/>
              <a:defRPr sz="2325" b="0">
                <a:solidFill>
                  <a:srgbClr val="202322"/>
                </a:solidFill>
                <a:latin typeface="Trebuchet MS"/>
                <a:ea typeface="Trebuchet MS"/>
                <a:cs typeface="Trebuchet MS"/>
              </a:defRPr>
            </a:pPr>
            <a:r>
              <a:rPr sz="2325" b="0">
                <a:solidFill>
                  <a:srgbClr val="202322"/>
                </a:solidFill>
                <a:latin typeface="Trebuchet MS"/>
                <a:ea typeface="Trebuchet MS"/>
                <a:cs typeface="Trebuchet MS"/>
              </a:rPr>
              <a:t>I’m unsure about ___.”</a:t>
            </a:r>
          </a:p>
        </p:txBody>
      </p:sp>
      <p:sp>
        <p:nvSpPr>
          <p:cNvPr id="9" name="The user supplies the words.&#10;A draft can stay unfinished.&#10;Saving">
            <a:extLst xmlns:a="http://schemas.openxmlformats.org/drawingml/2006/main">
              <a:ext uri="{FF2B5EF4-FFF2-40B4-BE49-F238E27FC236}">
                <a16:creationId xmlns:a16="http://schemas.microsoft.com/office/drawing/2014/main" id="{451DB7A1-F006-4D1C-A6C8-4A79C39DFD25}"/>
              </a:ext>
            </a:extLst>
          </p:cNvPr>
          <p:cNvSpPr>
            <a:spLocks xmlns:a="http://schemas.openxmlformats.org/drawingml/2006/main" noGrp="1"/>
          </p:cNvSpPr>
          <p:nvPr/>
        </p:nvSpPr>
        <p:spPr>
          <a:xfrm xmlns:a="http://schemas.openxmlformats.org/drawingml/2006/main">
            <a:off x="7953375" y="4772025"/>
            <a:ext cx="3667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The user supplies the words.</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A draft can stay unfinished.</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Saving does not start a watch.</a:t>
            </a:r>
          </a:p>
        </p:txBody>
      </p:sp>
    </p:spTree>
    <p:extLst>
      <p:ext uri="{BB962C8B-B14F-4D97-AF65-F5344CB8AC3E}">
        <p14:creationId xmlns:p14="http://schemas.microsoft.com/office/powerpoint/2010/main" val="1900078690"/>
      </p:ext>
    </p:extLst>
  </p:cSld>
</p:sld>
</file>

<file path=ppt/slides/slide10.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0" name="A lesson from the return visit">
            <a:extLst xmlns:a="http://schemas.openxmlformats.org/drawingml/2006/main">
              <a:ext uri="{FF2B5EF4-FFF2-40B4-BE49-F238E27FC236}">
                <a16:creationId xmlns:a16="http://schemas.microsoft.com/office/drawing/2014/main" id="{496CD0C5-B070-4326-B111-84826F2F56CE}"/>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 lesson from the return visit</a:t>
            </a:r>
          </a:p>
        </p:txBody>
      </p:sp>
      <p:sp>
        <p:nvSpPr>
          <p:cNvPr id="2" name="An update needs evidence and a clear meaning">
            <a:extLst xmlns:a="http://schemas.openxmlformats.org/drawingml/2006/main">
              <a:ext uri="{FF2B5EF4-FFF2-40B4-BE49-F238E27FC236}">
                <a16:creationId xmlns:a16="http://schemas.microsoft.com/office/drawing/2014/main" id="{33B610DA-CAC9-48E1-A0D0-C81F79DCACA3}"/>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An update needs evidence and a clear meaning</a:t>
            </a:r>
          </a:p>
        </p:txBody>
      </p:sp>
      <p:sp>
        <p:nvSpPr>
          <p:cNvPr id="3" name="Thesis   CP1001   9 October 2026">
            <a:extLst xmlns:a="http://schemas.openxmlformats.org/drawingml/2006/main">
              <a:ext uri="{FF2B5EF4-FFF2-40B4-BE49-F238E27FC236}">
                <a16:creationId xmlns:a16="http://schemas.microsoft.com/office/drawing/2014/main" id="{ACC8CF81-0071-4969-8EFE-226F41895031}"/>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0">
            <a:extLst xmlns:a="http://schemas.openxmlformats.org/drawingml/2006/main">
              <a:ext uri="{FF2B5EF4-FFF2-40B4-BE49-F238E27FC236}">
                <a16:creationId xmlns:a16="http://schemas.microsoft.com/office/drawing/2014/main" id="{015D3A7D-C1B4-416B-A2C2-60E9759687AE}"/>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9616b026ba54b66"/>
          <a:stretch xmlns:a="http://schemas.openxmlformats.org/drawingml/2006/main"/>
        </p:blipFill>
        <p:spPr>
          <a:xfrm xmlns:a="http://schemas.openxmlformats.org/drawingml/2006/main">
            <a:off x="1223282" y="1905000"/>
            <a:ext cx="5878286" cy="4286250"/>
          </a:xfrm>
          <a:prstGeom xmlns:a="http://schemas.openxmlformats.org/drawingml/2006/main" prst="rect">
            <a:avLst/>
          </a:prstGeom>
        </p:spPr>
      </p:pic>
      <p:sp>
        <p:nvSpPr>
          <p:cNvPr id="6" name="What the current view does">
            <a:extLst xmlns:a="http://schemas.openxmlformats.org/drawingml/2006/main">
              <a:ext uri="{FF2B5EF4-FFF2-40B4-BE49-F238E27FC236}">
                <a16:creationId xmlns:a16="http://schemas.microsoft.com/office/drawing/2014/main" id="{2D084D4A-8848-4040-9D33-CACA2EB5A91C}"/>
              </a:ext>
            </a:extLst>
          </p:cNvPr>
          <p:cNvSpPr>
            <a:spLocks xmlns:a="http://schemas.openxmlformats.org/drawingml/2006/main" noGrp="1"/>
          </p:cNvSpPr>
          <p:nvPr/>
        </p:nvSpPr>
        <p:spPr>
          <a:xfrm xmlns:a="http://schemas.openxmlformats.org/drawingml/2006/main">
            <a:off x="8124825" y="2105025"/>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325" b="1">
                <a:solidFill>
                  <a:srgbClr val="304674"/>
                </a:solidFill>
                <a:latin typeface="Trebuchet MS"/>
                <a:ea typeface="Trebuchet MS"/>
                <a:cs typeface="Trebuchet MS"/>
              </a:defRPr>
            </a:pPr>
            <a:r>
              <a:rPr sz="2325" b="1">
                <a:solidFill>
                  <a:srgbClr val="304674"/>
                </a:solidFill>
                <a:latin typeface="Trebuchet MS"/>
                <a:ea typeface="Trebuchet MS"/>
                <a:cs typeface="Trebuchet MS"/>
              </a:rPr>
              <a:t>What the current view does</a:t>
            </a:r>
          </a:p>
        </p:txBody>
      </p:sp>
      <p:sp>
        <p:nvSpPr>
          <p:cNvPr id="7" name="Shows the source and date,&#10;opens the evidence and&#10;keeps coverage">
            <a:extLst xmlns:a="http://schemas.openxmlformats.org/drawingml/2006/main">
              <a:ext uri="{FF2B5EF4-FFF2-40B4-BE49-F238E27FC236}">
                <a16:creationId xmlns:a16="http://schemas.microsoft.com/office/drawing/2014/main" id="{E798B323-04FF-4851-9F0F-900E2F25989A}"/>
              </a:ext>
            </a:extLst>
          </p:cNvPr>
          <p:cNvSpPr>
            <a:spLocks xmlns:a="http://schemas.openxmlformats.org/drawingml/2006/main" noGrp="1"/>
          </p:cNvSpPr>
          <p:nvPr/>
        </p:nvSpPr>
        <p:spPr>
          <a:xfrm xmlns:a="http://schemas.openxmlformats.org/drawingml/2006/main">
            <a:off x="8124825" y="31051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Shows the source and date,</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opens the evidence and</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keeps coverage gaps visible.</a:t>
            </a:r>
          </a:p>
        </p:txBody>
      </p:sp>
      <p:sp>
        <p:nvSpPr>
          <p:cNvPr id="8" name="What still needs work">
            <a:extLst xmlns:a="http://schemas.openxmlformats.org/drawingml/2006/main">
              <a:ext uri="{FF2B5EF4-FFF2-40B4-BE49-F238E27FC236}">
                <a16:creationId xmlns:a16="http://schemas.microsoft.com/office/drawing/2014/main" id="{8F7AF48A-F015-4DC8-8878-060908FFCC1F}"/>
              </a:ext>
            </a:extLst>
          </p:cNvPr>
          <p:cNvSpPr>
            <a:spLocks xmlns:a="http://schemas.openxmlformats.org/drawingml/2006/main" noGrp="1"/>
          </p:cNvSpPr>
          <p:nvPr/>
        </p:nvSpPr>
        <p:spPr>
          <a:xfrm xmlns:a="http://schemas.openxmlformats.org/drawingml/2006/main">
            <a:off x="8124825" y="454342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025" b="1">
                <a:solidFill>
                  <a:srgbClr val="D95520"/>
                </a:solidFill>
                <a:latin typeface="Trebuchet MS"/>
                <a:ea typeface="Trebuchet MS"/>
                <a:cs typeface="Trebuchet MS"/>
              </a:defRPr>
            </a:pPr>
            <a:r>
              <a:rPr sz="2025" b="1">
                <a:solidFill>
                  <a:srgbClr val="D95520"/>
                </a:solidFill>
                <a:latin typeface="Trebuchet MS"/>
                <a:ea typeface="Trebuchet MS"/>
                <a:cs typeface="Trebuchet MS"/>
              </a:rPr>
              <a:t>What still needs work</a:t>
            </a:r>
          </a:p>
        </p:txBody>
      </p:sp>
      <p:sp>
        <p:nvSpPr>
          <p:cNvPr id="9" name="A clearer explanation of how&#10;a change connects to the&#10;user’s sav">
            <a:extLst xmlns:a="http://schemas.openxmlformats.org/drawingml/2006/main">
              <a:ext uri="{FF2B5EF4-FFF2-40B4-BE49-F238E27FC236}">
                <a16:creationId xmlns:a16="http://schemas.microsoft.com/office/drawing/2014/main" id="{F37972BF-1447-471A-9C0E-1B61D19B02F5}"/>
              </a:ext>
            </a:extLst>
          </p:cNvPr>
          <p:cNvSpPr>
            <a:spLocks xmlns:a="http://schemas.openxmlformats.org/drawingml/2006/main" noGrp="1"/>
          </p:cNvSpPr>
          <p:nvPr/>
        </p:nvSpPr>
        <p:spPr>
          <a:xfrm xmlns:a="http://schemas.openxmlformats.org/drawingml/2006/main">
            <a:off x="8124825" y="5029200"/>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A clearer explanation of how</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a change connects to the</a:t>
            </a:r>
          </a:p>
          <a:p xmlns:a="http://schemas.openxmlformats.org/drawingml/2006/main">
            <a:pPr marL="0" indent="0" algn="l">
              <a:lnSpc>
                <a:spcPct val="112000"/>
              </a:lnSpc>
              <a:spcBef>
                <a:spcPts val="0"/>
              </a:spcBef>
              <a:spcAft>
                <a:spcPts val="0"/>
              </a:spcAft>
              <a:buNone/>
              <a:defRPr sz="1950" b="0">
                <a:solidFill>
                  <a:srgbClr val="202322"/>
                </a:solidFill>
                <a:latin typeface="Trebuchet MS"/>
                <a:ea typeface="Trebuchet MS"/>
                <a:cs typeface="Trebuchet MS"/>
              </a:defRPr>
            </a:pPr>
            <a:r>
              <a:rPr sz="1950" b="0">
                <a:solidFill>
                  <a:srgbClr val="202322"/>
                </a:solidFill>
                <a:latin typeface="Trebuchet MS"/>
                <a:ea typeface="Trebuchet MS"/>
                <a:cs typeface="Trebuchet MS"/>
              </a:rPr>
              <a:t>user’s saved reasoning.</a:t>
            </a:r>
          </a:p>
        </p:txBody>
      </p:sp>
    </p:spTree>
    <p:extLst>
      <p:ext uri="{BB962C8B-B14F-4D97-AF65-F5344CB8AC3E}">
        <p14:creationId xmlns:p14="http://schemas.microsoft.com/office/powerpoint/2010/main" val="1116037159"/>
      </p:ext>
    </p:extLst>
  </p:cSld>
</p:sld>
</file>

<file path=ppt/slides/slide11.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7" name="A lesson from execution">
            <a:extLst xmlns:a="http://schemas.openxmlformats.org/drawingml/2006/main">
              <a:ext uri="{FF2B5EF4-FFF2-40B4-BE49-F238E27FC236}">
                <a16:creationId xmlns:a16="http://schemas.microsoft.com/office/drawing/2014/main" id="{71F3E3BC-0C0D-40B0-88BA-6A4D89663E9A}"/>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 lesson from execution</a:t>
            </a:r>
          </a:p>
        </p:txBody>
      </p:sp>
      <p:sp>
        <p:nvSpPr>
          <p:cNvPr id="2" name="A complete AI response can still be wrong">
            <a:extLst xmlns:a="http://schemas.openxmlformats.org/drawingml/2006/main">
              <a:ext uri="{FF2B5EF4-FFF2-40B4-BE49-F238E27FC236}">
                <a16:creationId xmlns:a16="http://schemas.microsoft.com/office/drawing/2014/main" id="{196F456D-155E-4F9B-AB18-E0B0C692C251}"/>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A complete AI response can still be wrong</a:t>
            </a:r>
          </a:p>
        </p:txBody>
      </p:sp>
      <p:sp>
        <p:nvSpPr>
          <p:cNvPr id="3" name="Thesis   CP1001   9 October 2026">
            <a:extLst xmlns:a="http://schemas.openxmlformats.org/drawingml/2006/main">
              <a:ext uri="{FF2B5EF4-FFF2-40B4-BE49-F238E27FC236}">
                <a16:creationId xmlns:a16="http://schemas.microsoft.com/office/drawing/2014/main" id="{0BD10CD6-10E2-41E4-8703-07BB3DD33EC0}"/>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1">
            <a:extLst xmlns:a="http://schemas.openxmlformats.org/drawingml/2006/main">
              <a:ext uri="{FF2B5EF4-FFF2-40B4-BE49-F238E27FC236}">
                <a16:creationId xmlns:a16="http://schemas.microsoft.com/office/drawing/2014/main" id="{6BA5751E-D729-4030-AF9E-9FB0B68E8B3D}"/>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11</a:t>
            </a:r>
          </a:p>
        </p:txBody>
      </p:sp>
      <p:graphicFrame>
        <p:nvGraphicFramePr>
          <p:cNvPr id="11" name=""/>
          <p:cNvGraphicFramePr/>
          <p:nvPr/>
        </p:nvGraphicFramePr>
        <p:xfrm>
          <a:off xmlns:a="http://schemas.openxmlformats.org/drawingml/2006/main" x="571500" y="2095500"/>
          <a:ext xmlns:a="http://schemas.openxmlformats.org/drawingml/2006/main" cx="11049000" cy="3686175"/>
        </p:xfrm>
        <a:graphic xmlns:a="http://schemas.openxmlformats.org/drawingml/2006/main">
          <a:graphicData uri="http://schemas.openxmlformats.org/drawingml/2006/table">
            <a:tbl>
              <a:tblPr firstRow="1" bandRow="0" bandCol="0"/>
              <a:tblGrid>
                <a:gridCol w="5524500"/>
                <a:gridCol w="5524500"/>
              </a:tblGrid>
              <a:tr h="552450">
                <a:tc>
                  <a:txBody>
                    <a:bodyPr lIns="152400" tIns="95250" rIns="152400" bIns="95250">
                      <a:noAutofit/>
                    </a:bodyPr>
                    <a:lstStyle/>
                    <a:p>
                      <a:r>
                        <a:rPr sz="1950" b="1">
                          <a:solidFill>
                            <a:srgbClr val="FFFFFF"/>
                          </a:solidFill>
                          <a:latin typeface="Trebuchet MS"/>
                          <a:ea typeface="Trebuchet MS"/>
                          <a:cs typeface="Trebuchet MS"/>
                        </a:rPr>
                        <a:t>What happened</a:t>
                      </a:r>
                    </a:p>
                  </a:txBody>
                  <a:tcPr marL="91440" marR="91440" marT="45720" marB="45720" anchor="ctr">
                    <a:solidFill>
                      <a:srgbClr val="304674"/>
                    </a:solidFill>
                  </a:tcPr>
                </a:tc>
                <a:tc>
                  <a:txBody>
                    <a:bodyPr lIns="152400" tIns="95250" rIns="152400" bIns="95250">
                      <a:noAutofit/>
                    </a:bodyPr>
                    <a:lstStyle/>
                    <a:p>
                      <a:r>
                        <a:rPr sz="1950" b="1">
                          <a:solidFill>
                            <a:srgbClr val="FFFFFF"/>
                          </a:solidFill>
                          <a:latin typeface="Trebuchet MS"/>
                          <a:ea typeface="Trebuchet MS"/>
                          <a:cs typeface="Trebuchet MS"/>
                        </a:rPr>
                        <a:t>What changed</a:t>
                      </a:r>
                    </a:p>
                  </a:txBody>
                  <a:tcPr marL="91440" marR="91440" marT="45720" marB="45720" anchor="ctr">
                    <a:solidFill>
                      <a:srgbClr val="304674"/>
                    </a:solidFill>
                  </a:tcPr>
                </a:tc>
              </a:tr>
              <a:tr h="1095375">
                <a:tc>
                  <a:txBody>
                    <a:bodyPr lIns="152400" tIns="95250" rIns="152400" bIns="95250">
                      <a:noAutofit/>
                    </a:bodyPr>
                    <a:lstStyle/>
                    <a:p>
                      <a:r>
                        <a:rPr sz="1950" b="0">
                          <a:solidFill>
                            <a:srgbClr val="202322"/>
                          </a:solidFill>
                          <a:latin typeface="Trebuchet MS"/>
                          <a:ea typeface="Trebuchet MS"/>
                          <a:cs typeface="Trebuchet MS"/>
                        </a:rPr>
                        <a:t>A batch labelled news unrelated, then linked</a:t>
                      </a:r>
                    </a:p>
                    <a:p>
                      <a:r>
                        <a:rPr sz="1950" b="0">
                          <a:solidFill>
                            <a:srgbClr val="202322"/>
                          </a:solidFill>
                          <a:latin typeface="Trebuchet MS"/>
                          <a:ea typeface="Trebuchet MS"/>
                          <a:cs typeface="Trebuchet MS"/>
                        </a:rPr>
                        <a:t>it as coverage of the target company.</a:t>
                      </a:r>
                    </a:p>
                  </a:txBody>
                  <a:tcPr marL="91440" marR="91440" marT="45720" marB="45720" anchor="ctr">
                    <a:solidFill>
                      <a:srgbClr val="FFFFFF"/>
                    </a:solidFill>
                  </a:tcPr>
                </a:tc>
                <a:tc>
                  <a:txBody>
                    <a:bodyPr lIns="152400" tIns="95250" rIns="152400" bIns="95250">
                      <a:noAutofit/>
                    </a:bodyPr>
                    <a:lstStyle/>
                    <a:p>
                      <a:r>
                        <a:rPr sz="1950" b="0">
                          <a:solidFill>
                            <a:srgbClr val="202322"/>
                          </a:solidFill>
                          <a:latin typeface="Trebuchet MS"/>
                          <a:ea typeface="Trebuchet MS"/>
                          <a:cs typeface="Trebuchet MS"/>
                        </a:rPr>
                        <a:t>The existing check rejected the result.</a:t>
                      </a:r>
                    </a:p>
                    <a:p>
                      <a:r>
                        <a:rPr sz="1950" b="0">
                          <a:solidFill>
                            <a:srgbClr val="202322"/>
                          </a:solidFill>
                          <a:latin typeface="Trebuchet MS"/>
                          <a:ea typeface="Trebuchet MS"/>
                          <a:cs typeface="Trebuchet MS"/>
                        </a:rPr>
                        <a:t>The combined reading stayed unpublished.</a:t>
                      </a:r>
                    </a:p>
                  </a:txBody>
                  <a:tcPr marL="91440" marR="91440" marT="45720" marB="45720" anchor="ctr">
                    <a:solidFill>
                      <a:srgbClr val="FFFFFF"/>
                    </a:solidFill>
                  </a:tcPr>
                </a:tc>
              </a:tr>
              <a:tr h="1009650">
                <a:tc>
                  <a:txBody>
                    <a:bodyPr lIns="152400" tIns="95250" rIns="152400" bIns="95250">
                      <a:noAutofit/>
                    </a:bodyPr>
                    <a:lstStyle/>
                    <a:p>
                      <a:r>
                        <a:rPr sz="1950" b="0">
                          <a:solidFill>
                            <a:srgbClr val="202322"/>
                          </a:solidFill>
                          <a:latin typeface="Trebuchet MS"/>
                          <a:ea typeface="Trebuchet MS"/>
                          <a:cs typeface="Trebuchet MS"/>
                        </a:rPr>
                        <a:t>The prompt left that relationship unclear.</a:t>
                      </a:r>
                    </a:p>
                  </a:txBody>
                  <a:tcPr marL="91440" marR="91440" marT="45720" marB="45720" anchor="ctr">
                    <a:solidFill>
                      <a:srgbClr val="E8EBE8"/>
                    </a:solidFill>
                  </a:tcPr>
                </a:tc>
                <a:tc>
                  <a:txBody>
                    <a:bodyPr lIns="152400" tIns="95250" rIns="152400" bIns="95250">
                      <a:noAutofit/>
                    </a:bodyPr>
                    <a:lstStyle/>
                    <a:p>
                      <a:r>
                        <a:rPr sz="1950" b="0">
                          <a:solidFill>
                            <a:srgbClr val="202322"/>
                          </a:solidFill>
                          <a:latin typeface="Trebuchet MS"/>
                          <a:ea typeface="Trebuchet MS"/>
                          <a:cs typeface="Trebuchet MS"/>
                        </a:rPr>
                        <a:t>The revised instruction required relevant</a:t>
                      </a:r>
                    </a:p>
                    <a:p>
                      <a:r>
                        <a:rPr sz="1950" b="0">
                          <a:solidFill>
                            <a:srgbClr val="202322"/>
                          </a:solidFill>
                          <a:latin typeface="Trebuchet MS"/>
                          <a:ea typeface="Trebuchet MS"/>
                          <a:cs typeface="Trebuchet MS"/>
                        </a:rPr>
                        <a:t>sources before creating coverage links.</a:t>
                      </a:r>
                    </a:p>
                  </a:txBody>
                  <a:tcPr marL="91440" marR="91440" marT="45720" marB="45720" anchor="ctr">
                    <a:solidFill>
                      <a:srgbClr val="E8EBE8"/>
                    </a:solidFill>
                  </a:tcPr>
                </a:tc>
              </a:tr>
              <a:tr h="1028700">
                <a:tc>
                  <a:txBody>
                    <a:bodyPr lIns="152400" tIns="95250" rIns="152400" bIns="95250">
                      <a:noAutofit/>
                    </a:bodyPr>
                    <a:lstStyle/>
                    <a:p>
                      <a:r>
                        <a:rPr sz="1950" b="0">
                          <a:solidFill>
                            <a:srgbClr val="202322"/>
                          </a:solidFill>
                          <a:latin typeface="Trebuchet MS"/>
                          <a:ea typeface="Trebuchet MS"/>
                          <a:cs typeface="Trebuchet MS"/>
                        </a:rPr>
                        <a:t>The corrected saved sample completed.</a:t>
                      </a:r>
                    </a:p>
                  </a:txBody>
                  <a:tcPr marL="91440" marR="91440" marT="45720" marB="45720" anchor="ctr">
                    <a:solidFill>
                      <a:srgbClr val="FFFFFF"/>
                    </a:solidFill>
                  </a:tcPr>
                </a:tc>
                <a:tc>
                  <a:txBody>
                    <a:bodyPr lIns="152400" tIns="95250" rIns="152400" bIns="95250">
                      <a:noAutofit/>
                    </a:bodyPr>
                    <a:lstStyle/>
                    <a:p>
                      <a:r>
                        <a:rPr sz="1950" b="0">
                          <a:solidFill>
                            <a:srgbClr val="202322"/>
                          </a:solidFill>
                          <a:latin typeface="Trebuchet MS"/>
                          <a:ea typeface="Trebuchet MS"/>
                          <a:cs typeface="Trebuchet MS"/>
                        </a:rPr>
                        <a:t>120 originals across 15 batches passed</a:t>
                      </a:r>
                    </a:p>
                    <a:p>
                      <a:r>
                        <a:rPr sz="1950" b="0">
                          <a:solidFill>
                            <a:srgbClr val="202322"/>
                          </a:solidFill>
                          <a:latin typeface="Trebuchet MS"/>
                          <a:ea typeface="Trebuchet MS"/>
                          <a:cs typeface="Trebuchet MS"/>
                        </a:rPr>
                        <a:t>the format, evidence and merge checks.</a:t>
                      </a:r>
                    </a:p>
                  </a:txBody>
                  <a:tcPr marL="91440" marR="91440" marT="45720" marB="45720" anchor="ctr">
                    <a:solidFill>
                      <a:srgbClr val="FFFFFF"/>
                    </a:solidFill>
                  </a:tcPr>
                </a:tc>
              </a:tr>
            </a:tbl>
          </a:graphicData>
        </a:graphic>
      </p:graphicFrame>
      <p:sp>
        <p:nvSpPr>
          <p:cNvPr id="6" name="Lesson: completion and source checks are useful evidence. Indepe">
            <a:extLst xmlns:a="http://schemas.openxmlformats.org/drawingml/2006/main">
              <a:ext uri="{FF2B5EF4-FFF2-40B4-BE49-F238E27FC236}">
                <a16:creationId xmlns:a16="http://schemas.microsoft.com/office/drawing/2014/main" id="{EDF74868-9BFA-4398-BAB0-34D57F21FADF}"/>
              </a:ext>
            </a:extLst>
          </p:cNvPr>
          <p:cNvSpPr>
            <a:spLocks xmlns:a="http://schemas.openxmlformats.org/drawingml/2006/main" noGrp="1"/>
          </p:cNvSpPr>
          <p:nvPr/>
        </p:nvSpPr>
        <p:spPr>
          <a:xfrm xmlns:a="http://schemas.openxmlformats.org/drawingml/2006/main">
            <a:off x="571500" y="59531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Lesson: completion and source checks are useful evidence. Independent accuracy still needs evaluation.</a:t>
            </a:r>
          </a:p>
        </p:txBody>
      </p:sp>
    </p:spTree>
    <p:extLst>
      <p:ext uri="{BB962C8B-B14F-4D97-AF65-F5344CB8AC3E}">
        <p14:creationId xmlns:p14="http://schemas.microsoft.com/office/powerpoint/2010/main" val="1782150067"/>
      </p:ext>
    </p:extLst>
  </p:cSld>
</p:sld>
</file>

<file path=ppt/slides/slide12.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7" name="Progress at 9 October">
            <a:extLst xmlns:a="http://schemas.openxmlformats.org/drawingml/2006/main">
              <a:ext uri="{FF2B5EF4-FFF2-40B4-BE49-F238E27FC236}">
                <a16:creationId xmlns:a16="http://schemas.microsoft.com/office/drawing/2014/main" id="{9FBA015A-AEE6-43C9-891C-914D2EAF9ADB}"/>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Progress at 9 October</a:t>
            </a:r>
          </a:p>
        </p:txBody>
      </p:sp>
      <p:sp>
        <p:nvSpPr>
          <p:cNvPr id="2" name="Current build and proposed improvements">
            <a:extLst xmlns:a="http://schemas.openxmlformats.org/drawingml/2006/main">
              <a:ext uri="{FF2B5EF4-FFF2-40B4-BE49-F238E27FC236}">
                <a16:creationId xmlns:a16="http://schemas.microsoft.com/office/drawing/2014/main" id="{BE0D2DC2-22A2-410C-8422-8DAAE2F0AA61}"/>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Current build and proposed improvements</a:t>
            </a:r>
          </a:p>
        </p:txBody>
      </p:sp>
      <p:sp>
        <p:nvSpPr>
          <p:cNvPr id="3" name="Thesis   CP1001   9 October 2026">
            <a:extLst xmlns:a="http://schemas.openxmlformats.org/drawingml/2006/main">
              <a:ext uri="{FF2B5EF4-FFF2-40B4-BE49-F238E27FC236}">
                <a16:creationId xmlns:a16="http://schemas.microsoft.com/office/drawing/2014/main" id="{61EB0944-1D9D-4F88-8863-1A93A3AB0D87}"/>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2">
            <a:extLst xmlns:a="http://schemas.openxmlformats.org/drawingml/2006/main">
              <a:ext uri="{FF2B5EF4-FFF2-40B4-BE49-F238E27FC236}">
                <a16:creationId xmlns:a16="http://schemas.microsoft.com/office/drawing/2014/main" id="{168676C2-7D6E-409B-892D-8F6780515B5E}"/>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12</a:t>
            </a:r>
          </a:p>
        </p:txBody>
      </p:sp>
      <p:graphicFrame>
        <p:nvGraphicFramePr>
          <p:cNvPr id="11" name=""/>
          <p:cNvGraphicFramePr/>
          <p:nvPr/>
        </p:nvGraphicFramePr>
        <p:xfrm>
          <a:off xmlns:a="http://schemas.openxmlformats.org/drawingml/2006/main" x="571500" y="2000250"/>
          <a:ext xmlns:a="http://schemas.openxmlformats.org/drawingml/2006/main" cx="11049000" cy="3743325"/>
        </p:xfrm>
        <a:graphic xmlns:a="http://schemas.openxmlformats.org/drawingml/2006/main">
          <a:graphicData uri="http://schemas.openxmlformats.org/drawingml/2006/table">
            <a:tbl>
              <a:tblPr firstRow="1" bandRow="0" bandCol="0"/>
              <a:tblGrid>
                <a:gridCol w="5762625"/>
                <a:gridCol w="5286375"/>
              </a:tblGrid>
              <a:tr h="561975">
                <a:tc>
                  <a:txBody>
                    <a:bodyPr lIns="152400" tIns="95250" rIns="152400" bIns="95250">
                      <a:noAutofit/>
                    </a:bodyPr>
                    <a:lstStyle/>
                    <a:p>
                      <a:r>
                        <a:rPr sz="1875" b="1">
                          <a:solidFill>
                            <a:srgbClr val="FFFFFF"/>
                          </a:solidFill>
                          <a:latin typeface="Trebuchet MS"/>
                          <a:ea typeface="Trebuchet MS"/>
                          <a:cs typeface="Trebuchet MS"/>
                        </a:rPr>
                        <a:t>Available in the local prototype</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Still proposed</a:t>
                      </a:r>
                    </a:p>
                  </a:txBody>
                  <a:tcPr marL="91440" marR="91440" marT="45720" marB="45720" anchor="ctr">
                    <a:solidFill>
                      <a:srgbClr val="304674"/>
                    </a:solidFill>
                  </a:tcPr>
                </a:tc>
              </a:tr>
              <a:tr h="809625">
                <a:tc>
                  <a:txBody>
                    <a:bodyPr lIns="152400" tIns="95250" rIns="152400" bIns="95250">
                      <a:noAutofit/>
                    </a:bodyPr>
                    <a:lstStyle/>
                    <a:p>
                      <a:r>
                        <a:rPr sz="1875" b="0">
                          <a:solidFill>
                            <a:srgbClr val="202322"/>
                          </a:solidFill>
                          <a:latin typeface="Trebuchet MS"/>
                          <a:ea typeface="Trebuchet MS"/>
                          <a:cs typeface="Trebuchet MS"/>
                        </a:rPr>
                        <a:t>Company research and original evidence</a:t>
                      </a:r>
                    </a:p>
                    <a:p>
                      <a:r>
                        <a:rPr sz="1875" b="0">
                          <a:solidFill>
                            <a:srgbClr val="202322"/>
                          </a:solidFill>
                          <a:latin typeface="Trebuchet MS"/>
                          <a:ea typeface="Trebuchet MS"/>
                          <a:cs typeface="Trebuchet MS"/>
                        </a:rPr>
                        <a:t>Starter questions and term explanations</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Turning a worry into a reviewable condition</a:t>
                      </a:r>
                    </a:p>
                  </a:txBody>
                  <a:tcPr marL="91440" marR="91440" marT="45720" marB="45720" anchor="ctr">
                    <a:solidFill>
                      <a:srgbClr val="FFFFFF"/>
                    </a:solidFill>
                  </a:tcPr>
                </a:tc>
              </a:tr>
              <a:tr h="809625">
                <a:tc>
                  <a:txBody>
                    <a:bodyPr lIns="152400" tIns="95250" rIns="152400" bIns="95250">
                      <a:noAutofit/>
                    </a:bodyPr>
                    <a:lstStyle/>
                    <a:p>
                      <a:r>
                        <a:rPr sz="1875" b="0">
                          <a:solidFill>
                            <a:srgbClr val="202322"/>
                          </a:solidFill>
                          <a:latin typeface="Trebuchet MS"/>
                          <a:ea typeface="Trebuchet MS"/>
                          <a:cs typeface="Trebuchet MS"/>
                        </a:rPr>
                        <a:t>Reasoning drafts, conditions and revisions</a:t>
                      </a:r>
                    </a:p>
                    <a:p>
                      <a:r>
                        <a:rPr sz="1875" b="0">
                          <a:solidFill>
                            <a:srgbClr val="202322"/>
                          </a:solidFill>
                          <a:latin typeface="Trebuchet MS"/>
                          <a:ea typeface="Trebuchet MS"/>
                          <a:cs typeface="Trebuchet MS"/>
                        </a:rPr>
                        <a:t>Optional watches and check history</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Clearer wording for private alerts</a:t>
                      </a:r>
                    </a:p>
                    <a:p>
                      <a:r>
                        <a:rPr sz="1875" b="0">
                          <a:solidFill>
                            <a:srgbClr val="202322"/>
                          </a:solidFill>
                          <a:latin typeface="Trebuchet MS"/>
                          <a:ea typeface="Trebuchet MS"/>
                          <a:cs typeface="Trebuchet MS"/>
                        </a:rPr>
                        <a:t>and weekly reviews</a:t>
                      </a:r>
                    </a:p>
                  </a:txBody>
                  <a:tcPr marL="91440" marR="91440" marT="45720" marB="45720" anchor="ctr">
                    <a:solidFill>
                      <a:srgbClr val="E8EBE8"/>
                    </a:solidFill>
                  </a:tcPr>
                </a:tc>
              </a:tr>
              <a:tr h="809625">
                <a:tc>
                  <a:txBody>
                    <a:bodyPr lIns="152400" tIns="95250" rIns="152400" bIns="95250">
                      <a:noAutofit/>
                    </a:bodyPr>
                    <a:lstStyle/>
                    <a:p>
                      <a:r>
                        <a:rPr sz="1875" b="0">
                          <a:solidFill>
                            <a:srgbClr val="202322"/>
                          </a:solidFill>
                          <a:latin typeface="Trebuchet MS"/>
                          <a:ea typeface="Trebuchet MS"/>
                          <a:cs typeface="Trebuchet MS"/>
                        </a:rPr>
                        <a:t>Updates, review acknowledgement</a:t>
                      </a:r>
                    </a:p>
                    <a:p>
                      <a:r>
                        <a:rPr sz="1875" b="0">
                          <a:solidFill>
                            <a:srgbClr val="202322"/>
                          </a:solidFill>
                          <a:latin typeface="Trebuchet MS"/>
                          <a:ea typeface="Trebuchet MS"/>
                          <a:cs typeface="Trebuchet MS"/>
                        </a:rPr>
                        <a:t>Evidence comparisons and saved history</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Decision notes and a connected look-back view</a:t>
                      </a:r>
                    </a:p>
                  </a:txBody>
                  <a:tcPr marL="91440" marR="91440" marT="45720" marB="45720" anchor="ctr">
                    <a:solidFill>
                      <a:srgbClr val="FFFFFF"/>
                    </a:solidFill>
                  </a:tcPr>
                </a:tc>
              </a:tr>
              <a:tr h="752475">
                <a:tc>
                  <a:txBody>
                    <a:bodyPr lIns="152400" tIns="95250" rIns="152400" bIns="95250">
                      <a:noAutofit/>
                    </a:bodyPr>
                    <a:lstStyle/>
                    <a:p>
                      <a:r>
                        <a:rPr sz="1875" b="0">
                          <a:solidFill>
                            <a:srgbClr val="202322"/>
                          </a:solidFill>
                          <a:latin typeface="Trebuchet MS"/>
                          <a:ea typeface="Trebuchet MS"/>
                          <a:cs typeface="Trebuchet MS"/>
                        </a:rPr>
                        <a:t>A research-only stopping point</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Practice with a dated case and later reveal</a:t>
                      </a:r>
                    </a:p>
                  </a:txBody>
                  <a:tcPr marL="91440" marR="91440" marT="45720" marB="45720" anchor="ctr">
                    <a:solidFill>
                      <a:srgbClr val="E8EBE8"/>
                    </a:solidFill>
                  </a:tcPr>
                </a:tc>
              </a:tr>
            </a:tbl>
          </a:graphicData>
        </a:graphic>
      </p:graphicFrame>
      <p:sp>
        <p:nvSpPr>
          <p:cNvPr id="6" name="Starter questions and term explanations have moved beyond the or">
            <a:extLst xmlns:a="http://schemas.openxmlformats.org/drawingml/2006/main">
              <a:ext uri="{FF2B5EF4-FFF2-40B4-BE49-F238E27FC236}">
                <a16:creationId xmlns:a16="http://schemas.microsoft.com/office/drawing/2014/main" id="{391204F6-4C5B-42F8-A79F-7ED543CFFB22}"/>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Starter questions and term explanations have moved beyond the original planning map.</a:t>
            </a:r>
          </a:p>
        </p:txBody>
      </p:sp>
    </p:spTree>
    <p:extLst>
      <p:ext uri="{BB962C8B-B14F-4D97-AF65-F5344CB8AC3E}">
        <p14:creationId xmlns:p14="http://schemas.microsoft.com/office/powerpoint/2010/main" val="350842488"/>
      </p:ext>
    </p:extLst>
  </p:cSld>
</p:sld>
</file>

<file path=ppt/slides/slide13.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7" name="What we have learned so far">
            <a:extLst xmlns:a="http://schemas.openxmlformats.org/drawingml/2006/main">
              <a:ext uri="{FF2B5EF4-FFF2-40B4-BE49-F238E27FC236}">
                <a16:creationId xmlns:a16="http://schemas.microsoft.com/office/drawing/2014/main" id="{9953F52C-E961-4746-A43B-64C14D78EF4F}"/>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What we have learned so far</a:t>
            </a:r>
          </a:p>
        </p:txBody>
      </p:sp>
      <p:sp>
        <p:nvSpPr>
          <p:cNvPr id="2" name="The product needs to explain the next step">
            <a:extLst xmlns:a="http://schemas.openxmlformats.org/drawingml/2006/main">
              <a:ext uri="{FF2B5EF4-FFF2-40B4-BE49-F238E27FC236}">
                <a16:creationId xmlns:a16="http://schemas.microsoft.com/office/drawing/2014/main" id="{E4842B66-C7A8-4FF1-9498-05AB22859A7D}"/>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The product needs to explain the next step</a:t>
            </a:r>
          </a:p>
        </p:txBody>
      </p:sp>
      <p:sp>
        <p:nvSpPr>
          <p:cNvPr id="3" name="Thesis   CP1001   9 October 2026">
            <a:extLst xmlns:a="http://schemas.openxmlformats.org/drawingml/2006/main">
              <a:ext uri="{FF2B5EF4-FFF2-40B4-BE49-F238E27FC236}">
                <a16:creationId xmlns:a16="http://schemas.microsoft.com/office/drawing/2014/main" id="{5ED1D1D4-0EAA-45D9-A015-CDC83A6C1F4B}"/>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3">
            <a:extLst xmlns:a="http://schemas.openxmlformats.org/drawingml/2006/main">
              <a:ext uri="{FF2B5EF4-FFF2-40B4-BE49-F238E27FC236}">
                <a16:creationId xmlns:a16="http://schemas.microsoft.com/office/drawing/2014/main" id="{00AA5A42-14D4-4B87-B674-94C315F8A8A6}"/>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13</a:t>
            </a:r>
          </a:p>
        </p:txBody>
      </p:sp>
      <p:graphicFrame>
        <p:nvGraphicFramePr>
          <p:cNvPr id="11" name=""/>
          <p:cNvGraphicFramePr/>
          <p:nvPr/>
        </p:nvGraphicFramePr>
        <p:xfrm>
          <a:off xmlns:a="http://schemas.openxmlformats.org/drawingml/2006/main" x="571500" y="1809750"/>
          <a:ext xmlns:a="http://schemas.openxmlformats.org/drawingml/2006/main" cx="11049000" cy="3752850"/>
        </p:xfrm>
        <a:graphic xmlns:a="http://schemas.openxmlformats.org/drawingml/2006/main">
          <a:graphicData uri="http://schemas.openxmlformats.org/drawingml/2006/table">
            <a:tbl>
              <a:tblPr firstRow="1" bandRow="0" bandCol="0"/>
              <a:tblGrid>
                <a:gridCol w="5505450"/>
                <a:gridCol w="5543550"/>
              </a:tblGrid>
              <a:tr h="552450">
                <a:tc>
                  <a:txBody>
                    <a:bodyPr lIns="152400" tIns="95250" rIns="152400" bIns="95250">
                      <a:noAutofit/>
                    </a:bodyPr>
                    <a:lstStyle/>
                    <a:p>
                      <a:r>
                        <a:rPr sz="1875" b="1">
                          <a:solidFill>
                            <a:srgbClr val="FFFFFF"/>
                          </a:solidFill>
                          <a:latin typeface="Trebuchet MS"/>
                          <a:ea typeface="Trebuchet MS"/>
                          <a:cs typeface="Trebuchet MS"/>
                        </a:rPr>
                        <a:t>Evidence from development</a:t>
                      </a:r>
                    </a:p>
                  </a:txBody>
                  <a:tcPr marL="91440" marR="91440" marT="45720" marB="45720" anchor="ctr">
                    <a:solidFill>
                      <a:srgbClr val="304674"/>
                    </a:solidFill>
                  </a:tcPr>
                </a:tc>
                <a:tc>
                  <a:txBody>
                    <a:bodyPr lIns="152400" tIns="95250" rIns="152400" bIns="95250">
                      <a:noAutofit/>
                    </a:bodyPr>
                    <a:lstStyle/>
                    <a:p>
                      <a:r>
                        <a:rPr sz="1875" b="1">
                          <a:solidFill>
                            <a:srgbClr val="FFFFFF"/>
                          </a:solidFill>
                          <a:latin typeface="Trebuchet MS"/>
                          <a:ea typeface="Trebuchet MS"/>
                          <a:cs typeface="Trebuchet MS"/>
                        </a:rPr>
                        <a:t>Lesson for the product</a:t>
                      </a:r>
                    </a:p>
                  </a:txBody>
                  <a:tcPr marL="91440" marR="91440" marT="45720" marB="45720" anchor="ctr">
                    <a:solidFill>
                      <a:srgbClr val="304674"/>
                    </a:solidFill>
                  </a:tcPr>
                </a:tc>
              </a:tr>
              <a:tr h="800100">
                <a:tc>
                  <a:txBody>
                    <a:bodyPr lIns="152400" tIns="95250" rIns="152400" bIns="95250">
                      <a:noAutofit/>
                    </a:bodyPr>
                    <a:lstStyle/>
                    <a:p>
                      <a:r>
                        <a:rPr sz="1875" b="0">
                          <a:solidFill>
                            <a:srgbClr val="202322"/>
                          </a:solidFill>
                          <a:latin typeface="Trebuchet MS"/>
                          <a:ea typeface="Trebuchet MS"/>
                          <a:cs typeface="Trebuchet MS"/>
                        </a:rPr>
                        <a:t>The journey exposed an unclear starting point.</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A small question can orient a beginner</a:t>
                      </a:r>
                    </a:p>
                    <a:p>
                      <a:r>
                        <a:rPr sz="1875" b="0">
                          <a:solidFill>
                            <a:srgbClr val="202322"/>
                          </a:solidFill>
                          <a:latin typeface="Trebuchet MS"/>
                          <a:ea typeface="Trebuchet MS"/>
                          <a:cs typeface="Trebuchet MS"/>
                        </a:rPr>
                        <a:t>inside a large research workspace.</a:t>
                      </a:r>
                    </a:p>
                  </a:txBody>
                  <a:tcPr marL="91440" marR="91440" marT="45720" marB="45720" anchor="ctr">
                    <a:solidFill>
                      <a:srgbClr val="FFFFFF"/>
                    </a:solidFill>
                  </a:tcPr>
                </a:tc>
              </a:tr>
              <a:tr h="800100">
                <a:tc>
                  <a:txBody>
                    <a:bodyPr lIns="152400" tIns="95250" rIns="152400" bIns="95250">
                      <a:noAutofit/>
                    </a:bodyPr>
                    <a:lstStyle/>
                    <a:p>
                      <a:r>
                        <a:rPr sz="1875" b="0">
                          <a:solidFill>
                            <a:srgbClr val="202322"/>
                          </a:solidFill>
                          <a:latin typeface="Trebuchet MS"/>
                          <a:ea typeface="Trebuchet MS"/>
                          <a:cs typeface="Trebuchet MS"/>
                        </a:rPr>
                        <a:t>Annual and trailing growth looked inconsistent.</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A figure needs its definition and date window</a:t>
                      </a:r>
                    </a:p>
                    <a:p>
                      <a:r>
                        <a:rPr sz="1875" b="0">
                          <a:solidFill>
                            <a:srgbClr val="202322"/>
                          </a:solidFill>
                          <a:latin typeface="Trebuchet MS"/>
                          <a:ea typeface="Trebuchet MS"/>
                          <a:cs typeface="Trebuchet MS"/>
                        </a:rPr>
                        <a:t>where the user reads it.</a:t>
                      </a:r>
                    </a:p>
                  </a:txBody>
                  <a:tcPr marL="91440" marR="91440" marT="45720" marB="45720" anchor="ctr">
                    <a:solidFill>
                      <a:srgbClr val="E8EBE8"/>
                    </a:solidFill>
                  </a:tcPr>
                </a:tc>
              </a:tr>
              <a:tr h="800100">
                <a:tc>
                  <a:txBody>
                    <a:bodyPr lIns="152400" tIns="95250" rIns="152400" bIns="95250">
                      <a:noAutofit/>
                    </a:bodyPr>
                    <a:lstStyle/>
                    <a:p>
                      <a:r>
                        <a:rPr sz="1875" b="0">
                          <a:solidFill>
                            <a:srgbClr val="202322"/>
                          </a:solidFill>
                          <a:latin typeface="Trebuchet MS"/>
                          <a:ea typeface="Trebuchet MS"/>
                          <a:cs typeface="Trebuchet MS"/>
                        </a:rPr>
                        <a:t>Saved reasoning and watch controls are separate.</a:t>
                      </a:r>
                    </a:p>
                  </a:txBody>
                  <a:tcPr marL="91440" marR="91440" marT="45720" marB="45720" anchor="ctr">
                    <a:solidFill>
                      <a:srgbClr val="FFFFFF"/>
                    </a:solidFill>
                  </a:tcPr>
                </a:tc>
                <a:tc>
                  <a:txBody>
                    <a:bodyPr lIns="152400" tIns="95250" rIns="152400" bIns="95250">
                      <a:noAutofit/>
                    </a:bodyPr>
                    <a:lstStyle/>
                    <a:p>
                      <a:r>
                        <a:rPr sz="1875" b="0">
                          <a:solidFill>
                            <a:srgbClr val="202322"/>
                          </a:solidFill>
                          <a:latin typeface="Trebuchet MS"/>
                          <a:ea typeface="Trebuchet MS"/>
                          <a:cs typeface="Trebuchet MS"/>
                        </a:rPr>
                        <a:t>The interface must make the user’s choice</a:t>
                      </a:r>
                    </a:p>
                    <a:p>
                      <a:r>
                        <a:rPr sz="1875" b="0">
                          <a:solidFill>
                            <a:srgbClr val="202322"/>
                          </a:solidFill>
                          <a:latin typeface="Trebuchet MS"/>
                          <a:ea typeface="Trebuchet MS"/>
                          <a:cs typeface="Trebuchet MS"/>
                        </a:rPr>
                        <a:t>to draft, follow or stop clear.</a:t>
                      </a:r>
                    </a:p>
                  </a:txBody>
                  <a:tcPr marL="91440" marR="91440" marT="45720" marB="45720" anchor="ctr">
                    <a:solidFill>
                      <a:srgbClr val="FFFFFF"/>
                    </a:solidFill>
                  </a:tcPr>
                </a:tc>
              </a:tr>
              <a:tr h="800100">
                <a:tc>
                  <a:txBody>
                    <a:bodyPr lIns="152400" tIns="95250" rIns="152400" bIns="95250">
                      <a:noAutofit/>
                    </a:bodyPr>
                    <a:lstStyle/>
                    <a:p>
                      <a:r>
                        <a:rPr sz="1875" b="0">
                          <a:solidFill>
                            <a:srgbClr val="202322"/>
                          </a:solidFill>
                          <a:latin typeface="Trebuchet MS"/>
                          <a:ea typeface="Trebuchet MS"/>
                          <a:cs typeface="Trebuchet MS"/>
                        </a:rPr>
                        <a:t>The AI returned a complete but invalid result.</a:t>
                      </a:r>
                    </a:p>
                  </a:txBody>
                  <a:tcPr marL="91440" marR="91440" marT="45720" marB="45720" anchor="ctr">
                    <a:solidFill>
                      <a:srgbClr val="E8EBE8"/>
                    </a:solidFill>
                  </a:tcPr>
                </a:tc>
                <a:tc>
                  <a:txBody>
                    <a:bodyPr lIns="152400" tIns="95250" rIns="152400" bIns="95250">
                      <a:noAutofit/>
                    </a:bodyPr>
                    <a:lstStyle/>
                    <a:p>
                      <a:r>
                        <a:rPr sz="1875" b="0">
                          <a:solidFill>
                            <a:srgbClr val="202322"/>
                          </a:solidFill>
                          <a:latin typeface="Trebuchet MS"/>
                          <a:ea typeface="Trebuchet MS"/>
                          <a:cs typeface="Trebuchet MS"/>
                        </a:rPr>
                        <a:t>Failure checks and preserved evidence</a:t>
                      </a:r>
                    </a:p>
                    <a:p>
                      <a:r>
                        <a:rPr sz="1875" b="0">
                          <a:solidFill>
                            <a:srgbClr val="202322"/>
                          </a:solidFill>
                          <a:latin typeface="Trebuchet MS"/>
                          <a:ea typeface="Trebuchet MS"/>
                          <a:cs typeface="Trebuchet MS"/>
                        </a:rPr>
                        <a:t>belong in the product experience.</a:t>
                      </a:r>
                    </a:p>
                  </a:txBody>
                  <a:tcPr marL="91440" marR="91440" marT="45720" marB="45720" anchor="ctr">
                    <a:solidFill>
                      <a:srgbClr val="E8EBE8"/>
                    </a:solidFill>
                  </a:tcPr>
                </a:tc>
              </a:tr>
            </a:tbl>
          </a:graphicData>
        </a:graphic>
      </p:graphicFrame>
      <p:sp>
        <p:nvSpPr>
          <p:cNvPr id="6" name="These are lessons from design and implementation. Participant us">
            <a:extLst xmlns:a="http://schemas.openxmlformats.org/drawingml/2006/main">
              <a:ext uri="{FF2B5EF4-FFF2-40B4-BE49-F238E27FC236}">
                <a16:creationId xmlns:a16="http://schemas.microsoft.com/office/drawing/2014/main" id="{5736622C-6A0A-4F0D-8235-95C4F3F1F081}"/>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These are lessons from design and implementation. Participant usefulness remains an open question.</a:t>
            </a:r>
          </a:p>
        </p:txBody>
      </p:sp>
    </p:spTree>
    <p:extLst>
      <p:ext uri="{BB962C8B-B14F-4D97-AF65-F5344CB8AC3E}">
        <p14:creationId xmlns:p14="http://schemas.microsoft.com/office/powerpoint/2010/main" val="1402749785"/>
      </p:ext>
    </p:extLst>
  </p:cSld>
</p:sld>
</file>

<file path=ppt/slides/slide14.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1" name="The next experiment">
            <a:extLst xmlns:a="http://schemas.openxmlformats.org/drawingml/2006/main">
              <a:ext uri="{FF2B5EF4-FFF2-40B4-BE49-F238E27FC236}">
                <a16:creationId xmlns:a16="http://schemas.microsoft.com/office/drawing/2014/main" id="{6F1A2868-B118-4BF3-A386-3E326E4EE552}"/>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The next experiment</a:t>
            </a:r>
          </a:p>
        </p:txBody>
      </p:sp>
      <p:sp>
        <p:nvSpPr>
          <p:cNvPr id="2" name="One company, one reason to worry">
            <a:extLst xmlns:a="http://schemas.openxmlformats.org/drawingml/2006/main">
              <a:ext uri="{FF2B5EF4-FFF2-40B4-BE49-F238E27FC236}">
                <a16:creationId xmlns:a16="http://schemas.microsoft.com/office/drawing/2014/main" id="{D6AC8711-CA5D-431B-AFF0-A25BD26C9714}"/>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One company, one reason to worry</a:t>
            </a:r>
          </a:p>
        </p:txBody>
      </p:sp>
      <p:sp>
        <p:nvSpPr>
          <p:cNvPr id="3" name="Proposed test with 5–8 participants, before building the full lo">
            <a:extLst xmlns:a="http://schemas.openxmlformats.org/drawingml/2006/main">
              <a:ext uri="{FF2B5EF4-FFF2-40B4-BE49-F238E27FC236}">
                <a16:creationId xmlns:a16="http://schemas.microsoft.com/office/drawing/2014/main" id="{16AC646C-B1A6-4BE6-AEE3-C8F4DF9AE891}"/>
              </a:ext>
            </a:extLst>
          </p:cNvPr>
          <p:cNvSpPr>
            <a:spLocks xmlns:a="http://schemas.openxmlformats.org/drawingml/2006/main" noGrp="1"/>
          </p:cNvSpPr>
          <p:nvPr/>
        </p:nvSpPr>
        <p:spPr>
          <a:xfrm xmlns:a="http://schemas.openxmlformats.org/drawingml/2006/main">
            <a:off x="571500" y="17240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59616B"/>
                </a:solidFill>
                <a:latin typeface="Trebuchet MS"/>
                <a:ea typeface="Trebuchet MS"/>
                <a:cs typeface="Trebuchet MS"/>
              </a:defRPr>
            </a:pPr>
            <a:r>
              <a:rPr sz="1725" b="0">
                <a:solidFill>
                  <a:srgbClr val="59616B"/>
                </a:solidFill>
                <a:latin typeface="Trebuchet MS"/>
                <a:ea typeface="Trebuchet MS"/>
                <a:cs typeface="Trebuchet MS"/>
              </a:rPr>
              <a:t>Proposed test with 5–8 participants, before building the full look-back view</a:t>
            </a:r>
          </a:p>
        </p:txBody>
      </p:sp>
      <p:sp>
        <p:nvSpPr>
          <p:cNvPr id="4" name="Thesis   CP1001   9 October 2026">
            <a:extLst xmlns:a="http://schemas.openxmlformats.org/drawingml/2006/main">
              <a:ext uri="{FF2B5EF4-FFF2-40B4-BE49-F238E27FC236}">
                <a16:creationId xmlns:a16="http://schemas.microsoft.com/office/drawing/2014/main" id="{7F9DA05C-7845-4D28-82E3-762A06D780DE}"/>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5" name="14">
            <a:extLst xmlns:a="http://schemas.openxmlformats.org/drawingml/2006/main">
              <a:ext uri="{FF2B5EF4-FFF2-40B4-BE49-F238E27FC236}">
                <a16:creationId xmlns:a16="http://schemas.microsoft.com/office/drawing/2014/main" id="{CB1FFD81-FB0F-4173-A8D4-36119E48CC06}"/>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14</a:t>
            </a:r>
          </a:p>
        </p:txBody>
      </p:sp>
      <p:sp>
        <p:nvSpPr>
          <p:cNvPr id="6" name="The task">
            <a:extLst xmlns:a="http://schemas.openxmlformats.org/drawingml/2006/main">
              <a:ext uri="{FF2B5EF4-FFF2-40B4-BE49-F238E27FC236}">
                <a16:creationId xmlns:a16="http://schemas.microsoft.com/office/drawing/2014/main" id="{B0B1C108-B71E-40BE-883E-A746737FE75B}"/>
              </a:ext>
            </a:extLst>
          </p:cNvPr>
          <p:cNvSpPr>
            <a:spLocks xmlns:a="http://schemas.openxmlformats.org/drawingml/2006/main" noGrp="1"/>
          </p:cNvSpPr>
          <p:nvPr/>
        </p:nvSpPr>
        <p:spPr>
          <a:xfrm xmlns:a="http://schemas.openxmlformats.org/drawingml/2006/main">
            <a:off x="571500" y="24193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325" b="1">
                <a:solidFill>
                  <a:srgbClr val="304674"/>
                </a:solidFill>
                <a:latin typeface="Trebuchet MS"/>
                <a:ea typeface="Trebuchet MS"/>
                <a:cs typeface="Trebuchet MS"/>
              </a:defRPr>
            </a:pPr>
            <a:r>
              <a:rPr sz="2325" b="1">
                <a:solidFill>
                  <a:srgbClr val="304674"/>
                </a:solidFill>
                <a:latin typeface="Trebuchet MS"/>
                <a:ea typeface="Trebuchet MS"/>
                <a:cs typeface="Trebuchet MS"/>
              </a:rPr>
              <a:t>The task</a:t>
            </a:r>
          </a:p>
        </p:txBody>
      </p:sp>
      <p:sp>
        <p:nvSpPr>
          <p:cNvPr id="7" name="“Find out how this company&#10;makes money and save one&#10;reason you w">
            <a:extLst xmlns:a="http://schemas.openxmlformats.org/drawingml/2006/main">
              <a:ext uri="{FF2B5EF4-FFF2-40B4-BE49-F238E27FC236}">
                <a16:creationId xmlns:a16="http://schemas.microsoft.com/office/drawing/2014/main" id="{066E6C74-581F-4E8B-A10E-CF38E337A5E2}"/>
              </a:ext>
            </a:extLst>
          </p:cNvPr>
          <p:cNvSpPr>
            <a:spLocks xmlns:a="http://schemas.openxmlformats.org/drawingml/2006/main" noGrp="1"/>
          </p:cNvSpPr>
          <p:nvPr/>
        </p:nvSpPr>
        <p:spPr>
          <a:xfrm xmlns:a="http://schemas.openxmlformats.org/drawingml/2006/main">
            <a:off x="571500" y="3019425"/>
            <a:ext cx="4857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550" b="0">
                <a:solidFill>
                  <a:srgbClr val="202322"/>
                </a:solidFill>
                <a:latin typeface="Trebuchet MS"/>
                <a:ea typeface="Trebuchet MS"/>
                <a:cs typeface="Trebuchet MS"/>
              </a:defRPr>
            </a:pPr>
            <a:r>
              <a:rPr sz="2550" b="0">
                <a:solidFill>
                  <a:srgbClr val="202322"/>
                </a:solidFill>
                <a:latin typeface="Trebuchet MS"/>
                <a:ea typeface="Trebuchet MS"/>
                <a:cs typeface="Trebuchet MS"/>
              </a:rPr>
              <a:t>“Find out how this company</a:t>
            </a:r>
          </a:p>
          <a:p xmlns:a="http://schemas.openxmlformats.org/drawingml/2006/main">
            <a:pPr marL="0" indent="0" algn="l">
              <a:lnSpc>
                <a:spcPct val="112000"/>
              </a:lnSpc>
              <a:spcBef>
                <a:spcPts val="0"/>
              </a:spcBef>
              <a:spcAft>
                <a:spcPts val="0"/>
              </a:spcAft>
              <a:buNone/>
              <a:defRPr sz="2550" b="0">
                <a:solidFill>
                  <a:srgbClr val="202322"/>
                </a:solidFill>
                <a:latin typeface="Trebuchet MS"/>
                <a:ea typeface="Trebuchet MS"/>
                <a:cs typeface="Trebuchet MS"/>
              </a:defRPr>
            </a:pPr>
            <a:r>
              <a:rPr sz="2550" b="0">
                <a:solidFill>
                  <a:srgbClr val="202322"/>
                </a:solidFill>
                <a:latin typeface="Trebuchet MS"/>
                <a:ea typeface="Trebuchet MS"/>
                <a:cs typeface="Trebuchet MS"/>
              </a:rPr>
              <a:t>makes money and save one</a:t>
            </a:r>
          </a:p>
          <a:p xmlns:a="http://schemas.openxmlformats.org/drawingml/2006/main">
            <a:pPr marL="0" indent="0" algn="l">
              <a:lnSpc>
                <a:spcPct val="112000"/>
              </a:lnSpc>
              <a:spcBef>
                <a:spcPts val="0"/>
              </a:spcBef>
              <a:spcAft>
                <a:spcPts val="0"/>
              </a:spcAft>
              <a:buNone/>
              <a:defRPr sz="2550" b="0">
                <a:solidFill>
                  <a:srgbClr val="202322"/>
                </a:solidFill>
                <a:latin typeface="Trebuchet MS"/>
                <a:ea typeface="Trebuchet MS"/>
                <a:cs typeface="Trebuchet MS"/>
              </a:defRPr>
            </a:pPr>
            <a:r>
              <a:rPr sz="2550" b="0">
                <a:solidFill>
                  <a:srgbClr val="202322"/>
                </a:solidFill>
                <a:latin typeface="Trebuchet MS"/>
                <a:ea typeface="Trebuchet MS"/>
                <a:cs typeface="Trebuchet MS"/>
              </a:rPr>
              <a:t>reason you would worry.”</a:t>
            </a:r>
          </a:p>
        </p:txBody>
      </p:sp>
      <p:sp>
        <p:nvSpPr>
          <p:cNvPr id="8" name="What we would observe">
            <a:extLst xmlns:a="http://schemas.openxmlformats.org/drawingml/2006/main">
              <a:ext uri="{FF2B5EF4-FFF2-40B4-BE49-F238E27FC236}">
                <a16:creationId xmlns:a16="http://schemas.microsoft.com/office/drawing/2014/main" id="{065A52EC-DCA2-4D68-9BB3-46606F754FCF}"/>
              </a:ext>
            </a:extLst>
          </p:cNvPr>
          <p:cNvSpPr>
            <a:spLocks xmlns:a="http://schemas.openxmlformats.org/drawingml/2006/main" noGrp="1"/>
          </p:cNvSpPr>
          <p:nvPr/>
        </p:nvSpPr>
        <p:spPr>
          <a:xfrm xmlns:a="http://schemas.openxmlformats.org/drawingml/2006/main">
            <a:off x="6353175" y="24193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325" b="1">
                <a:solidFill>
                  <a:srgbClr val="304674"/>
                </a:solidFill>
                <a:latin typeface="Trebuchet MS"/>
                <a:ea typeface="Trebuchet MS"/>
                <a:cs typeface="Trebuchet MS"/>
              </a:defRPr>
            </a:pPr>
            <a:r>
              <a:rPr sz="2325" b="1">
                <a:solidFill>
                  <a:srgbClr val="304674"/>
                </a:solidFill>
                <a:latin typeface="Trebuchet MS"/>
                <a:ea typeface="Trebuchet MS"/>
                <a:cs typeface="Trebuchet MS"/>
              </a:rPr>
              <a:t>What we would observe</a:t>
            </a:r>
          </a:p>
        </p:txBody>
      </p:sp>
      <p:sp>
        <p:nvSpPr>
          <p:cNvPr id="9" name="Where the person starts and needs help.&#10;&#10;Whether they can explai">
            <a:extLst xmlns:a="http://schemas.openxmlformats.org/drawingml/2006/main">
              <a:ext uri="{FF2B5EF4-FFF2-40B4-BE49-F238E27FC236}">
                <a16:creationId xmlns:a16="http://schemas.microsoft.com/office/drawing/2014/main" id="{2BEB1215-74F7-4FFD-9B55-73078FA99031}"/>
              </a:ext>
            </a:extLst>
          </p:cNvPr>
          <p:cNvSpPr>
            <a:spLocks xmlns:a="http://schemas.openxmlformats.org/drawingml/2006/main" noGrp="1"/>
          </p:cNvSpPr>
          <p:nvPr/>
        </p:nvSpPr>
        <p:spPr>
          <a:xfrm xmlns:a="http://schemas.openxmlformats.org/drawingml/2006/main">
            <a:off x="6353175" y="3009900"/>
            <a:ext cx="52387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Where the person starts and needs help.</a:t>
            </a:r>
          </a:p>
          <a:p xmlns:a="http://schemas.openxmlformats.org/drawingml/2006/main">
            <a:pPr marL="0" indent="0">
              <a:lnSpc>
                <a:spcPct val="112000"/>
              </a:lnSpc>
              <a:spcBef>
                <a:spcPts val="0"/>
              </a:spcBef>
              <a:spcAft>
                <a:spcPts val="0"/>
              </a:spcAft>
              <a:buNone/>
            </a:pPr>
            <a:r>
              <a:rPr sz="2025" b="0">
                <a:solidFill>
                  <a:srgbClr val="202322"/>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Whether they can explain the business</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and one uncertainty in their own words.</a:t>
            </a:r>
          </a:p>
          <a:p xmlns:a="http://schemas.openxmlformats.org/drawingml/2006/main">
            <a:pPr marL="0" indent="0">
              <a:lnSpc>
                <a:spcPct val="112000"/>
              </a:lnSpc>
              <a:spcBef>
                <a:spcPts val="0"/>
              </a:spcBef>
              <a:spcAft>
                <a:spcPts val="0"/>
              </a:spcAft>
              <a:buNone/>
            </a:pPr>
            <a:r>
              <a:rPr sz="2025" b="0">
                <a:solidFill>
                  <a:srgbClr val="202322"/>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Whether they distinguish a forecast</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from a reported figure.</a:t>
            </a:r>
          </a:p>
        </p:txBody>
      </p:sp>
      <p:sp>
        <p:nvSpPr>
          <p:cNvPr id="10" name="Use a prepared, permitted research sample. Observe first, then a">
            <a:extLst xmlns:a="http://schemas.openxmlformats.org/drawingml/2006/main">
              <a:ext uri="{FF2B5EF4-FFF2-40B4-BE49-F238E27FC236}">
                <a16:creationId xmlns:a16="http://schemas.microsoft.com/office/drawing/2014/main" id="{0B59057B-714E-4CF7-B65A-8820408E6FF3}"/>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Use a prepared, permitted research sample. Observe first, then ask questions. No results yet.</a:t>
            </a:r>
          </a:p>
        </p:txBody>
      </p:sp>
    </p:spTree>
    <p:extLst>
      <p:ext uri="{BB962C8B-B14F-4D97-AF65-F5344CB8AC3E}">
        <p14:creationId xmlns:p14="http://schemas.microsoft.com/office/powerpoint/2010/main" val="322833832"/>
      </p:ext>
    </p:extLst>
  </p:cSld>
</p:sld>
</file>

<file path=ppt/slides/slide15.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7" name="How the experiment would guide us">
            <a:extLst xmlns:a="http://schemas.openxmlformats.org/drawingml/2006/main">
              <a:ext uri="{FF2B5EF4-FFF2-40B4-BE49-F238E27FC236}">
                <a16:creationId xmlns:a16="http://schemas.microsoft.com/office/drawing/2014/main" id="{D378BA2E-563D-4AE2-AD5F-995E21F7A55E}"/>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How the experiment would guide us</a:t>
            </a:r>
          </a:p>
        </p:txBody>
      </p:sp>
      <p:sp>
        <p:nvSpPr>
          <p:cNvPr id="2" name="Comprehension matters more than clicks">
            <a:extLst xmlns:a="http://schemas.openxmlformats.org/drawingml/2006/main">
              <a:ext uri="{FF2B5EF4-FFF2-40B4-BE49-F238E27FC236}">
                <a16:creationId xmlns:a16="http://schemas.microsoft.com/office/drawing/2014/main" id="{5D8128E4-47AB-4054-A5FF-F31AA99ACE00}"/>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Comprehension matters more than clicks</a:t>
            </a:r>
          </a:p>
        </p:txBody>
      </p:sp>
      <p:sp>
        <p:nvSpPr>
          <p:cNvPr id="3" name="Thesis   CP1001   9 October 2026">
            <a:extLst xmlns:a="http://schemas.openxmlformats.org/drawingml/2006/main">
              <a:ext uri="{FF2B5EF4-FFF2-40B4-BE49-F238E27FC236}">
                <a16:creationId xmlns:a16="http://schemas.microsoft.com/office/drawing/2014/main" id="{1DC7B19C-D599-4FE2-92BF-2BD70C493AA4}"/>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5">
            <a:extLst xmlns:a="http://schemas.openxmlformats.org/drawingml/2006/main">
              <a:ext uri="{FF2B5EF4-FFF2-40B4-BE49-F238E27FC236}">
                <a16:creationId xmlns:a16="http://schemas.microsoft.com/office/drawing/2014/main" id="{3D0B6750-C0DE-4B9C-BABB-BA8E824B558D}"/>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15</a:t>
            </a:r>
          </a:p>
        </p:txBody>
      </p:sp>
      <p:graphicFrame>
        <p:nvGraphicFramePr>
          <p:cNvPr id="11" name=""/>
          <p:cNvGraphicFramePr/>
          <p:nvPr/>
        </p:nvGraphicFramePr>
        <p:xfrm>
          <a:off xmlns:a="http://schemas.openxmlformats.org/drawingml/2006/main" x="571500" y="2124075"/>
          <a:ext xmlns:a="http://schemas.openxmlformats.org/drawingml/2006/main" cx="11049000" cy="3600450"/>
        </p:xfrm>
        <a:graphic xmlns:a="http://schemas.openxmlformats.org/drawingml/2006/main">
          <a:graphicData uri="http://schemas.openxmlformats.org/drawingml/2006/table">
            <a:tbl>
              <a:tblPr firstRow="1" bandRow="0" bandCol="0"/>
              <a:tblGrid>
                <a:gridCol w="3181350"/>
                <a:gridCol w="3952875"/>
                <a:gridCol w="3914775"/>
              </a:tblGrid>
              <a:tr h="571500">
                <a:tc>
                  <a:txBody>
                    <a:bodyPr lIns="152400" tIns="95250" rIns="152400" bIns="95250">
                      <a:noAutofit/>
                    </a:bodyPr>
                    <a:lstStyle/>
                    <a:p>
                      <a:r>
                        <a:rPr sz="1800" b="1">
                          <a:solidFill>
                            <a:srgbClr val="FFFFFF"/>
                          </a:solidFill>
                          <a:latin typeface="Trebuchet MS"/>
                          <a:ea typeface="Trebuchet MS"/>
                          <a:cs typeface="Trebuchet MS"/>
                        </a:rPr>
                        <a:t>Question</a:t>
                      </a:r>
                    </a:p>
                  </a:txBody>
                  <a:tcPr marL="91440" marR="91440" marT="45720" marB="45720" anchor="ctr">
                    <a:solidFill>
                      <a:srgbClr val="304674"/>
                    </a:solidFill>
                  </a:tcPr>
                </a:tc>
                <a:tc>
                  <a:txBody>
                    <a:bodyPr lIns="152400" tIns="95250" rIns="152400" bIns="95250">
                      <a:noAutofit/>
                    </a:bodyPr>
                    <a:lstStyle/>
                    <a:p>
                      <a:r>
                        <a:rPr sz="1800" b="1">
                          <a:solidFill>
                            <a:srgbClr val="FFFFFF"/>
                          </a:solidFill>
                          <a:latin typeface="Trebuchet MS"/>
                          <a:ea typeface="Trebuchet MS"/>
                          <a:cs typeface="Trebuchet MS"/>
                        </a:rPr>
                        <a:t>Evidence to record</a:t>
                      </a:r>
                    </a:p>
                  </a:txBody>
                  <a:tcPr marL="91440" marR="91440" marT="45720" marB="45720" anchor="ctr">
                    <a:solidFill>
                      <a:srgbClr val="304674"/>
                    </a:solidFill>
                  </a:tcPr>
                </a:tc>
                <a:tc>
                  <a:txBody>
                    <a:bodyPr lIns="152400" tIns="95250" rIns="152400" bIns="95250">
                      <a:noAutofit/>
                    </a:bodyPr>
                    <a:lstStyle/>
                    <a:p>
                      <a:r>
                        <a:rPr sz="1800" b="1">
                          <a:solidFill>
                            <a:srgbClr val="FFFFFF"/>
                          </a:solidFill>
                          <a:latin typeface="Trebuchet MS"/>
                          <a:ea typeface="Trebuchet MS"/>
                          <a:cs typeface="Trebuchet MS"/>
                        </a:rPr>
                        <a:t>Next decision</a:t>
                      </a:r>
                    </a:p>
                  </a:txBody>
                  <a:tcPr marL="91440" marR="91440" marT="45720" marB="45720" anchor="ctr">
                    <a:solidFill>
                      <a:srgbClr val="304674"/>
                    </a:solidFill>
                  </a:tcPr>
                </a:tc>
              </a:tr>
              <a:tr h="1009650">
                <a:tc>
                  <a:txBody>
                    <a:bodyPr lIns="152400" tIns="95250" rIns="152400" bIns="95250">
                      <a:noAutofit/>
                    </a:bodyPr>
                    <a:lstStyle/>
                    <a:p>
                      <a:r>
                        <a:rPr sz="1800" b="0">
                          <a:solidFill>
                            <a:srgbClr val="202322"/>
                          </a:solidFill>
                          <a:latin typeface="Trebuchet MS"/>
                          <a:ea typeface="Trebuchet MS"/>
                          <a:cs typeface="Trebuchet MS"/>
                        </a:rPr>
                        <a:t>Can the user explain the company?</a:t>
                      </a:r>
                    </a:p>
                  </a:txBody>
                  <a:tcPr marL="91440" marR="91440" marT="45720" marB="45720" anchor="ctr">
                    <a:solidFill>
                      <a:srgbClr val="FFFFFF"/>
                    </a:solidFill>
                  </a:tcPr>
                </a:tc>
                <a:tc>
                  <a:txBody>
                    <a:bodyPr lIns="152400" tIns="95250" rIns="152400" bIns="95250">
                      <a:noAutofit/>
                    </a:bodyPr>
                    <a:lstStyle/>
                    <a:p>
                      <a:r>
                        <a:rPr sz="1800" b="0">
                          <a:solidFill>
                            <a:srgbClr val="202322"/>
                          </a:solidFill>
                          <a:latin typeface="Trebuchet MS"/>
                          <a:ea typeface="Trebuchet MS"/>
                          <a:cs typeface="Trebuchet MS"/>
                        </a:rPr>
                        <a:t>An explanation, one source</a:t>
                      </a:r>
                    </a:p>
                    <a:p>
                      <a:r>
                        <a:rPr sz="1800" b="0">
                          <a:solidFill>
                            <a:srgbClr val="202322"/>
                          </a:solidFill>
                          <a:latin typeface="Trebuchet MS"/>
                          <a:ea typeface="Trebuchet MS"/>
                          <a:cs typeface="Trebuchet MS"/>
                        </a:rPr>
                        <a:t>and one uncertainty.</a:t>
                      </a:r>
                    </a:p>
                  </a:txBody>
                  <a:tcPr marL="91440" marR="91440" marT="45720" marB="45720" anchor="ctr">
                    <a:solidFill>
                      <a:srgbClr val="FFFFFF"/>
                    </a:solidFill>
                  </a:tcPr>
                </a:tc>
                <a:tc>
                  <a:txBody>
                    <a:bodyPr lIns="152400" tIns="95250" rIns="152400" bIns="95250">
                      <a:noAutofit/>
                    </a:bodyPr>
                    <a:lstStyle/>
                    <a:p>
                      <a:r>
                        <a:rPr sz="1800" b="0">
                          <a:solidFill>
                            <a:srgbClr val="202322"/>
                          </a:solidFill>
                          <a:latin typeface="Trebuchet MS"/>
                          <a:ea typeface="Trebuchet MS"/>
                          <a:cs typeface="Trebuchet MS"/>
                        </a:rPr>
                        <a:t>If not, improve wording and</a:t>
                      </a:r>
                    </a:p>
                    <a:p>
                      <a:r>
                        <a:rPr sz="1800" b="0">
                          <a:solidFill>
                            <a:srgbClr val="202322"/>
                          </a:solidFill>
                          <a:latin typeface="Trebuchet MS"/>
                          <a:ea typeface="Trebuchet MS"/>
                          <a:cs typeface="Trebuchet MS"/>
                        </a:rPr>
                        <a:t>source presentation first.</a:t>
                      </a:r>
                    </a:p>
                  </a:txBody>
                  <a:tcPr marL="91440" marR="91440" marT="45720" marB="45720" anchor="ctr">
                    <a:solidFill>
                      <a:srgbClr val="FFFFFF"/>
                    </a:solidFill>
                  </a:tcPr>
                </a:tc>
              </a:tr>
              <a:tr h="1009650">
                <a:tc>
                  <a:txBody>
                    <a:bodyPr lIns="152400" tIns="95250" rIns="152400" bIns="95250">
                      <a:noAutofit/>
                    </a:bodyPr>
                    <a:lstStyle/>
                    <a:p>
                      <a:r>
                        <a:rPr sz="1800" b="0">
                          <a:solidFill>
                            <a:srgbClr val="202322"/>
                          </a:solidFill>
                          <a:latin typeface="Trebuchet MS"/>
                          <a:ea typeface="Trebuchet MS"/>
                          <a:cs typeface="Trebuchet MS"/>
                        </a:rPr>
                        <a:t>Can the user record a view?</a:t>
                      </a:r>
                    </a:p>
                  </a:txBody>
                  <a:tcPr marL="91440" marR="91440" marT="45720" marB="45720" anchor="ctr">
                    <a:solidFill>
                      <a:srgbClr val="E8EBE8"/>
                    </a:solidFill>
                  </a:tcPr>
                </a:tc>
                <a:tc>
                  <a:txBody>
                    <a:bodyPr lIns="152400" tIns="95250" rIns="152400" bIns="95250">
                      <a:noAutofit/>
                    </a:bodyPr>
                    <a:lstStyle/>
                    <a:p>
                      <a:r>
                        <a:rPr sz="1800" b="0">
                          <a:solidFill>
                            <a:srgbClr val="202322"/>
                          </a:solidFill>
                          <a:latin typeface="Trebuchet MS"/>
                          <a:ea typeface="Trebuchet MS"/>
                          <a:cs typeface="Trebuchet MS"/>
                        </a:rPr>
                        <a:t>A reason and uncertainty,</a:t>
                      </a:r>
                    </a:p>
                    <a:p>
                      <a:r>
                        <a:rPr sz="1800" b="0">
                          <a:solidFill>
                            <a:srgbClr val="202322"/>
                          </a:solidFill>
                          <a:latin typeface="Trebuchet MS"/>
                          <a:ea typeface="Trebuchet MS"/>
                          <a:cs typeface="Trebuchet MS"/>
                        </a:rPr>
                        <a:t>or a deliberate unresolved draft.</a:t>
                      </a:r>
                    </a:p>
                  </a:txBody>
                  <a:tcPr marL="91440" marR="91440" marT="45720" marB="45720" anchor="ctr">
                    <a:solidFill>
                      <a:srgbClr val="E8EBE8"/>
                    </a:solidFill>
                  </a:tcPr>
                </a:tc>
                <a:tc>
                  <a:txBody>
                    <a:bodyPr lIns="152400" tIns="95250" rIns="152400" bIns="95250">
                      <a:noAutofit/>
                    </a:bodyPr>
                    <a:lstStyle/>
                    <a:p>
                      <a:r>
                        <a:rPr sz="1800" b="0">
                          <a:solidFill>
                            <a:srgbClr val="202322"/>
                          </a:solidFill>
                          <a:latin typeface="Trebuchet MS"/>
                          <a:ea typeface="Trebuchet MS"/>
                          <a:cs typeface="Trebuchet MS"/>
                        </a:rPr>
                        <a:t>If help is needed, simplify the</a:t>
                      </a:r>
                    </a:p>
                    <a:p>
                      <a:r>
                        <a:rPr sz="1800" b="0">
                          <a:solidFill>
                            <a:srgbClr val="202322"/>
                          </a:solidFill>
                          <a:latin typeface="Trebuchet MS"/>
                          <a:ea typeface="Trebuchet MS"/>
                          <a:cs typeface="Trebuchet MS"/>
                        </a:rPr>
                        <a:t>editor and prompts.</a:t>
                      </a:r>
                    </a:p>
                  </a:txBody>
                  <a:tcPr marL="91440" marR="91440" marT="45720" marB="45720" anchor="ctr">
                    <a:solidFill>
                      <a:srgbClr val="E8EBE8"/>
                    </a:solidFill>
                  </a:tcPr>
                </a:tc>
              </a:tr>
              <a:tr h="1009650">
                <a:tc>
                  <a:txBody>
                    <a:bodyPr lIns="152400" tIns="95250" rIns="152400" bIns="95250">
                      <a:noAutofit/>
                    </a:bodyPr>
                    <a:lstStyle/>
                    <a:p>
                      <a:r>
                        <a:rPr sz="1800" b="0">
                          <a:solidFill>
                            <a:srgbClr val="202322"/>
                          </a:solidFill>
                          <a:latin typeface="Trebuchet MS"/>
                          <a:ea typeface="Trebuchet MS"/>
                          <a:cs typeface="Trebuchet MS"/>
                        </a:rPr>
                        <a:t>Can a change prompt reflection?</a:t>
                      </a:r>
                    </a:p>
                  </a:txBody>
                  <a:tcPr marL="91440" marR="91440" marT="45720" marB="45720" anchor="ctr">
                    <a:solidFill>
                      <a:srgbClr val="FFFFFF"/>
                    </a:solidFill>
                  </a:tcPr>
                </a:tc>
                <a:tc>
                  <a:txBody>
                    <a:bodyPr lIns="152400" tIns="95250" rIns="152400" bIns="95250">
                      <a:noAutofit/>
                    </a:bodyPr>
                    <a:lstStyle/>
                    <a:p>
                      <a:r>
                        <a:rPr sz="1800" b="0">
                          <a:solidFill>
                            <a:srgbClr val="202322"/>
                          </a:solidFill>
                          <a:latin typeface="Trebuchet MS"/>
                          <a:ea typeface="Trebuchet MS"/>
                          <a:cs typeface="Trebuchet MS"/>
                        </a:rPr>
                        <a:t>Compare an original view with</a:t>
                      </a:r>
                    </a:p>
                    <a:p>
                      <a:r>
                        <a:rPr sz="1800" b="0">
                          <a:solidFill>
                            <a:srgbClr val="202322"/>
                          </a:solidFill>
                          <a:latin typeface="Trebuchet MS"/>
                          <a:ea typeface="Trebuchet MS"/>
                          <a:cs typeface="Trebuchet MS"/>
                        </a:rPr>
                        <a:t>a dated new development.</a:t>
                      </a:r>
                    </a:p>
                  </a:txBody>
                  <a:tcPr marL="91440" marR="91440" marT="45720" marB="45720" anchor="ctr">
                    <a:solidFill>
                      <a:srgbClr val="FFFFFF"/>
                    </a:solidFill>
                  </a:tcPr>
                </a:tc>
                <a:tc>
                  <a:txBody>
                    <a:bodyPr lIns="152400" tIns="95250" rIns="152400" bIns="95250">
                      <a:noAutofit/>
                    </a:bodyPr>
                    <a:lstStyle/>
                    <a:p>
                      <a:r>
                        <a:rPr sz="1800" b="0">
                          <a:solidFill>
                            <a:srgbClr val="202322"/>
                          </a:solidFill>
                          <a:latin typeface="Trebuchet MS"/>
                          <a:ea typeface="Trebuchet MS"/>
                          <a:cs typeface="Trebuchet MS"/>
                        </a:rPr>
                        <a:t>If relevance is unclear, revise</a:t>
                      </a:r>
                    </a:p>
                    <a:p>
                      <a:r>
                        <a:rPr sz="1800" b="0">
                          <a:solidFill>
                            <a:srgbClr val="202322"/>
                          </a:solidFill>
                          <a:latin typeface="Trebuchet MS"/>
                          <a:ea typeface="Trebuchet MS"/>
                          <a:cs typeface="Trebuchet MS"/>
                        </a:rPr>
                        <a:t>the update explanation.</a:t>
                      </a:r>
                    </a:p>
                  </a:txBody>
                  <a:tcPr marL="91440" marR="91440" marT="45720" marB="45720" anchor="ctr">
                    <a:solidFill>
                      <a:srgbClr val="FFFFFF"/>
                    </a:solidFill>
                  </a:tcPr>
                </a:tc>
              </a:tr>
            </a:tbl>
          </a:graphicData>
        </a:graphic>
      </p:graphicFrame>
      <p:sp>
        <p:nvSpPr>
          <p:cNvPr id="6" name="Return testing would use the same frozen case and a simple notes">
            <a:extLst xmlns:a="http://schemas.openxmlformats.org/drawingml/2006/main">
              <a:ext uri="{FF2B5EF4-FFF2-40B4-BE49-F238E27FC236}">
                <a16:creationId xmlns:a16="http://schemas.microsoft.com/office/drawing/2014/main" id="{C186EDF8-027F-4BB9-8946-02C82EC844B0}"/>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Return testing would use the same frozen case and a simple notes workflow for comparison.</a:t>
            </a:r>
          </a:p>
        </p:txBody>
      </p:sp>
    </p:spTree>
    <p:extLst>
      <p:ext uri="{BB962C8B-B14F-4D97-AF65-F5344CB8AC3E}">
        <p14:creationId xmlns:p14="http://schemas.microsoft.com/office/powerpoint/2010/main" val="1526785078"/>
      </p:ext>
    </p:extLst>
  </p:cSld>
</p:sld>
</file>

<file path=ppt/slides/slide16.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10" name="An honest checkpoint">
            <a:extLst xmlns:a="http://schemas.openxmlformats.org/drawingml/2006/main">
              <a:ext uri="{FF2B5EF4-FFF2-40B4-BE49-F238E27FC236}">
                <a16:creationId xmlns:a16="http://schemas.microsoft.com/office/drawing/2014/main" id="{BD08AE8D-31DB-4475-9286-AE56F7C56AE2}"/>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An honest checkpoint</a:t>
            </a:r>
          </a:p>
        </p:txBody>
      </p:sp>
      <p:sp>
        <p:nvSpPr>
          <p:cNvPr id="2" name="A working prototype is our current evidence">
            <a:extLst xmlns:a="http://schemas.openxmlformats.org/drawingml/2006/main">
              <a:ext uri="{FF2B5EF4-FFF2-40B4-BE49-F238E27FC236}">
                <a16:creationId xmlns:a16="http://schemas.microsoft.com/office/drawing/2014/main" id="{1FE88839-C95D-4D3C-800B-EA102EC5B43D}"/>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A working prototype is our current evidence</a:t>
            </a:r>
          </a:p>
        </p:txBody>
      </p:sp>
      <p:sp>
        <p:nvSpPr>
          <p:cNvPr id="3" name="Thesis   CP1001   9 October 2026">
            <a:extLst xmlns:a="http://schemas.openxmlformats.org/drawingml/2006/main">
              <a:ext uri="{FF2B5EF4-FFF2-40B4-BE49-F238E27FC236}">
                <a16:creationId xmlns:a16="http://schemas.microsoft.com/office/drawing/2014/main" id="{65B1CBE2-A2E2-452C-8E1B-8B36ACB776EB}"/>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6">
            <a:extLst xmlns:a="http://schemas.openxmlformats.org/drawingml/2006/main">
              <a:ext uri="{FF2B5EF4-FFF2-40B4-BE49-F238E27FC236}">
                <a16:creationId xmlns:a16="http://schemas.microsoft.com/office/drawing/2014/main" id="{C9E48E22-C85B-49DC-AE3C-FE2A60279716}"/>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16</a:t>
            </a:r>
          </a:p>
        </p:txBody>
      </p:sp>
      <p:sp>
        <p:nvSpPr>
          <p:cNvPr id="5" name="What the records support">
            <a:extLst xmlns:a="http://schemas.openxmlformats.org/drawingml/2006/main">
              <a:ext uri="{FF2B5EF4-FFF2-40B4-BE49-F238E27FC236}">
                <a16:creationId xmlns:a16="http://schemas.microsoft.com/office/drawing/2014/main" id="{91B3D7F8-CBD7-45FC-8075-DD075C207CE3}"/>
              </a:ext>
            </a:extLst>
          </p:cNvPr>
          <p:cNvSpPr>
            <a:spLocks xmlns:a="http://schemas.openxmlformats.org/drawingml/2006/main" noGrp="1"/>
          </p:cNvSpPr>
          <p:nvPr/>
        </p:nvSpPr>
        <p:spPr>
          <a:xfrm xmlns:a="http://schemas.openxmlformats.org/drawingml/2006/main">
            <a:off x="571500" y="22193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1">
                <a:solidFill>
                  <a:srgbClr val="304674"/>
                </a:solidFill>
                <a:latin typeface="Trebuchet MS"/>
                <a:ea typeface="Trebuchet MS"/>
                <a:cs typeface="Trebuchet MS"/>
              </a:defRPr>
            </a:pPr>
            <a:r>
              <a:rPr sz="2100" b="1">
                <a:solidFill>
                  <a:srgbClr val="304674"/>
                </a:solidFill>
                <a:latin typeface="Trebuchet MS"/>
                <a:ea typeface="Trebuchet MS"/>
                <a:cs typeface="Trebuchet MS"/>
              </a:rPr>
              <a:t>What the records support</a:t>
            </a:r>
          </a:p>
        </p:txBody>
      </p:sp>
      <p:sp>
        <p:nvSpPr>
          <p:cNvPr id="6" name="A local research and review workflow.&#10;&#10;Documented interface chan">
            <a:extLst xmlns:a="http://schemas.openxmlformats.org/drawingml/2006/main">
              <a:ext uri="{FF2B5EF4-FFF2-40B4-BE49-F238E27FC236}">
                <a16:creationId xmlns:a16="http://schemas.microsoft.com/office/drawing/2014/main" id="{E4E6C5A6-A869-4555-95A9-ED1F87B6A30B}"/>
              </a:ext>
            </a:extLst>
          </p:cNvPr>
          <p:cNvSpPr>
            <a:spLocks xmlns:a="http://schemas.openxmlformats.org/drawingml/2006/main" noGrp="1"/>
          </p:cNvSpPr>
          <p:nvPr/>
        </p:nvSpPr>
        <p:spPr>
          <a:xfrm xmlns:a="http://schemas.openxmlformats.org/drawingml/2006/main">
            <a:off x="571500" y="2733675"/>
            <a:ext cx="4953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A local research and review workflow.</a:t>
            </a:r>
          </a:p>
          <a:p xmlns:a="http://schemas.openxmlformats.org/drawingml/2006/main">
            <a:pPr marL="0" indent="0">
              <a:lnSpc>
                <a:spcPct val="112000"/>
              </a:lnSpc>
              <a:spcBef>
                <a:spcPts val="0"/>
              </a:spcBef>
              <a:spcAft>
                <a:spcPts val="0"/>
              </a:spcAft>
              <a:buNone/>
            </a:pPr>
            <a:r>
              <a:rPr sz="2025" b="0">
                <a:solidFill>
                  <a:srgbClr val="202322"/>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Documented interface changes.</a:t>
            </a:r>
          </a:p>
          <a:p xmlns:a="http://schemas.openxmlformats.org/drawingml/2006/main">
            <a:pPr marL="0" indent="0">
              <a:lnSpc>
                <a:spcPct val="112000"/>
              </a:lnSpc>
              <a:spcBef>
                <a:spcPts val="0"/>
              </a:spcBef>
              <a:spcAft>
                <a:spcPts val="0"/>
              </a:spcAft>
              <a:buNone/>
            </a:pPr>
            <a:r>
              <a:rPr sz="2025" b="0">
                <a:solidFill>
                  <a:srgbClr val="202322"/>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Saved-source and browser checks.</a:t>
            </a:r>
          </a:p>
        </p:txBody>
      </p:sp>
      <p:sp>
        <p:nvSpPr>
          <p:cNvPr id="7" name="What we still need to establish">
            <a:extLst xmlns:a="http://schemas.openxmlformats.org/drawingml/2006/main">
              <a:ext uri="{FF2B5EF4-FFF2-40B4-BE49-F238E27FC236}">
                <a16:creationId xmlns:a16="http://schemas.microsoft.com/office/drawing/2014/main" id="{230DE839-3E7F-42C3-964E-5218FBAEBD0A}"/>
              </a:ext>
            </a:extLst>
          </p:cNvPr>
          <p:cNvSpPr>
            <a:spLocks xmlns:a="http://schemas.openxmlformats.org/drawingml/2006/main" noGrp="1"/>
          </p:cNvSpPr>
          <p:nvPr/>
        </p:nvSpPr>
        <p:spPr>
          <a:xfrm xmlns:a="http://schemas.openxmlformats.org/drawingml/2006/main">
            <a:off x="6619875" y="22193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1">
                <a:solidFill>
                  <a:srgbClr val="304674"/>
                </a:solidFill>
                <a:latin typeface="Trebuchet MS"/>
                <a:ea typeface="Trebuchet MS"/>
                <a:cs typeface="Trebuchet MS"/>
              </a:defRPr>
            </a:pPr>
            <a:r>
              <a:rPr sz="2100" b="1">
                <a:solidFill>
                  <a:srgbClr val="304674"/>
                </a:solidFill>
                <a:latin typeface="Trebuchet MS"/>
                <a:ea typeface="Trebuchet MS"/>
                <a:cs typeface="Trebuchet MS"/>
              </a:rPr>
              <a:t>What we still need to establish</a:t>
            </a:r>
          </a:p>
        </p:txBody>
      </p:sp>
      <p:sp>
        <p:nvSpPr>
          <p:cNvPr id="8" name="Independent user comprehension.&#10;&#10;Repeat value and willingness to">
            <a:extLst xmlns:a="http://schemas.openxmlformats.org/drawingml/2006/main">
              <a:ext uri="{FF2B5EF4-FFF2-40B4-BE49-F238E27FC236}">
                <a16:creationId xmlns:a16="http://schemas.microsoft.com/office/drawing/2014/main" id="{592F2928-EEB3-4A07-8E49-1A78C26B9E9D}"/>
              </a:ext>
            </a:extLst>
          </p:cNvPr>
          <p:cNvSpPr>
            <a:spLocks xmlns:a="http://schemas.openxmlformats.org/drawingml/2006/main" noGrp="1"/>
          </p:cNvSpPr>
          <p:nvPr/>
        </p:nvSpPr>
        <p:spPr>
          <a:xfrm xmlns:a="http://schemas.openxmlformats.org/drawingml/2006/main">
            <a:off x="6619875" y="2733675"/>
            <a:ext cx="5000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Independent user comprehension.</a:t>
            </a:r>
          </a:p>
          <a:p xmlns:a="http://schemas.openxmlformats.org/drawingml/2006/main">
            <a:pPr marL="0" indent="0">
              <a:lnSpc>
                <a:spcPct val="112000"/>
              </a:lnSpc>
              <a:spcBef>
                <a:spcPts val="0"/>
              </a:spcBef>
              <a:spcAft>
                <a:spcPts val="0"/>
              </a:spcAft>
              <a:buNone/>
            </a:pPr>
            <a:r>
              <a:rPr sz="2025" b="0">
                <a:solidFill>
                  <a:srgbClr val="202322"/>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Repeat value and willingness to pay.</a:t>
            </a:r>
          </a:p>
          <a:p xmlns:a="http://schemas.openxmlformats.org/drawingml/2006/main">
            <a:pPr marL="0" indent="0">
              <a:lnSpc>
                <a:spcPct val="112000"/>
              </a:lnSpc>
              <a:spcBef>
                <a:spcPts val="0"/>
              </a:spcBef>
              <a:spcAft>
                <a:spcPts val="0"/>
              </a:spcAft>
              <a:buNone/>
            </a:pPr>
            <a:r>
              <a:rPr sz="2025" b="0">
                <a:solidFill>
                  <a:srgbClr val="202322"/>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2025" b="0">
                <a:solidFill>
                  <a:srgbClr val="202322"/>
                </a:solidFill>
                <a:latin typeface="Trebuchet MS"/>
                <a:ea typeface="Trebuchet MS"/>
                <a:cs typeface="Trebuchet MS"/>
              </a:defRPr>
            </a:pPr>
            <a:r>
              <a:rPr sz="2025" b="0">
                <a:solidFill>
                  <a:srgbClr val="202322"/>
                </a:solidFill>
                <a:latin typeface="Trebuchet MS"/>
                <a:ea typeface="Trebuchet MS"/>
                <a:cs typeface="Trebuchet MS"/>
              </a:rPr>
              <a:t>A viable cost and launch model.</a:t>
            </a:r>
          </a:p>
        </p:txBody>
      </p:sp>
      <p:sp>
        <p:nvSpPr>
          <p:cNvPr id="9" name="No confirmed customer traction, pricing, revenue or funding ask">
            <a:extLst xmlns:a="http://schemas.openxmlformats.org/drawingml/2006/main">
              <a:ext uri="{FF2B5EF4-FFF2-40B4-BE49-F238E27FC236}">
                <a16:creationId xmlns:a16="http://schemas.microsoft.com/office/drawing/2014/main" id="{14635B84-8CB4-44DE-B14F-1E31FE06C066}"/>
              </a:ext>
            </a:extLst>
          </p:cNvPr>
          <p:cNvSpPr>
            <a:spLocks xmlns:a="http://schemas.openxmlformats.org/drawingml/2006/main" noGrp="1"/>
          </p:cNvSpPr>
          <p:nvPr/>
        </p:nvSpPr>
        <p:spPr>
          <a:xfrm xmlns:a="http://schemas.openxmlformats.org/drawingml/2006/main">
            <a:off x="571500" y="52768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250" b="1">
                <a:solidFill>
                  <a:srgbClr val="D95520"/>
                </a:solidFill>
                <a:latin typeface="Trebuchet MS"/>
                <a:ea typeface="Trebuchet MS"/>
                <a:cs typeface="Trebuchet MS"/>
              </a:defRPr>
            </a:pPr>
            <a:r>
              <a:rPr sz="2250" b="1">
                <a:solidFill>
                  <a:srgbClr val="D95520"/>
                </a:solidFill>
                <a:latin typeface="Trebuchet MS"/>
                <a:ea typeface="Trebuchet MS"/>
                <a:cs typeface="Trebuchet MS"/>
              </a:rPr>
              <a:t>No confirmed customer traction, pricing, revenue or funding ask</a:t>
            </a:r>
          </a:p>
        </p:txBody>
      </p:sp>
    </p:spTree>
    <p:extLst>
      <p:ext uri="{BB962C8B-B14F-4D97-AF65-F5344CB8AC3E}">
        <p14:creationId xmlns:p14="http://schemas.microsoft.com/office/powerpoint/2010/main" val="1349921663"/>
      </p:ext>
    </p:extLst>
  </p:cSld>
</p:sld>
</file>

<file path=ppt/slides/slide17.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8" name="The team retrospective">
            <a:extLst xmlns:a="http://schemas.openxmlformats.org/drawingml/2006/main">
              <a:ext uri="{FF2B5EF4-FFF2-40B4-BE49-F238E27FC236}">
                <a16:creationId xmlns:a16="http://schemas.microsoft.com/office/drawing/2014/main" id="{88E3D767-17B3-495B-A15B-5E68F1E067A1}"/>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The team retrospective</a:t>
            </a:r>
          </a:p>
        </p:txBody>
      </p:sp>
      <p:sp>
        <p:nvSpPr>
          <p:cNvPr id="2" name="The personal part still needs our own accounts">
            <a:extLst xmlns:a="http://schemas.openxmlformats.org/drawingml/2006/main">
              <a:ext uri="{FF2B5EF4-FFF2-40B4-BE49-F238E27FC236}">
                <a16:creationId xmlns:a16="http://schemas.microsoft.com/office/drawing/2014/main" id="{7DA5CF33-8B96-4027-ACCD-228DEF2949C6}"/>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The personal part still needs our own accounts</a:t>
            </a:r>
          </a:p>
        </p:txBody>
      </p:sp>
      <p:sp>
        <p:nvSpPr>
          <p:cNvPr id="3" name="Bryant and Jia Hui">
            <a:extLst xmlns:a="http://schemas.openxmlformats.org/drawingml/2006/main">
              <a:ext uri="{FF2B5EF4-FFF2-40B4-BE49-F238E27FC236}">
                <a16:creationId xmlns:a16="http://schemas.microsoft.com/office/drawing/2014/main" id="{38CA92CA-C30D-40D6-AD37-45833CEE3A01}"/>
              </a:ext>
            </a:extLst>
          </p:cNvPr>
          <p:cNvSpPr>
            <a:spLocks xmlns:a="http://schemas.openxmlformats.org/drawingml/2006/main" noGrp="1"/>
          </p:cNvSpPr>
          <p:nvPr/>
        </p:nvSpPr>
        <p:spPr>
          <a:xfrm xmlns:a="http://schemas.openxmlformats.org/drawingml/2006/main">
            <a:off x="571500" y="17240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725" b="0">
                <a:solidFill>
                  <a:srgbClr val="59616B"/>
                </a:solidFill>
                <a:latin typeface="Trebuchet MS"/>
                <a:ea typeface="Trebuchet MS"/>
                <a:cs typeface="Trebuchet MS"/>
              </a:defRPr>
            </a:pPr>
            <a:r>
              <a:rPr sz="1725" b="0">
                <a:solidFill>
                  <a:srgbClr val="59616B"/>
                </a:solidFill>
                <a:latin typeface="Trebuchet MS"/>
                <a:ea typeface="Trebuchet MS"/>
                <a:cs typeface="Trebuchet MS"/>
              </a:rPr>
              <a:t>Bryant and Jia Hui</a:t>
            </a:r>
          </a:p>
        </p:txBody>
      </p:sp>
      <p:sp>
        <p:nvSpPr>
          <p:cNvPr id="4" name="Thesis   CP1001   9 October 2026">
            <a:extLst xmlns:a="http://schemas.openxmlformats.org/drawingml/2006/main">
              <a:ext uri="{FF2B5EF4-FFF2-40B4-BE49-F238E27FC236}">
                <a16:creationId xmlns:a16="http://schemas.microsoft.com/office/drawing/2014/main" id="{60BDB78E-35F8-40B3-A42B-9B83E8CEBC0B}"/>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5" name="17">
            <a:extLst xmlns:a="http://schemas.openxmlformats.org/drawingml/2006/main">
              <a:ext uri="{FF2B5EF4-FFF2-40B4-BE49-F238E27FC236}">
                <a16:creationId xmlns:a16="http://schemas.microsoft.com/office/drawing/2014/main" id="{36E04097-8387-4DC8-A2E7-321131025DD7}"/>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17</a:t>
            </a:r>
          </a:p>
        </p:txBody>
      </p:sp>
      <p:graphicFrame>
        <p:nvGraphicFramePr>
          <p:cNvPr id="13" name=""/>
          <p:cNvGraphicFramePr/>
          <p:nvPr/>
        </p:nvGraphicFramePr>
        <p:xfrm>
          <a:off xmlns:a="http://schemas.openxmlformats.org/drawingml/2006/main" x="571500" y="2419350"/>
          <a:ext xmlns:a="http://schemas.openxmlformats.org/drawingml/2006/main" cx="11049000" cy="3438525"/>
        </p:xfrm>
        <a:graphic xmlns:a="http://schemas.openxmlformats.org/drawingml/2006/main">
          <a:graphicData uri="http://schemas.openxmlformats.org/drawingml/2006/table">
            <a:tbl>
              <a:tblPr firstRow="1" bandRow="0" bandCol="0"/>
              <a:tblGrid>
                <a:gridCol w="2381250"/>
                <a:gridCol w="8667750"/>
              </a:tblGrid>
              <a:tr h="561975">
                <a:tc>
                  <a:txBody>
                    <a:bodyPr lIns="152400" tIns="95250" rIns="152400" bIns="95250">
                      <a:noAutofit/>
                    </a:bodyPr>
                    <a:lstStyle/>
                    <a:p>
                      <a:r>
                        <a:rPr sz="1950" b="1">
                          <a:solidFill>
                            <a:srgbClr val="FFFFFF"/>
                          </a:solidFill>
                          <a:latin typeface="Trebuchet MS"/>
                          <a:ea typeface="Trebuchet MS"/>
                          <a:cs typeface="Trebuchet MS"/>
                        </a:rPr>
                        <a:t>Area</a:t>
                      </a:r>
                    </a:p>
                  </a:txBody>
                  <a:tcPr marL="91440" marR="91440" marT="45720" marB="45720" anchor="ctr">
                    <a:solidFill>
                      <a:srgbClr val="304674"/>
                    </a:solidFill>
                  </a:tcPr>
                </a:tc>
                <a:tc>
                  <a:txBody>
                    <a:bodyPr lIns="152400" tIns="95250" rIns="152400" bIns="95250">
                      <a:noAutofit/>
                    </a:bodyPr>
                    <a:lstStyle/>
                    <a:p>
                      <a:r>
                        <a:rPr sz="1950" b="1">
                          <a:solidFill>
                            <a:srgbClr val="FFFFFF"/>
                          </a:solidFill>
                          <a:latin typeface="Trebuchet MS"/>
                          <a:ea typeface="Trebuchet MS"/>
                          <a:cs typeface="Trebuchet MS"/>
                        </a:rPr>
                        <a:t>A question for each of us</a:t>
                      </a:r>
                    </a:p>
                  </a:txBody>
                  <a:tcPr marL="91440" marR="91440" marT="45720" marB="45720" anchor="ctr">
                    <a:solidFill>
                      <a:srgbClr val="304674"/>
                    </a:solidFill>
                  </a:tcPr>
                </a:tc>
              </a:tr>
              <a:tr h="838200">
                <a:tc>
                  <a:txBody>
                    <a:bodyPr lIns="152400" tIns="95250" rIns="152400" bIns="95250">
                      <a:noAutofit/>
                    </a:bodyPr>
                    <a:lstStyle/>
                    <a:p>
                      <a:r>
                        <a:rPr sz="1950" b="0">
                          <a:solidFill>
                            <a:srgbClr val="202322"/>
                          </a:solidFill>
                          <a:latin typeface="Trebuchet MS"/>
                          <a:ea typeface="Trebuchet MS"/>
                          <a:cs typeface="Trebuchet MS"/>
                        </a:rPr>
                        <a:t>Founder</a:t>
                      </a:r>
                    </a:p>
                  </a:txBody>
                  <a:tcPr marL="91440" marR="91440" marT="45720" marB="45720" anchor="ctr">
                    <a:solidFill>
                      <a:srgbClr val="FFFFFF"/>
                    </a:solidFill>
                  </a:tcPr>
                </a:tc>
                <a:tc>
                  <a:txBody>
                    <a:bodyPr lIns="152400" tIns="95250" rIns="152400" bIns="95250">
                      <a:noAutofit/>
                    </a:bodyPr>
                    <a:lstStyle/>
                    <a:p>
                      <a:r>
                        <a:rPr sz="1950" b="0">
                          <a:solidFill>
                            <a:srgbClr val="202322"/>
                          </a:solidFill>
                          <a:latin typeface="Trebuchet MS"/>
                          <a:ea typeface="Trebuchet MS"/>
                          <a:cs typeface="Trebuchet MS"/>
                        </a:rPr>
                        <a:t>Which assumption did I change, and what evidence changed it?</a:t>
                      </a:r>
                    </a:p>
                  </a:txBody>
                  <a:tcPr marL="91440" marR="91440" marT="45720" marB="45720" anchor="ctr">
                    <a:solidFill>
                      <a:srgbClr val="FFFFFF"/>
                    </a:solidFill>
                  </a:tcPr>
                </a:tc>
              </a:tr>
              <a:tr h="1019175">
                <a:tc>
                  <a:txBody>
                    <a:bodyPr lIns="152400" tIns="95250" rIns="152400" bIns="95250">
                      <a:noAutofit/>
                    </a:bodyPr>
                    <a:lstStyle/>
                    <a:p>
                      <a:r>
                        <a:rPr sz="1950" b="0">
                          <a:solidFill>
                            <a:srgbClr val="202322"/>
                          </a:solidFill>
                          <a:latin typeface="Trebuchet MS"/>
                          <a:ea typeface="Trebuchet MS"/>
                          <a:cs typeface="Trebuchet MS"/>
                        </a:rPr>
                        <a:t>Teammate</a:t>
                      </a:r>
                    </a:p>
                  </a:txBody>
                  <a:tcPr marL="91440" marR="91440" marT="45720" marB="45720" anchor="ctr">
                    <a:solidFill>
                      <a:srgbClr val="E8EBE8"/>
                    </a:solidFill>
                  </a:tcPr>
                </a:tc>
                <a:tc>
                  <a:txBody>
                    <a:bodyPr lIns="152400" tIns="95250" rIns="152400" bIns="95250">
                      <a:noAutofit/>
                    </a:bodyPr>
                    <a:lstStyle/>
                    <a:p>
                      <a:r>
                        <a:rPr sz="1950" b="0">
                          <a:solidFill>
                            <a:srgbClr val="202322"/>
                          </a:solidFill>
                          <a:latin typeface="Trebuchet MS"/>
                          <a:ea typeface="Trebuchet MS"/>
                          <a:cs typeface="Trebuchet MS"/>
                        </a:rPr>
                        <a:t>Which handoff or disagreement affected our work?</a:t>
                      </a:r>
                    </a:p>
                    <a:p>
                      <a:r>
                        <a:rPr sz="1950" b="0">
                          <a:solidFill>
                            <a:srgbClr val="202322"/>
                          </a:solidFill>
                          <a:latin typeface="Trebuchet MS"/>
                          <a:ea typeface="Trebuchet MS"/>
                          <a:cs typeface="Trebuchet MS"/>
                        </a:rPr>
                        <a:t>What would I do differently next time?</a:t>
                      </a:r>
                    </a:p>
                  </a:txBody>
                  <a:tcPr marL="91440" marR="91440" marT="45720" marB="45720" anchor="ctr">
                    <a:solidFill>
                      <a:srgbClr val="E8EBE8"/>
                    </a:solidFill>
                  </a:tcPr>
                </a:tc>
              </a:tr>
              <a:tr h="1019175">
                <a:tc>
                  <a:txBody>
                    <a:bodyPr lIns="152400" tIns="95250" rIns="152400" bIns="95250">
                      <a:noAutofit/>
                    </a:bodyPr>
                    <a:lstStyle/>
                    <a:p>
                      <a:r>
                        <a:rPr sz="1950" b="0">
                          <a:solidFill>
                            <a:srgbClr val="202322"/>
                          </a:solidFill>
                          <a:latin typeface="Trebuchet MS"/>
                          <a:ea typeface="Trebuchet MS"/>
                          <a:cs typeface="Trebuchet MS"/>
                        </a:rPr>
                        <a:t>Person</a:t>
                      </a:r>
                    </a:p>
                  </a:txBody>
                  <a:tcPr marL="91440" marR="91440" marT="45720" marB="45720" anchor="ctr">
                    <a:solidFill>
                      <a:srgbClr val="FFFFFF"/>
                    </a:solidFill>
                  </a:tcPr>
                </a:tc>
                <a:tc>
                  <a:txBody>
                    <a:bodyPr lIns="152400" tIns="95250" rIns="152400" bIns="95250">
                      <a:noAutofit/>
                    </a:bodyPr>
                    <a:lstStyle/>
                    <a:p>
                      <a:r>
                        <a:rPr sz="1950" b="0">
                          <a:solidFill>
                            <a:srgbClr val="202322"/>
                          </a:solidFill>
                          <a:latin typeface="Trebuchet MS"/>
                          <a:ea typeface="Trebuchet MS"/>
                          <a:cs typeface="Trebuchet MS"/>
                        </a:rPr>
                        <a:t>What did this project reveal about how I handle</a:t>
                      </a:r>
                    </a:p>
                    <a:p>
                      <a:r>
                        <a:rPr sz="1950" b="0">
                          <a:solidFill>
                            <a:srgbClr val="202322"/>
                          </a:solidFill>
                          <a:latin typeface="Trebuchet MS"/>
                          <a:ea typeface="Trebuchet MS"/>
                          <a:cs typeface="Trebuchet MS"/>
                        </a:rPr>
                        <a:t>uncertainty, feedback or asking others for help?</a:t>
                      </a:r>
                    </a:p>
                  </a:txBody>
                  <a:tcPr marL="91440" marR="91440" marT="45720" marB="45720" anchor="ctr">
                    <a:solidFill>
                      <a:srgbClr val="FFFFFF"/>
                    </a:solidFill>
                  </a:tcPr>
                </a:tc>
              </a:tr>
            </a:tbl>
          </a:graphicData>
        </a:graphic>
      </p:graphicFrame>
      <p:sp>
        <p:nvSpPr>
          <p:cNvPr id="7" name="Personal accounts and self-scores await team reflection. Product">
            <a:extLst xmlns:a="http://schemas.openxmlformats.org/drawingml/2006/main">
              <a:ext uri="{FF2B5EF4-FFF2-40B4-BE49-F238E27FC236}">
                <a16:creationId xmlns:a16="http://schemas.microsoft.com/office/drawing/2014/main" id="{063CC7CC-E06D-497C-AB29-8E27CCBA67D0}"/>
              </a:ext>
            </a:extLst>
          </p:cNvPr>
          <p:cNvSpPr>
            <a:spLocks xmlns:a="http://schemas.openxmlformats.org/drawingml/2006/main" noGrp="1"/>
          </p:cNvSpPr>
          <p:nvPr/>
        </p:nvSpPr>
        <p:spPr>
          <a:xfrm xmlns:a="http://schemas.openxmlformats.org/drawingml/2006/main">
            <a:off x="571500" y="5915025"/>
            <a:ext cx="1100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500" b="0">
                <a:solidFill>
                  <a:srgbClr val="59616B"/>
                </a:solidFill>
                <a:latin typeface="Trebuchet MS"/>
                <a:ea typeface="Trebuchet MS"/>
                <a:cs typeface="Trebuchet MS"/>
              </a:defRPr>
            </a:pPr>
            <a:r>
              <a:rPr sz="1500" b="0">
                <a:solidFill>
                  <a:srgbClr val="59616B"/>
                </a:solidFill>
                <a:latin typeface="Trebuchet MS"/>
                <a:ea typeface="Trebuchet MS"/>
                <a:cs typeface="Trebuchet MS"/>
              </a:rPr>
              <a:t>Personal accounts and self-scores await team reflection. Product and execution lessons appear earlier.</a:t>
            </a:r>
          </a:p>
        </p:txBody>
      </p:sp>
    </p:spTree>
    <p:extLst>
      <p:ext uri="{BB962C8B-B14F-4D97-AF65-F5344CB8AC3E}">
        <p14:creationId xmlns:p14="http://schemas.microsoft.com/office/powerpoint/2010/main" val="1870333371"/>
      </p:ext>
    </p:extLst>
  </p:cSld>
</p:sld>
</file>

<file path=ppt/slides/slide18.xml><?xml version="1.0" encoding="utf-8"?>
<p:sld xmlns:p="http://schemas.openxmlformats.org/presentationml/2006/main">
  <p:cSld>
    <p:bg>
      <p:bgPr>
        <a:solidFill xmlns:a="http://schemas.openxmlformats.org/drawingml/2006/main">
          <a:srgbClr val="304674"/>
        </a:solidFill>
      </p:bgPr>
    </p:bg>
    <p:spTree>
      <p:nvGrpSpPr>
        <p:cNvPr id="1" name=""/>
        <p:cNvGrpSpPr/>
        <p:nvPr/>
      </p:nvGrpSpPr>
      <p:grpSpPr>
        <a:xfrm xmlns:a="http://schemas.openxmlformats.org/drawingml/2006/main"/>
      </p:grpSpPr>
      <p:sp>
        <p:nvSpPr>
          <p:cNvPr id="6" name="THESIS">
            <a:extLst xmlns:a="http://schemas.openxmlformats.org/drawingml/2006/main">
              <a:ext uri="{FF2B5EF4-FFF2-40B4-BE49-F238E27FC236}">
                <a16:creationId xmlns:a16="http://schemas.microsoft.com/office/drawing/2014/main" id="{F1EF8BEC-8161-4D70-B382-D540005D848A}"/>
              </a:ext>
            </a:extLst>
          </p:cNvPr>
          <p:cNvSpPr>
            <a:spLocks xmlns:a="http://schemas.openxmlformats.org/drawingml/2006/main" noGrp="1"/>
          </p:cNvSpPr>
          <p:nvPr/>
        </p:nvSpPr>
        <p:spPr>
          <a:xfrm xmlns:a="http://schemas.openxmlformats.org/drawingml/2006/main">
            <a:off x="628650" y="4667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800" b="1">
                <a:solidFill>
                  <a:srgbClr val="FFFFFF"/>
                </a:solidFill>
                <a:latin typeface="Trebuchet MS"/>
                <a:ea typeface="Trebuchet MS"/>
                <a:cs typeface="Trebuchet MS"/>
              </a:defRPr>
            </a:pPr>
            <a:r>
              <a:rPr sz="1800" b="1">
                <a:solidFill>
                  <a:srgbClr val="FFFFFF"/>
                </a:solidFill>
                <a:latin typeface="Trebuchet MS"/>
                <a:ea typeface="Trebuchet MS"/>
                <a:cs typeface="Trebuchet MS"/>
              </a:rPr>
              <a:t>THESIS</a:t>
            </a:r>
          </a:p>
        </p:txBody>
      </p:sp>
      <p:sp>
        <p:nvSpPr>
          <p:cNvPr id="2" name="Our next evidence&#10;comes from people&#10;using the loop">
            <a:extLst xmlns:a="http://schemas.openxmlformats.org/drawingml/2006/main">
              <a:ext uri="{FF2B5EF4-FFF2-40B4-BE49-F238E27FC236}">
                <a16:creationId xmlns:a16="http://schemas.microsoft.com/office/drawing/2014/main" id="{297323AA-8D8A-4072-B4F9-BA10B980CA94}"/>
              </a:ext>
            </a:extLst>
          </p:cNvPr>
          <p:cNvSpPr>
            <a:spLocks xmlns:a="http://schemas.openxmlformats.org/drawingml/2006/main" noGrp="1"/>
          </p:cNvSpPr>
          <p:nvPr/>
        </p:nvSpPr>
        <p:spPr>
          <a:xfrm xmlns:a="http://schemas.openxmlformats.org/drawingml/2006/main">
            <a:off x="628650" y="1733550"/>
            <a:ext cx="1076325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4875" b="1">
                <a:solidFill>
                  <a:srgbClr val="FFFFFF"/>
                </a:solidFill>
                <a:latin typeface="Trebuchet MS"/>
                <a:ea typeface="Trebuchet MS"/>
                <a:cs typeface="Trebuchet MS"/>
              </a:defRPr>
            </a:pPr>
            <a:r>
              <a:rPr sz="4875" b="1">
                <a:solidFill>
                  <a:srgbClr val="FFFFFF"/>
                </a:solidFill>
                <a:latin typeface="Trebuchet MS"/>
                <a:ea typeface="Trebuchet MS"/>
                <a:cs typeface="Trebuchet MS"/>
              </a:rPr>
              <a:t>Our next evidence</a:t>
            </a:r>
          </a:p>
          <a:p xmlns:a="http://schemas.openxmlformats.org/drawingml/2006/main">
            <a:pPr marL="0" indent="0" algn="l">
              <a:lnSpc>
                <a:spcPct val="112000"/>
              </a:lnSpc>
              <a:spcBef>
                <a:spcPts val="0"/>
              </a:spcBef>
              <a:spcAft>
                <a:spcPts val="0"/>
              </a:spcAft>
              <a:buNone/>
              <a:defRPr sz="4875" b="1">
                <a:solidFill>
                  <a:srgbClr val="FFFFFF"/>
                </a:solidFill>
                <a:latin typeface="Trebuchet MS"/>
                <a:ea typeface="Trebuchet MS"/>
                <a:cs typeface="Trebuchet MS"/>
              </a:defRPr>
            </a:pPr>
            <a:r>
              <a:rPr sz="4875" b="1">
                <a:solidFill>
                  <a:srgbClr val="FFFFFF"/>
                </a:solidFill>
                <a:latin typeface="Trebuchet MS"/>
                <a:ea typeface="Trebuchet MS"/>
                <a:cs typeface="Trebuchet MS"/>
              </a:rPr>
              <a:t>comes from people</a:t>
            </a:r>
          </a:p>
          <a:p xmlns:a="http://schemas.openxmlformats.org/drawingml/2006/main">
            <a:pPr marL="0" indent="0" algn="l">
              <a:lnSpc>
                <a:spcPct val="112000"/>
              </a:lnSpc>
              <a:spcBef>
                <a:spcPts val="0"/>
              </a:spcBef>
              <a:spcAft>
                <a:spcPts val="0"/>
              </a:spcAft>
              <a:buNone/>
              <a:defRPr sz="4875" b="1">
                <a:solidFill>
                  <a:srgbClr val="FFFFFF"/>
                </a:solidFill>
                <a:latin typeface="Trebuchet MS"/>
                <a:ea typeface="Trebuchet MS"/>
                <a:cs typeface="Trebuchet MS"/>
              </a:defRPr>
            </a:pPr>
            <a:r>
              <a:rPr sz="4875" b="1">
                <a:solidFill>
                  <a:srgbClr val="FFFFFF"/>
                </a:solidFill>
                <a:latin typeface="Trebuchet MS"/>
                <a:ea typeface="Trebuchet MS"/>
                <a:cs typeface="Trebuchet MS"/>
              </a:rPr>
              <a:t>using the loop</a:t>
            </a:r>
          </a:p>
        </p:txBody>
      </p:sp>
      <p:sp>
        <p:nvSpPr>
          <p:cNvPr id="3" name="Can someone explain an idea, question it&#10;and return to it when t">
            <a:extLst xmlns:a="http://schemas.openxmlformats.org/drawingml/2006/main">
              <a:ext uri="{FF2B5EF4-FFF2-40B4-BE49-F238E27FC236}">
                <a16:creationId xmlns:a16="http://schemas.microsoft.com/office/drawing/2014/main" id="{E5AB522E-8A0A-471A-B51D-5447F7E3C0C3}"/>
              </a:ext>
            </a:extLst>
          </p:cNvPr>
          <p:cNvSpPr>
            <a:spLocks xmlns:a="http://schemas.openxmlformats.org/drawingml/2006/main" noGrp="1"/>
          </p:cNvSpPr>
          <p:nvPr/>
        </p:nvSpPr>
        <p:spPr>
          <a:xfrm xmlns:a="http://schemas.openxmlformats.org/drawingml/2006/main">
            <a:off x="666750" y="44767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550" b="0">
                <a:solidFill>
                  <a:srgbClr val="FFFFFF"/>
                </a:solidFill>
                <a:latin typeface="Trebuchet MS"/>
                <a:ea typeface="Trebuchet MS"/>
                <a:cs typeface="Trebuchet MS"/>
              </a:defRPr>
            </a:pPr>
            <a:r>
              <a:rPr sz="2550" b="0">
                <a:solidFill>
                  <a:srgbClr val="FFFFFF"/>
                </a:solidFill>
                <a:latin typeface="Trebuchet MS"/>
                <a:ea typeface="Trebuchet MS"/>
                <a:cs typeface="Trebuchet MS"/>
              </a:rPr>
              <a:t>Can someone explain an idea, question it</a:t>
            </a:r>
          </a:p>
          <a:p xmlns:a="http://schemas.openxmlformats.org/drawingml/2006/main">
            <a:pPr marL="0" indent="0" algn="l">
              <a:lnSpc>
                <a:spcPct val="112000"/>
              </a:lnSpc>
              <a:spcBef>
                <a:spcPts val="0"/>
              </a:spcBef>
              <a:spcAft>
                <a:spcPts val="0"/>
              </a:spcAft>
              <a:buNone/>
              <a:defRPr sz="2550" b="0">
                <a:solidFill>
                  <a:srgbClr val="FFFFFF"/>
                </a:solidFill>
                <a:latin typeface="Trebuchet MS"/>
                <a:ea typeface="Trebuchet MS"/>
                <a:cs typeface="Trebuchet MS"/>
              </a:defRPr>
            </a:pPr>
            <a:r>
              <a:rPr sz="2550" b="0">
                <a:solidFill>
                  <a:srgbClr val="FFFFFF"/>
                </a:solidFill>
                <a:latin typeface="Trebuchet MS"/>
                <a:ea typeface="Trebuchet MS"/>
                <a:cs typeface="Trebuchet MS"/>
              </a:rPr>
              <a:t>and return to it when the evidence changes?</a:t>
            </a:r>
          </a:p>
        </p:txBody>
      </p:sp>
      <p:sp>
        <p:nvSpPr>
          <p:cNvPr id="4" name="Bryant   &amp;   Jia Hui">
            <a:extLst xmlns:a="http://schemas.openxmlformats.org/drawingml/2006/main">
              <a:ext uri="{FF2B5EF4-FFF2-40B4-BE49-F238E27FC236}">
                <a16:creationId xmlns:a16="http://schemas.microsoft.com/office/drawing/2014/main" id="{13FA8948-31E4-47B9-B941-107B29BFD172}"/>
              </a:ext>
            </a:extLst>
          </p:cNvPr>
          <p:cNvSpPr>
            <a:spLocks xmlns:a="http://schemas.openxmlformats.org/drawingml/2006/main" noGrp="1"/>
          </p:cNvSpPr>
          <p:nvPr/>
        </p:nvSpPr>
        <p:spPr>
          <a:xfrm xmlns:a="http://schemas.openxmlformats.org/drawingml/2006/main">
            <a:off x="666750"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2100" b="0">
                <a:solidFill>
                  <a:srgbClr val="FFFFFF"/>
                </a:solidFill>
                <a:latin typeface="Trebuchet MS"/>
                <a:ea typeface="Trebuchet MS"/>
                <a:cs typeface="Trebuchet MS"/>
              </a:defRPr>
            </a:pPr>
            <a:r>
              <a:rPr sz="2100" b="0">
                <a:solidFill>
                  <a:srgbClr val="FFFFFF"/>
                </a:solidFill>
                <a:latin typeface="Trebuchet MS"/>
                <a:ea typeface="Trebuchet MS"/>
                <a:cs typeface="Trebuchet MS"/>
              </a:rPr>
              <a:t>Bryant   &amp;   Jia Hui</a:t>
            </a:r>
          </a:p>
        </p:txBody>
      </p:sp>
      <p:sp>
        <p:nvSpPr>
          <p:cNvPr id="5" name="Progress at 9 October 2026">
            <a:extLst xmlns:a="http://schemas.openxmlformats.org/drawingml/2006/main">
              <a:ext uri="{FF2B5EF4-FFF2-40B4-BE49-F238E27FC236}">
                <a16:creationId xmlns:a16="http://schemas.microsoft.com/office/drawing/2014/main" id="{FBF449B1-C2FE-4C4F-A390-E460DBB20029}"/>
              </a:ext>
            </a:extLst>
          </p:cNvPr>
          <p:cNvSpPr>
            <a:spLocks xmlns:a="http://schemas.openxmlformats.org/drawingml/2006/main" noGrp="1"/>
          </p:cNvSpPr>
          <p:nvPr/>
        </p:nvSpPr>
        <p:spPr>
          <a:xfrm xmlns:a="http://schemas.openxmlformats.org/drawingml/2006/main">
            <a:off x="666750" y="64293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0">
                <a:solidFill>
                  <a:srgbClr val="D9E0EF"/>
                </a:solidFill>
                <a:latin typeface="Trebuchet MS"/>
                <a:ea typeface="Trebuchet MS"/>
                <a:cs typeface="Trebuchet MS"/>
              </a:defRPr>
            </a:pPr>
            <a:r>
              <a:rPr sz="1350" b="0">
                <a:solidFill>
                  <a:srgbClr val="D9E0EF"/>
                </a:solidFill>
                <a:latin typeface="Trebuchet MS"/>
                <a:ea typeface="Trebuchet MS"/>
                <a:cs typeface="Trebuchet MS"/>
              </a:rPr>
              <a:t>Progress at 9 October 2026</a:t>
            </a:r>
          </a:p>
        </p:txBody>
      </p:sp>
    </p:spTree>
    <p:extLst>
      <p:ext uri="{BB962C8B-B14F-4D97-AF65-F5344CB8AC3E}">
        <p14:creationId xmlns:p14="http://schemas.microsoft.com/office/powerpoint/2010/main" val="1881412765"/>
      </p:ext>
    </p:extLst>
  </p:cSld>
</p:sld>
</file>

<file path=ppt/slides/slide19.xml><?xml version="1.0" encoding="utf-8"?>
<p:sld xmlns:p="http://schemas.openxmlformats.org/presentationml/2006/main">
  <p:cSld>
    <p:bg>
      <p:bgPr>
        <a:solidFill xmlns:a="http://schemas.openxmlformats.org/drawingml/2006/main">
          <a:srgbClr val="F2F3ED"/>
        </a:solidFill>
      </p:bgPr>
    </p:bg>
    <p:spTree>
      <p:nvGrpSpPr>
        <p:cNvPr id="1" name=""/>
        <p:cNvGrpSpPr/>
        <p:nvPr/>
      </p:nvGrpSpPr>
      <p:grpSpPr>
        <a:xfrm xmlns:a="http://schemas.openxmlformats.org/drawingml/2006/main"/>
      </p:grpSpPr>
      <p:sp>
        <p:nvSpPr>
          <p:cNvPr id="7" name="Appendix">
            <a:extLst xmlns:a="http://schemas.openxmlformats.org/drawingml/2006/main">
              <a:ext uri="{FF2B5EF4-FFF2-40B4-BE49-F238E27FC236}">
                <a16:creationId xmlns:a16="http://schemas.microsoft.com/office/drawing/2014/main" id="{673B94E0-7E09-40AB-8D47-818FF4127AC1}"/>
              </a:ext>
            </a:extLst>
          </p:cNvPr>
          <p:cNvSpPr>
            <a:spLocks xmlns:a="http://schemas.openxmlformats.org/drawingml/2006/main" noGrp="1"/>
          </p:cNvSpPr>
          <p:nvPr/>
        </p:nvSpPr>
        <p:spPr>
          <a:xfrm xmlns:a="http://schemas.openxmlformats.org/drawingml/2006/main">
            <a:off x="571500" y="2762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350" b="1">
                <a:solidFill>
                  <a:srgbClr val="435D94"/>
                </a:solidFill>
                <a:latin typeface="Trebuchet MS"/>
                <a:ea typeface="Trebuchet MS"/>
                <a:cs typeface="Trebuchet MS"/>
              </a:defRPr>
            </a:pPr>
            <a:r>
              <a:rPr sz="1350" b="1">
                <a:solidFill>
                  <a:srgbClr val="435D94"/>
                </a:solidFill>
                <a:latin typeface="Trebuchet MS"/>
                <a:ea typeface="Trebuchet MS"/>
                <a:cs typeface="Trebuchet MS"/>
              </a:rPr>
              <a:t>Appendix</a:t>
            </a:r>
          </a:p>
        </p:txBody>
      </p:sp>
      <p:sp>
        <p:nvSpPr>
          <p:cNvPr id="2" name="The original planning map">
            <a:extLst xmlns:a="http://schemas.openxmlformats.org/drawingml/2006/main">
              <a:ext uri="{FF2B5EF4-FFF2-40B4-BE49-F238E27FC236}">
                <a16:creationId xmlns:a16="http://schemas.microsoft.com/office/drawing/2014/main" id="{B47A447C-3821-4F1F-AA3D-4DBCBD7D3F70}"/>
              </a:ext>
            </a:extLst>
          </p:cNvPr>
          <p:cNvSpPr>
            <a:spLocks xmlns:a="http://schemas.openxmlformats.org/drawingml/2006/main" noGrp="1"/>
          </p:cNvSpPr>
          <p:nvPr/>
        </p:nvSpPr>
        <p:spPr>
          <a:xfrm xmlns:a="http://schemas.openxmlformats.org/drawingml/2006/main">
            <a:off x="571500" y="6667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3225" b="1">
                <a:solidFill>
                  <a:srgbClr val="202322"/>
                </a:solidFill>
                <a:latin typeface="Trebuchet MS"/>
                <a:ea typeface="Trebuchet MS"/>
                <a:cs typeface="Trebuchet MS"/>
              </a:defRPr>
            </a:pPr>
            <a:r>
              <a:rPr sz="3225" b="1">
                <a:solidFill>
                  <a:srgbClr val="202322"/>
                </a:solidFill>
                <a:latin typeface="Trebuchet MS"/>
                <a:ea typeface="Trebuchet MS"/>
                <a:cs typeface="Trebuchet MS"/>
              </a:rPr>
              <a:t>The original planning map</a:t>
            </a:r>
          </a:p>
        </p:txBody>
      </p:sp>
      <p:sp>
        <p:nvSpPr>
          <p:cNvPr id="3" name="Thesis   CP1001   9 October 2026">
            <a:extLst xmlns:a="http://schemas.openxmlformats.org/drawingml/2006/main">
              <a:ext uri="{FF2B5EF4-FFF2-40B4-BE49-F238E27FC236}">
                <a16:creationId xmlns:a16="http://schemas.microsoft.com/office/drawing/2014/main" id="{4721D48B-9971-40BF-8B25-D0C086AA6233}"/>
              </a:ext>
            </a:extLst>
          </p:cNvPr>
          <p:cNvSpPr>
            <a:spLocks xmlns:a="http://schemas.openxmlformats.org/drawingml/2006/main" noGrp="1"/>
          </p:cNvSpPr>
          <p:nvPr/>
        </p:nvSpPr>
        <p:spPr>
          <a:xfrm xmlns:a="http://schemas.openxmlformats.org/drawingml/2006/main">
            <a:off x="571500" y="6429375"/>
            <a:ext cx="1000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Thesis   CP1001   9 October 2026</a:t>
            </a:r>
          </a:p>
        </p:txBody>
      </p:sp>
      <p:sp>
        <p:nvSpPr>
          <p:cNvPr id="4" name="19">
            <a:extLst xmlns:a="http://schemas.openxmlformats.org/drawingml/2006/main">
              <a:ext uri="{FF2B5EF4-FFF2-40B4-BE49-F238E27FC236}">
                <a16:creationId xmlns:a16="http://schemas.microsoft.com/office/drawing/2014/main" id="{E5F0C08E-DFAC-404C-928D-1F491CDF0065}"/>
              </a:ext>
            </a:extLst>
          </p:cNvPr>
          <p:cNvSpPr>
            <a:spLocks xmlns:a="http://schemas.openxmlformats.org/drawingml/2006/main" noGrp="1"/>
          </p:cNvSpPr>
          <p:nvPr/>
        </p:nvSpPr>
        <p:spPr>
          <a:xfrm xmlns:a="http://schemas.openxmlformats.org/drawingml/2006/main">
            <a:off x="11068050" y="64293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ct val="112000"/>
              </a:lnSpc>
              <a:spcBef>
                <a:spcPts val="0"/>
              </a:spcBef>
              <a:spcAft>
                <a:spcPts val="0"/>
              </a:spcAft>
              <a:buNone/>
              <a:defRPr sz="1200" b="0">
                <a:solidFill>
                  <a:srgbClr val="59616B"/>
                </a:solidFill>
                <a:latin typeface="Trebuchet MS"/>
                <a:ea typeface="Trebuchet MS"/>
                <a:cs typeface="Trebuchet MS"/>
              </a:defRPr>
            </a:pPr>
            <a:r>
              <a:rPr sz="1200" b="0">
                <a:solidFill>
                  <a:srgbClr val="59616B"/>
                </a:solidFill>
                <a:latin typeface="Trebuchet MS"/>
                <a:ea typeface="Trebuchet MS"/>
                <a:cs typeface="Trebuchet MS"/>
              </a:rPr>
              <a:t>19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d1a2506368d40a7"/>
          <a:stretch xmlns:a="http://schemas.openxmlformats.org/drawingml/2006/main"/>
        </p:blipFill>
        <p:spPr>
          <a:xfrm xmlns:a="http://schemas.openxmlformats.org/drawingml/2006/main">
            <a:off x="2950234" y="1533525"/>
            <a:ext cx="6291533" cy="4895850"/>
          </a:xfrm>
          <a:prstGeom xmlns:a="http://schemas.openxmlformats.org/drawingml/2006/main" prst="rect">
            <a:avLst/>
          </a:prstGeom>
        </p:spPr>
      </p:pic>
      <p:sp>
        <p:nvSpPr>
          <p:cNvPr id="6" name="Original labels shown.&#10;Slide 12 updates build status.&#10;&#10;The emoti">
            <a:extLst xmlns:a="http://schemas.openxmlformats.org/drawingml/2006/main">
              <a:ext uri="{FF2B5EF4-FFF2-40B4-BE49-F238E27FC236}">
                <a16:creationId xmlns:a16="http://schemas.microsoft.com/office/drawing/2014/main" id="{21D1E3FB-E57C-44AA-8F3C-D009F39C5B9E}"/>
              </a:ext>
            </a:extLst>
          </p:cNvPr>
          <p:cNvSpPr>
            <a:spLocks xmlns:a="http://schemas.openxmlformats.org/drawingml/2006/main" noGrp="1"/>
          </p:cNvSpPr>
          <p:nvPr/>
        </p:nvSpPr>
        <p:spPr>
          <a:xfrm xmlns:a="http://schemas.openxmlformats.org/drawingml/2006/main">
            <a:off x="571500" y="2714625"/>
            <a:ext cx="19240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12000"/>
              </a:lnSpc>
              <a:spcBef>
                <a:spcPts val="0"/>
              </a:spcBef>
              <a:spcAft>
                <a:spcPts val="0"/>
              </a:spcAft>
              <a:buNone/>
              <a:defRPr sz="1650" b="0">
                <a:solidFill>
                  <a:srgbClr val="59616B"/>
                </a:solidFill>
                <a:latin typeface="Trebuchet MS"/>
                <a:ea typeface="Trebuchet MS"/>
                <a:cs typeface="Trebuchet MS"/>
              </a:defRPr>
            </a:pPr>
            <a:r>
              <a:rPr sz="1650" b="0">
                <a:solidFill>
                  <a:srgbClr val="59616B"/>
                </a:solidFill>
                <a:latin typeface="Trebuchet MS"/>
                <a:ea typeface="Trebuchet MS"/>
                <a:cs typeface="Trebuchet MS"/>
              </a:rPr>
              <a:t>Original labels shown.</a:t>
            </a:r>
          </a:p>
          <a:p xmlns:a="http://schemas.openxmlformats.org/drawingml/2006/main">
            <a:pPr marL="0" indent="0" algn="l">
              <a:lnSpc>
                <a:spcPct val="112000"/>
              </a:lnSpc>
              <a:spcBef>
                <a:spcPts val="0"/>
              </a:spcBef>
              <a:spcAft>
                <a:spcPts val="0"/>
              </a:spcAft>
              <a:buNone/>
              <a:defRPr sz="1650" b="0">
                <a:solidFill>
                  <a:srgbClr val="59616B"/>
                </a:solidFill>
                <a:latin typeface="Trebuchet MS"/>
                <a:ea typeface="Trebuchet MS"/>
                <a:cs typeface="Trebuchet MS"/>
              </a:defRPr>
            </a:pPr>
            <a:r>
              <a:rPr sz="1650" b="0">
                <a:solidFill>
                  <a:srgbClr val="59616B"/>
                </a:solidFill>
                <a:latin typeface="Trebuchet MS"/>
                <a:ea typeface="Trebuchet MS"/>
                <a:cs typeface="Trebuchet MS"/>
              </a:rPr>
              <a:t>Slide 12 updates build status.</a:t>
            </a:r>
          </a:p>
          <a:p xmlns:a="http://schemas.openxmlformats.org/drawingml/2006/main">
            <a:pPr marL="0" indent="0">
              <a:lnSpc>
                <a:spcPct val="112000"/>
              </a:lnSpc>
              <a:spcBef>
                <a:spcPts val="0"/>
              </a:spcBef>
              <a:spcAft>
                <a:spcPts val="0"/>
              </a:spcAft>
              <a:buNone/>
            </a:pPr>
            <a:r>
              <a:rPr sz="1650" b="0">
                <a:solidFill>
                  <a:srgbClr val="59616B"/>
                </a:solidFill>
                <a:latin typeface="Trebuchet MS"/>
                <a:ea typeface="Trebuchet MS"/>
                <a:cs typeface="Trebuchet MS"/>
              </a:rPr>
              <a:t/>
            </a:r>
          </a:p>
          <a:p xmlns:a="http://schemas.openxmlformats.org/drawingml/2006/main">
            <a:pPr marL="0" indent="0" algn="l">
              <a:lnSpc>
                <a:spcPct val="112000"/>
              </a:lnSpc>
              <a:spcBef>
                <a:spcPts val="0"/>
              </a:spcBef>
              <a:spcAft>
                <a:spcPts val="0"/>
              </a:spcAft>
              <a:buNone/>
              <a:defRPr sz="1650" b="0">
                <a:solidFill>
                  <a:srgbClr val="59616B"/>
                </a:solidFill>
                <a:latin typeface="Trebuchet MS"/>
                <a:ea typeface="Trebuchet MS"/>
                <a:cs typeface="Trebuchet MS"/>
              </a:defRPr>
            </a:pPr>
            <a:r>
              <a:rPr sz="1650" b="0">
                <a:solidFill>
                  <a:srgbClr val="59616B"/>
                </a:solidFill>
                <a:latin typeface="Trebuchet MS"/>
                <a:ea typeface="Trebuchet MS"/>
                <a:cs typeface="Trebuchet MS"/>
              </a:rPr>
              <a:t>The emotion curve is</a:t>
            </a:r>
          </a:p>
          <a:p xmlns:a="http://schemas.openxmlformats.org/drawingml/2006/main">
            <a:pPr marL="0" indent="0" algn="l">
              <a:lnSpc>
                <a:spcPct val="112000"/>
              </a:lnSpc>
              <a:spcBef>
                <a:spcPts val="0"/>
              </a:spcBef>
              <a:spcAft>
                <a:spcPts val="0"/>
              </a:spcAft>
              <a:buNone/>
              <a:defRPr sz="1650" b="0">
                <a:solidFill>
                  <a:srgbClr val="59616B"/>
                </a:solidFill>
                <a:latin typeface="Trebuchet MS"/>
                <a:ea typeface="Trebuchet MS"/>
                <a:cs typeface="Trebuchet MS"/>
              </a:defRPr>
            </a:pPr>
            <a:r>
              <a:rPr sz="1650" b="0">
                <a:solidFill>
                  <a:srgbClr val="59616B"/>
                </a:solidFill>
                <a:latin typeface="Trebuchet MS"/>
                <a:ea typeface="Trebuchet MS"/>
                <a:cs typeface="Trebuchet MS"/>
              </a:rPr>
              <a:t>a design hypothesis.</a:t>
            </a:r>
          </a:p>
        </p:txBody>
      </p:sp>
    </p:spTree>
    <p:extLst>
      <p:ext uri="{BB962C8B-B14F-4D97-AF65-F5344CB8AC3E}">
        <p14:creationId xmlns:p14="http://schemas.microsoft.com/office/powerpoint/2010/main" val="1855020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2026-10-09T09:52:59.5890000Z</dcterms:created>
  <dcterms:modified xsi:type="dcterms:W3CDTF">2026-10-09T09:52:59.5890000Z</dcterms:modified>
</coreProperties>
</file>