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d00e819369542f2" /><Relationship Type="http://schemas.openxmlformats.org/officeDocument/2006/relationships/extended-properties" Target="/docProps/app.xml" Id="R8c34a05ef37a4879" /><Relationship Type="http://schemas.openxmlformats.org/officeDocument/2006/relationships/officeDocument" Target="/ppt/presentation.xml" Id="R4546b14660e84b6a"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c9b7583f6e4c4d95"/>
  </p:sldMasterIdLst>
  <p:notesMasterIdLst>
    <p:notesMasterId xmlns:r="http://schemas.openxmlformats.org/officeDocument/2006/relationships" r:id="R881147b37e5c4684"/>
  </p:notesMasterIdLst>
  <p:sldIdLst>
    <p:sldId xmlns:r="http://schemas.openxmlformats.org/officeDocument/2006/relationships" id="256" r:id="Rf2f17bbdb7d54af2"/>
    <p:sldId xmlns:r="http://schemas.openxmlformats.org/officeDocument/2006/relationships" id="257" r:id="R33129af538ff4024"/>
    <p:sldId xmlns:r="http://schemas.openxmlformats.org/officeDocument/2006/relationships" id="258" r:id="R29776818c3a14f4b"/>
    <p:sldId xmlns:r="http://schemas.openxmlformats.org/officeDocument/2006/relationships" id="259" r:id="Rfba21cbca87d4dd2"/>
    <p:sldId xmlns:r="http://schemas.openxmlformats.org/officeDocument/2006/relationships" id="260" r:id="Rccf2942b542943a7"/>
    <p:sldId xmlns:r="http://schemas.openxmlformats.org/officeDocument/2006/relationships" id="261" r:id="R3d5745944bf24056"/>
    <p:sldId xmlns:r="http://schemas.openxmlformats.org/officeDocument/2006/relationships" id="262" r:id="R440a257a71464f64"/>
    <p:sldId xmlns:r="http://schemas.openxmlformats.org/officeDocument/2006/relationships" id="263" r:id="R0e9ed72165954f2a"/>
    <p:sldId xmlns:r="http://schemas.openxmlformats.org/officeDocument/2006/relationships" id="264" r:id="R597a0ad2f6fe4401"/>
    <p:sldId xmlns:r="http://schemas.openxmlformats.org/officeDocument/2006/relationships" id="265" r:id="Rbd4f59c6f5964874"/>
    <p:sldId xmlns:r="http://schemas.openxmlformats.org/officeDocument/2006/relationships" id="266" r:id="Reb297d73f69e4fcc"/>
    <p:sldId xmlns:r="http://schemas.openxmlformats.org/officeDocument/2006/relationships" id="267" r:id="R10137aa33f1840d5"/>
    <p:sldId xmlns:r="http://schemas.openxmlformats.org/officeDocument/2006/relationships" id="268" r:id="R8a286f9237384fb6"/>
    <p:sldId xmlns:r="http://schemas.openxmlformats.org/officeDocument/2006/relationships" id="269" r:id="R00b77696217b4f2d"/>
    <p:sldId xmlns:r="http://schemas.openxmlformats.org/officeDocument/2006/relationships" id="270" r:id="R412770eadfd14d03"/>
    <p:sldId xmlns:r="http://schemas.openxmlformats.org/officeDocument/2006/relationships" id="271" r:id="R3b4e56d4ecad4c74"/>
    <p:sldId xmlns:r="http://schemas.openxmlformats.org/officeDocument/2006/relationships" id="272" r:id="Rabf802abda994ad9"/>
  </p:sldIdLst>
  <p:sldSz cx="9144000" cy="5143500"/>
  <p:notesSz cx="6858000" cy="9144000"/>
  <p:embeddedFontLst>
    <p:embeddedFont>
      <p:font typeface="Montserrat"/>
      <p:regular xmlns:r="http://schemas.openxmlformats.org/officeDocument/2006/relationships" r:id="Rd572733a0a464f09"/>
      <p:bold xmlns:r="http://schemas.openxmlformats.org/officeDocument/2006/relationships" r:id="R812c8dc950024bf4"/>
      <p:italic xmlns:r="http://schemas.openxmlformats.org/officeDocument/2006/relationships" r:id="R4508b18857564060"/>
      <p:boldItalic xmlns:r="http://schemas.openxmlformats.org/officeDocument/2006/relationships" r:id="R34824cab34394235"/>
    </p:embeddedFont>
    <p:embeddedFont>
      <p:font typeface="Work Sans"/>
      <p:regular xmlns:r="http://schemas.openxmlformats.org/officeDocument/2006/relationships" r:id="R763f97ce1aae4fc8"/>
      <p:bold xmlns:r="http://schemas.openxmlformats.org/officeDocument/2006/relationships" r:id="Ra050420301d449b2"/>
      <p:italic xmlns:r="http://schemas.openxmlformats.org/officeDocument/2006/relationships" r:id="Rf618564415064895"/>
      <p:boldItalic xmlns:r="http://schemas.openxmlformats.org/officeDocument/2006/relationships" r:id="R9065f2286654476b"/>
    </p:embeddedFont>
    <p:embeddedFont>
      <p:font typeface="Ubuntu Mono"/>
      <p:regular xmlns:r="http://schemas.openxmlformats.org/officeDocument/2006/relationships" r:id="R12ce033c7a194f27"/>
      <p:bold xmlns:r="http://schemas.openxmlformats.org/officeDocument/2006/relationships" r:id="Ra64abc78765e4964"/>
      <p:italic xmlns:r="http://schemas.openxmlformats.org/officeDocument/2006/relationships" r:id="R66ab908e0b5e4352"/>
      <p:boldItalic xmlns:r="http://schemas.openxmlformats.org/officeDocument/2006/relationships" r:id="Rbbb01f9db6574d60"/>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F84A22A4-86AB-4381-8BE0-45CB3C2ADC61}">
  <a:tblStyle styleId="{F84A22A4-86AB-4381-8BE0-45CB3C2ADC6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5b65e72bdaa54ae6" /><Relationship Type="http://schemas.openxmlformats.org/officeDocument/2006/relationships/slideMaster" Target="/ppt/slideMasters/slideMaster1.xml" Id="Rc9b7583f6e4c4d95" /><Relationship Type="http://schemas.openxmlformats.org/officeDocument/2006/relationships/notesMaster" Target="/ppt/notesMasters/notesMaster1.xml" Id="R881147b37e5c4684" /><Relationship Type="http://schemas.openxmlformats.org/officeDocument/2006/relationships/presProps" Target="/ppt/presProps.xml" Id="Rf202f93c33fd4671" /><Relationship Type="http://schemas.openxmlformats.org/officeDocument/2006/relationships/viewProps" Target="/ppt/viewProps.xml" Id="R8d107e912e1b4419" /><Relationship Type="http://schemas.openxmlformats.org/officeDocument/2006/relationships/tableStyles" Target="/ppt/tableStyles.xml" Id="Re6f5671e47bb4899" /><Relationship Type="http://schemas.openxmlformats.org/officeDocument/2006/relationships/font" Target="/ppt/fonts/font.dat" Id="Rd572733a0a464f09" /><Relationship Type="http://schemas.openxmlformats.org/officeDocument/2006/relationships/font" Target="/ppt/fonts/font2.dat" Id="R812c8dc950024bf4" /><Relationship Type="http://schemas.openxmlformats.org/officeDocument/2006/relationships/font" Target="/ppt/fonts/font3.dat" Id="R4508b18857564060" /><Relationship Type="http://schemas.openxmlformats.org/officeDocument/2006/relationships/font" Target="/ppt/fonts/font4.dat" Id="R34824cab34394235" /><Relationship Type="http://schemas.openxmlformats.org/officeDocument/2006/relationships/font" Target="/ppt/fonts/font5.dat" Id="R763f97ce1aae4fc8" /><Relationship Type="http://schemas.openxmlformats.org/officeDocument/2006/relationships/font" Target="/ppt/fonts/font6.dat" Id="Ra050420301d449b2" /><Relationship Type="http://schemas.openxmlformats.org/officeDocument/2006/relationships/font" Target="/ppt/fonts/font7.dat" Id="Rf618564415064895" /><Relationship Type="http://schemas.openxmlformats.org/officeDocument/2006/relationships/font" Target="/ppt/fonts/font8.dat" Id="R9065f2286654476b" /><Relationship Type="http://schemas.openxmlformats.org/officeDocument/2006/relationships/font" Target="/ppt/fonts/font9.dat" Id="R12ce033c7a194f27" /><Relationship Type="http://schemas.openxmlformats.org/officeDocument/2006/relationships/font" Target="/ppt/fonts/font10.dat" Id="Ra64abc78765e4964" /><Relationship Type="http://schemas.openxmlformats.org/officeDocument/2006/relationships/font" Target="/ppt/fonts/font11.dat" Id="R66ab908e0b5e4352" /><Relationship Type="http://schemas.openxmlformats.org/officeDocument/2006/relationships/font" Target="/ppt/fonts/font12.dat" Id="Rbbb01f9db6574d60" /><Relationship Type="http://schemas.openxmlformats.org/officeDocument/2006/relationships/slide" Target="/ppt/slides/slide1.xml" Id="Rf2f17bbdb7d54af2" /><Relationship Type="http://schemas.openxmlformats.org/officeDocument/2006/relationships/slide" Target="/ppt/slides/slide2.xml" Id="R33129af538ff4024" /><Relationship Type="http://schemas.openxmlformats.org/officeDocument/2006/relationships/slide" Target="/ppt/slides/slide3.xml" Id="R29776818c3a14f4b" /><Relationship Type="http://schemas.openxmlformats.org/officeDocument/2006/relationships/slide" Target="/ppt/slides/slide4.xml" Id="Rfba21cbca87d4dd2" /><Relationship Type="http://schemas.openxmlformats.org/officeDocument/2006/relationships/slide" Target="/ppt/slides/slide5.xml" Id="Rccf2942b542943a7" /><Relationship Type="http://schemas.openxmlformats.org/officeDocument/2006/relationships/slide" Target="/ppt/slides/slide6.xml" Id="R3d5745944bf24056" /><Relationship Type="http://schemas.openxmlformats.org/officeDocument/2006/relationships/slide" Target="/ppt/slides/slide7.xml" Id="R440a257a71464f64" /><Relationship Type="http://schemas.openxmlformats.org/officeDocument/2006/relationships/slide" Target="/ppt/slides/slide8.xml" Id="R0e9ed72165954f2a" /><Relationship Type="http://schemas.openxmlformats.org/officeDocument/2006/relationships/slide" Target="/ppt/slides/slide9.xml" Id="R597a0ad2f6fe4401" /><Relationship Type="http://schemas.openxmlformats.org/officeDocument/2006/relationships/slide" Target="/ppt/slides/slide10.xml" Id="Rbd4f59c6f5964874" /><Relationship Type="http://schemas.openxmlformats.org/officeDocument/2006/relationships/slide" Target="/ppt/slides/slide11.xml" Id="Reb297d73f69e4fcc" /><Relationship Type="http://schemas.openxmlformats.org/officeDocument/2006/relationships/slide" Target="/ppt/slides/slide12.xml" Id="R10137aa33f1840d5" /><Relationship Type="http://schemas.openxmlformats.org/officeDocument/2006/relationships/slide" Target="/ppt/slides/slide13.xml" Id="R8a286f9237384fb6" /><Relationship Type="http://schemas.openxmlformats.org/officeDocument/2006/relationships/slide" Target="/ppt/slides/slide14.xml" Id="R00b77696217b4f2d" /><Relationship Type="http://schemas.openxmlformats.org/officeDocument/2006/relationships/slide" Target="/ppt/slides/slide15.xml" Id="R412770eadfd14d03" /><Relationship Type="http://schemas.openxmlformats.org/officeDocument/2006/relationships/slide" Target="/ppt/slides/slide16.xml" Id="R3b4e56d4ecad4c74" /><Relationship Type="http://schemas.openxmlformats.org/officeDocument/2006/relationships/slide" Target="/ppt/slides/slide17.xml" Id="Rabf802abda994a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ddc331f1f84fc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7b611bf90c94b15" /><Relationship Type="http://schemas.openxmlformats.org/officeDocument/2006/relationships/notesMaster" Target="/ppt/notesMasters/notesMaster1.xml" Id="R5a80303602c6450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96611f770174a1b" /><Relationship Type="http://schemas.openxmlformats.org/officeDocument/2006/relationships/notesMaster" Target="/ppt/notesMasters/notesMaster1.xml" Id="Rf698414a015e4abc" /></Relationships>
</file>

<file path=ppt/notesSlides/_rels/notesSlide3.xml.rels>&#65279;<?xml version="1.0" encoding="utf-8"?><Relationships xmlns="http://schemas.openxmlformats.org/package/2006/relationships"><Relationship Type="http://schemas.openxmlformats.org/officeDocument/2006/relationships/slide" Target="/ppt/slides/slide3.xml" Id="R0e51718d8c124f13" /><Relationship Type="http://schemas.openxmlformats.org/officeDocument/2006/relationships/notesMaster" Target="/ppt/notesMasters/notesMaster1.xml" Id="Rcfcb34a62b8540eb" /></Relationships>
</file>

<file path=ppt/notesSlides/_rels/notesSlide4.xml.rels>&#65279;<?xml version="1.0" encoding="utf-8"?><Relationships xmlns="http://schemas.openxmlformats.org/package/2006/relationships"><Relationship Type="http://schemas.openxmlformats.org/officeDocument/2006/relationships/slide" Target="/ppt/slides/slide4.xml" Id="R373b09d314114c05" /><Relationship Type="http://schemas.openxmlformats.org/officeDocument/2006/relationships/notesMaster" Target="/ppt/notesMasters/notesMaster1.xml" Id="R7738347badaf49dc" /></Relationships>
</file>

<file path=ppt/notesSlides/_rels/notesSlide5.xml.rels>&#65279;<?xml version="1.0" encoding="utf-8"?><Relationships xmlns="http://schemas.openxmlformats.org/package/2006/relationships"><Relationship Type="http://schemas.openxmlformats.org/officeDocument/2006/relationships/slide" Target="/ppt/slides/slide5.xml" Id="Rdc91bfc294ec449d" /><Relationship Type="http://schemas.openxmlformats.org/officeDocument/2006/relationships/notesMaster" Target="/ppt/notesMasters/notesMaster1.xml" Id="R467bcb4e334e4af7" /></Relationships>
</file>

<file path=ppt/notesSlides/_rels/notesSlide6.xml.rels>&#65279;<?xml version="1.0" encoding="utf-8"?><Relationships xmlns="http://schemas.openxmlformats.org/package/2006/relationships"><Relationship Type="http://schemas.openxmlformats.org/officeDocument/2006/relationships/slide" Target="/ppt/slides/slide6.xml" Id="Rf06d5c9219a54298" /><Relationship Type="http://schemas.openxmlformats.org/officeDocument/2006/relationships/notesMaster" Target="/ppt/notesMasters/notesMaster1.xml" Id="R42a705bc3b374768" /></Relationships>
</file>

<file path=ppt/notesSlides/_rels/notesSlide7.xml.rels>&#65279;<?xml version="1.0" encoding="utf-8"?><Relationships xmlns="http://schemas.openxmlformats.org/package/2006/relationships"><Relationship Type="http://schemas.openxmlformats.org/officeDocument/2006/relationships/slide" Target="/ppt/slides/slide7.xml" Id="R0ae61f9205e745c8" /><Relationship Type="http://schemas.openxmlformats.org/officeDocument/2006/relationships/notesMaster" Target="/ppt/notesMasters/notesMaster1.xml" Id="R43bb33e531e549b2" /></Relationships>
</file>

<file path=ppt/notesSlides/_rels/notesSlide8.xml.rels>&#65279;<?xml version="1.0" encoding="utf-8"?><Relationships xmlns="http://schemas.openxmlformats.org/package/2006/relationships"><Relationship Type="http://schemas.openxmlformats.org/officeDocument/2006/relationships/slide" Target="/ppt/slides/slide8.xml" Id="R0cec55c512fd4e56" /><Relationship Type="http://schemas.openxmlformats.org/officeDocument/2006/relationships/notesMaster" Target="/ppt/notesMasters/notesMaster1.xml" Id="Rbcacb2301c83419a" /></Relationships>
</file>

<file path=ppt/notesSlides/_rels/notesSlide9.xml.rels>&#65279;<?xml version="1.0" encoding="utf-8"?><Relationships xmlns="http://schemas.openxmlformats.org/package/2006/relationships"><Relationship Type="http://schemas.openxmlformats.org/officeDocument/2006/relationships/slide" Target="/ppt/slides/slide9.xml" Id="R675031360bae4ba8" /><Relationship Type="http://schemas.openxmlformats.org/officeDocument/2006/relationships/notesMaster" Target="/ppt/notesMasters/notesMaster1.xml" Id="Rf3e604b84c904ea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98413cd4fcd4c42" /><Relationship Type="http://schemas.openxmlformats.org/officeDocument/2006/relationships/notesMaster" Target="/ppt/notesMasters/notesMaster1.xml" Id="R8a28586c94f949a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bb8f99458a74c99" /><Relationship Type="http://schemas.openxmlformats.org/officeDocument/2006/relationships/notesMaster" Target="/ppt/notesMasters/notesMaster1.xml" Id="R93185363a0444cd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770dc96080e4ebf" /><Relationship Type="http://schemas.openxmlformats.org/officeDocument/2006/relationships/notesMaster" Target="/ppt/notesMasters/notesMaster1.xml" Id="Rb21b242be328496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7ca96b8309f4a5e" /><Relationship Type="http://schemas.openxmlformats.org/officeDocument/2006/relationships/notesMaster" Target="/ppt/notesMasters/notesMaster1.xml" Id="Ra2111767c740438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28798ce6d2140e9" /><Relationship Type="http://schemas.openxmlformats.org/officeDocument/2006/relationships/notesMaster" Target="/ppt/notesMasters/notesMaster1.xml" Id="R7b8b6f34310a45a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8c6853b72814007" /><Relationship Type="http://schemas.openxmlformats.org/officeDocument/2006/relationships/notesMaster" Target="/ppt/notesMasters/notesMaster1.xml" Id="R331f2acc15da435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4f023df234445e5" /><Relationship Type="http://schemas.openxmlformats.org/officeDocument/2006/relationships/notesMaster" Target="/ppt/notesMasters/notesMaster1.xml" Id="Rf72d6787305046d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2cee816ec114e07" /><Relationship Type="http://schemas.openxmlformats.org/officeDocument/2006/relationships/notesMaster" Target="/ppt/notesMasters/notesMaster1.xml" Id="Rf4922b5feb5c45c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Thesis is a local investment research MVP for students and newer investors. The team names are Bryant and Jia Hui, as supplied by the team. The current product is not a publicly hosted service.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/Users/jiahuiwong/Documents/GitHub/Thesis/README.md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This pitch describes the current prototype and the proposed path to a student pilot. Commercial assumptions remain unvalidated.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recurring job is to investigate an idea, identify evidence that could challenge it, and review changes. This is the product vision, not a claim of measured investment performance.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/Users/jiahuiwong/Documents/GitHub/Thesis/docs/archive/planning/product-and-launch-plan.md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pain points are product hypotheses from the team’s launch plan. No completed customer study, measured time saving or validated problem frequency is claimed. The proposed interviews will test the current alternatives people use and what makes research difficult.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/Users/jiahuiwong/Documents/GitHub/Thesis/docs/archive/planning/product-and-launch-plan.md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Company research, original evidence, saved ideas, monitoring and Updates are implemented in the local MVP. Coverage and interpretation quality still have gaps. Screenshot: actual saved Broadcom financial position, captured on 9 October 2026. This product screenshot is not new investment guidance.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/Users/jiahuiwong/Documents/GitHub/Thesis/README.md</a:t>
            </a:r>
            <a:endParaRPr/>
          </a:p>
          <a:p xmlns:a="http://schemas.openxmlformats.org/drawingml/2006/main">
            <a:pPr marL="0" lvl="0" indent="0" algn="l">
              <a:spcBef>
                <a:spcPts val="0"/>
              </a:spcBef>
              <a:spcAft>
                <a:spcPts val="0"/>
              </a:spcAft>
              <a:buNone/>
            </a:pPr>
            <a:r>
              <a:t>/Users/jiahuiwong/Documents/GitHub/Thesis/docs/reviews/2026-10-09/financials-redesign.md</a:t>
            </a:r>
            <a:endParaRPr/>
          </a:p>
          <a:p xmlns:a="http://schemas.openxmlformats.org/drawingml/2006/main">
            <a:pPr marL="0" lvl="0" indent="0" algn="l">
              <a:spcBef>
                <a:spcPts val="0"/>
              </a:spcBef>
              <a:spcAft>
                <a:spcPts val="0"/>
              </a:spcAft>
              <a:buNone/>
            </a:pPr>
            <a:r>
              <a:t>/Users/jiahuiwong/Documents/GitHub/Thesis/.local/live-tests/financials-redesign-20261009/actual-balance-1440.png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Team: Bryant and Jia Hui. Roles are intentionally blank at the team’s request. No qualifications, prior employers or advisor affiliations have been supplied.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are proposed support needs for the pilot, not appointed advisors or signed partnerships. No outreach has been carried out as part of this presentation.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/Users/jiahuiwong/Documents/GitHub/Thesis/docs/archive/planning/product-and-launch-plan.md</a:t>
            </a:r>
            <a:endParaRPr/>
          </a:p>
          <a:p xmlns:a="http://schemas.openxmlformats.org/drawingml/2006/main">
            <a:pPr marL="0" lvl="0" indent="0" algn="l">
              <a:spcBef>
                <a:spcPts val="0"/>
              </a:spcBef>
              <a:spcAft>
                <a:spcPts val="0"/>
              </a:spcAft>
              <a:buNone/>
            </a:pPr>
            <a:r>
              <a:t>/Users/jiahuiwong/Documents/GitHub/Thesis/README.md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Monitoring starts only when a user explicitly enables it. Saving reasoning and approving conditions are separate from watch activation. The screenshot shows the actual empty My ideas state for Broadcom and the original Save my reasoning action.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/Users/jiahuiwong/Documents/GitHub/Thesis/README.md</a:t>
            </a:r>
            <a:endParaRPr/>
          </a:p>
          <a:p xmlns:a="http://schemas.openxmlformats.org/drawingml/2006/main">
            <a:pPr marL="0" lvl="0" indent="0" algn="l">
              <a:spcBef>
                <a:spcPts val="0"/>
              </a:spcBef>
              <a:spcAft>
                <a:spcPts val="0"/>
              </a:spcAft>
              <a:buNone/>
            </a:pPr>
            <a:r>
              <a:t>/Users/jiahuiwong/Documents/GitHub/Thesis/docs/features/reading-journey.md</a:t>
            </a:r>
            <a:endParaRPr/>
          </a:p>
          <a:p xmlns:a="http://schemas.openxmlformats.org/drawingml/2006/main">
            <a:pPr marL="0" lvl="0" indent="0" algn="l">
              <a:spcBef>
                <a:spcPts val="0"/>
              </a:spcBef>
              <a:spcAft>
                <a:spcPts val="0"/>
              </a:spcAft>
              <a:buNone/>
            </a:pPr>
            <a:r>
              <a:t>/Users/jiahuiwong/Documents/GitHub/Thesis/.local/live-tests/ideas-ui-20261009/actual-ideas-390.png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NUS Office of the University Registrar, Summary of Undergraduate Student Enrolment 2025/2026, as at 7 September 2025, page 1. Grand total 31,086, including full-time, part-time and flexible workload courses. https://www.nus.edu.sg/registrar/docs/default-source/student-statistics/enrolment-statistics/undergraduate-studies/ug-enrol-20252026.pdf</a:t>
            </a:r>
            <a:endParaRPr/>
          </a:p>
          <a:p xmlns:a="http://schemas.openxmlformats.org/drawingml/2006/main">
            <a:pPr marL="0" lvl="0" indent="0" algn="l">
              <a:spcBef>
                <a:spcPts val="0"/>
              </a:spcBef>
              <a:spcAft>
                <a:spcPts val="0"/>
              </a:spcAft>
              <a:buNone/>
            </a:pPr>
            <a:r>
              <a:t>The headcount is a campus audience base, not a TAM, count of investors, prospective subscribers or reachable users. The research segment is a hypothesis, and its size is unknown. The proposed 20–30 participant four-week pilot comes from the team’s product and launch plan. Source: /Users/jiahuiwong/Documents/GitHub/Thesis/docs/archive/planning/product-and-launch-plan.md</a:t>
            </a:r>
            <a:endParaRPr/>
          </a:p>
          <a:p xmlns:a="http://schemas.openxmlformats.org/drawingml/2006/main">
            <a:pPr marL="0" lvl="0" indent="0" algn="l">
              <a:spcBef>
                <a:spcPts val="0"/>
              </a:spcBef>
              <a:spcAft>
                <a:spcPts val="0"/>
              </a:spcAft>
              <a:buNone/>
            </a:pPr>
            <a:r>
              <a:t>Fresh graduates and other campuses are possible later segments, subject to validation.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launch plan proposes subscriptions for continuing research and monitoring rather than referral commissions or a course curriculum. Exact prices, quotas and refresh intervals remain unresolved. Basic provenance and honest uncertainty should remain available at every tier. Billing remains unfinished.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/Users/jiahuiwong/Documents/GitHub/Thesis/docs/archive/planning/product-and-launch-plan.md</a:t>
            </a:r>
            <a:endParaRPr/>
          </a:p>
          <a:p xmlns:a="http://schemas.openxmlformats.org/drawingml/2006/main">
            <a:pPr marL="0" lvl="0" indent="0" algn="l">
              <a:spcBef>
                <a:spcPts val="0"/>
              </a:spcBef>
              <a:spcAft>
                <a:spcPts val="0"/>
              </a:spcAft>
              <a:buNone/>
            </a:pPr>
            <a:r>
              <a:t>/Users/jiahuiwong/Documents/GitHub/Thesis/README.md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Technical implementation is not customer traction. Proposed activation is a brief review and approved thesis with at least one condition. Week-four retention uses meaningful research actions in days 22–28 among activated participants with a full 28-day observation window. Logins and automated deliveries alone do not count. Recruit beyond friends and report that segment separately. No validated retention, revenue, signup or paid-conversion metric is claimed.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/Users/jiahuiwong/Documents/GitHub/Thesis/README.md</a:t>
            </a:r>
            <a:endParaRPr/>
          </a:p>
          <a:p xmlns:a="http://schemas.openxmlformats.org/drawingml/2006/main">
            <a:pPr marL="0" lvl="0" indent="0" algn="l">
              <a:spcBef>
                <a:spcPts val="0"/>
              </a:spcBef>
              <a:spcAft>
                <a:spcPts val="0"/>
              </a:spcAft>
              <a:buNone/>
            </a:pPr>
            <a:r>
              <a:t>/Users/jiahuiwong/Documents/GitHub/Thesis/docs/archive/planning/product-and-launch-plan.md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Competitor descriptions are based on their official product pages, accessed 9 October 2026. Simply Wall St offers visual fundamental research, portfolios, updates and community narratives: https://simplywall.st/ and https://support.simplywall.st/hc/en-us/articles/7246565363471-How-to-Monitor-Your-Stocks-and-Discover-New-Investing-Ideas</a:t>
            </a:r>
            <a:endParaRPr/>
          </a:p>
          <a:p xmlns:a="http://schemas.openxmlformats.org/drawingml/2006/main">
            <a:pPr marL="0" lvl="0" indent="0" algn="l">
              <a:spcBef>
                <a:spcPts val="0"/>
              </a:spcBef>
              <a:spcAft>
                <a:spcPts val="0"/>
              </a:spcAft>
              <a:buNone/>
            </a:pPr>
            <a:r>
              <a:t>TradingView offers charts and alerts, including fundamental metric alerts: https://www.tradingview.com/features/ and https://www.tradingview.com/support/solutions/43000786831-alerts-on-fundamentals/</a:t>
            </a:r>
            <a:endParaRPr/>
          </a:p>
          <a:p xmlns:a="http://schemas.openxmlformats.org/drawingml/2006/main">
            <a:pPr marL="0" lvl="0" indent="0" algn="l">
              <a:spcBef>
                <a:spcPts val="0"/>
              </a:spcBef>
              <a:spcAft>
                <a:spcPts val="0"/>
              </a:spcAft>
              <a:buNone/>
            </a:pPr>
            <a:r>
              <a:t>The Thesis column describes the intended emphasis of this MVP, not an audited feature absence in competitors or proof of superiority. Notes and spreadsheets are a workflow alternative. The proposed advantage and repeat-user benefit remain to be validated. Internal source: /Users/jiahuiwong/Documents/GitHub/Thesis/README.md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This is a proposed acquisition and validation plan. No club partnership, cohort signup, acquisition cost, referral result or paid trial has been confirmed. The existing plan suggests interviewing roughly ten participants at the end. A small four-week cohort provides early evidence, not proof of long-term retention.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/Users/jiahuiwong/Documents/GitHub/Thesis/docs/archive/planning/product-and-launch-plan.md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Only the local MVP is current. The remaining milestones are a proposed sequence, not committed dates. Preparation should assess source coverage and research/alert interpretation. A hosted beta requires portable AI setup, deployment/security work and ongoing operating readiness. Paid trials require a defined offer and measured cost to serve.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/Users/jiahuiwong/Documents/GitHub/Thesis/README.md</a:t>
            </a:r>
            <a:endParaRPr/>
          </a:p>
          <a:p xmlns:a="http://schemas.openxmlformats.org/drawingml/2006/main">
            <a:pPr marL="0" lvl="0" indent="0" algn="l">
              <a:spcBef>
                <a:spcPts val="0"/>
              </a:spcBef>
              <a:spcAft>
                <a:spcPts val="0"/>
              </a:spcAft>
              <a:buNone/>
            </a:pPr>
            <a:r>
              <a:t>/Users/jiahuiwong/Documents/GitHub/Thesis/docs/archive/planning/product-and-launch-plan.md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All values on this slide are illustrative arithmetic scenarios introduced for discussion. The team has not confirmed pricing, subscribers or revenue. Monthly recurring gross revenue is user count multiplied by the assumed monthly subscription price. The values are not forecasts and do not imply gross margin, operating profit, runway or a valuation. Costs and willingness to pay must be measured before setting an offer. All amounts on this slide use Singapore dollars.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immediate request is proposed pilot access and expert feedback. No funding amount, completed raise, cash balance, hiring commitment or runway was supplied. Any eventual financial ask should follow a costed plan informed by pilot evidence.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/Users/jiahuiwong/Documents/GitHub/Thesis/docs/archive/planning/product-and-launch-plan.md</a:t>
            </a:r>
            <a:endParaRPr/>
          </a:p>
          <a:p xmlns:a="http://schemas.openxmlformats.org/drawingml/2006/main">
            <a:pPr marL="0" lvl="0" indent="0" algn="l">
              <a:spcBef>
                <a:spcPts val="0"/>
              </a:spcBef>
              <a:spcAft>
                <a:spcPts val="0"/>
              </a:spcAft>
              <a:buNone/>
            </a:pPr>
            <a:r>
              <a:t>/Users/jiahuiwong/Documents/GitHub/Thesis/README.md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next step is a proposed student pilot to test whether Thesis supports useful research and repeated evidence review. Team: Bryant and Jia Hui. No public website or contact email has been supplied.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adf2b50f3264a1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b65213cedab475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d085d8fe0364f3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eb54dbc56574a0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644444ac65a45a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dd6f3759560437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f8c23b7c14a4f7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59a3aac124c463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223595f16d54bc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0daf22b59d14fb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ff94af8fca44d67"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15226de901304655"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878405B9-AE82-4D71-8998-BC3661F791FC}"/>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p:txBody>
      </p:sp>
      <p:sp>
        <p:nvSpPr>
          <p:cNvPr id="11" name="Google Shape;11;p2">
            <a:extLst xmlns:a="http://schemas.openxmlformats.org/drawingml/2006/main">
              <a:ext uri="{FF2B5EF4-FFF2-40B4-BE49-F238E27FC236}">
                <a16:creationId xmlns:a16="http://schemas.microsoft.com/office/drawing/2014/main" id="{9F1A3086-1AA8-42BE-A731-4481C8989220}"/>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12" name="Google Shape;12;p2">
            <a:extLst xmlns:a="http://schemas.openxmlformats.org/drawingml/2006/main">
              <a:ext uri="{FF2B5EF4-FFF2-40B4-BE49-F238E27FC236}">
                <a16:creationId xmlns:a16="http://schemas.microsoft.com/office/drawing/2014/main" id="{12A6B51B-D33B-4842-8872-1B5060B76A9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3">
            <a:extLst xmlns:a="http://schemas.openxmlformats.org/drawingml/2006/main">
              <a:ext uri="{FF2B5EF4-FFF2-40B4-BE49-F238E27FC236}">
                <a16:creationId xmlns:a16="http://schemas.microsoft.com/office/drawing/2014/main" id="{A3BEB7DE-C5BA-4136-9A57-E34EC61918D0}"/>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p:txBody>
      </p:sp>
      <p:sp>
        <p:nvSpPr>
          <p:cNvPr id="15" name="Google Shape;15;p3">
            <a:extLst xmlns:a="http://schemas.openxmlformats.org/drawingml/2006/main">
              <a:ext uri="{FF2B5EF4-FFF2-40B4-BE49-F238E27FC236}">
                <a16:creationId xmlns:a16="http://schemas.microsoft.com/office/drawing/2014/main" id="{5DC74F94-1840-4956-A96D-35F700CE7F9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7" name="Google Shape;17;p4">
            <a:extLst xmlns:a="http://schemas.openxmlformats.org/drawingml/2006/main">
              <a:ext uri="{FF2B5EF4-FFF2-40B4-BE49-F238E27FC236}">
                <a16:creationId xmlns:a16="http://schemas.microsoft.com/office/drawing/2014/main" id="{2BD7F705-9442-450C-AA8C-7F775E4F288B}"/>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18" name="Google Shape;18;p4">
            <a:extLst xmlns:a="http://schemas.openxmlformats.org/drawingml/2006/main">
              <a:ext uri="{FF2B5EF4-FFF2-40B4-BE49-F238E27FC236}">
                <a16:creationId xmlns:a16="http://schemas.microsoft.com/office/drawing/2014/main" id="{A214C732-008E-4DB3-AC80-5EF31C024221}"/>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19" name="Google Shape;19;p4">
            <a:extLst xmlns:a="http://schemas.openxmlformats.org/drawingml/2006/main">
              <a:ext uri="{FF2B5EF4-FFF2-40B4-BE49-F238E27FC236}">
                <a16:creationId xmlns:a16="http://schemas.microsoft.com/office/drawing/2014/main" id="{8FB44628-E1E1-4E18-96F7-F0795DF33CF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1" name="Google Shape;21;p5">
            <a:extLst xmlns:a="http://schemas.openxmlformats.org/drawingml/2006/main">
              <a:ext uri="{FF2B5EF4-FFF2-40B4-BE49-F238E27FC236}">
                <a16:creationId xmlns:a16="http://schemas.microsoft.com/office/drawing/2014/main" id="{FFE449E2-D76E-4232-9181-16544558A850}"/>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2" name="Google Shape;22;p5">
            <a:extLst xmlns:a="http://schemas.openxmlformats.org/drawingml/2006/main">
              <a:ext uri="{FF2B5EF4-FFF2-40B4-BE49-F238E27FC236}">
                <a16:creationId xmlns:a16="http://schemas.microsoft.com/office/drawing/2014/main" id="{CA17B44F-1C48-45B6-B034-4FBCBFED0DA5}"/>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3" name="Google Shape;23;p5">
            <a:extLst xmlns:a="http://schemas.openxmlformats.org/drawingml/2006/main">
              <a:ext uri="{FF2B5EF4-FFF2-40B4-BE49-F238E27FC236}">
                <a16:creationId xmlns:a16="http://schemas.microsoft.com/office/drawing/2014/main" id="{E2708E22-D260-4A70-8DE3-A547C40E6F0C}"/>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4" name="Google Shape;24;p5">
            <a:extLst xmlns:a="http://schemas.openxmlformats.org/drawingml/2006/main">
              <a:ext uri="{FF2B5EF4-FFF2-40B4-BE49-F238E27FC236}">
                <a16:creationId xmlns:a16="http://schemas.microsoft.com/office/drawing/2014/main" id="{12CB07A0-729C-4C28-A5D5-8BF5A41EDFC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6" name="Google Shape;26;p6">
            <a:extLst xmlns:a="http://schemas.openxmlformats.org/drawingml/2006/main">
              <a:ext uri="{FF2B5EF4-FFF2-40B4-BE49-F238E27FC236}">
                <a16:creationId xmlns:a16="http://schemas.microsoft.com/office/drawing/2014/main" id="{6A76FED1-FBF0-4A96-A14F-42FB4B2D69B4}"/>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7" name="Google Shape;27;p6">
            <a:extLst xmlns:a="http://schemas.openxmlformats.org/drawingml/2006/main">
              <a:ext uri="{FF2B5EF4-FFF2-40B4-BE49-F238E27FC236}">
                <a16:creationId xmlns:a16="http://schemas.microsoft.com/office/drawing/2014/main" id="{74597D50-ED78-4A4A-8BD3-143334CBC48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29" name="Google Shape;29;p7">
            <a:extLst xmlns:a="http://schemas.openxmlformats.org/drawingml/2006/main">
              <a:ext uri="{FF2B5EF4-FFF2-40B4-BE49-F238E27FC236}">
                <a16:creationId xmlns:a16="http://schemas.microsoft.com/office/drawing/2014/main" id="{E5382BB7-A9BC-43A4-9055-FCEDC3BDE460}"/>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xmlns:a="http://schemas.openxmlformats.org/drawingml/2006/main"/>
        </p:txBody>
      </p:sp>
      <p:sp>
        <p:nvSpPr>
          <p:cNvPr id="30" name="Google Shape;30;p7">
            <a:extLst xmlns:a="http://schemas.openxmlformats.org/drawingml/2006/main">
              <a:ext uri="{FF2B5EF4-FFF2-40B4-BE49-F238E27FC236}">
                <a16:creationId xmlns:a16="http://schemas.microsoft.com/office/drawing/2014/main" id="{D1655123-7B50-44EE-A4E7-DAEFD7DCF9D3}"/>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04800">
              <a:spcBef>
                <a:spcPts val="0"/>
              </a:spcBef>
              <a:spcAft>
                <a:spcPts val="0"/>
              </a:spcAft>
              <a:buSzPts val="12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31" name="Google Shape;31;p7">
            <a:extLst xmlns:a="http://schemas.openxmlformats.org/drawingml/2006/main">
              <a:ext uri="{FF2B5EF4-FFF2-40B4-BE49-F238E27FC236}">
                <a16:creationId xmlns:a16="http://schemas.microsoft.com/office/drawing/2014/main" id="{7BEAF76C-9713-4DDA-A3A2-E570E8216E3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3" name="Google Shape;33;p8">
            <a:extLst xmlns:a="http://schemas.openxmlformats.org/drawingml/2006/main">
              <a:ext uri="{FF2B5EF4-FFF2-40B4-BE49-F238E27FC236}">
                <a16:creationId xmlns:a16="http://schemas.microsoft.com/office/drawing/2014/main" id="{31047D81-A971-4FAC-98AC-DD5F20E469D6}"/>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p:txBody>
      </p:sp>
      <p:sp>
        <p:nvSpPr>
          <p:cNvPr id="34" name="Google Shape;34;p8">
            <a:extLst xmlns:a="http://schemas.openxmlformats.org/drawingml/2006/main">
              <a:ext uri="{FF2B5EF4-FFF2-40B4-BE49-F238E27FC236}">
                <a16:creationId xmlns:a16="http://schemas.microsoft.com/office/drawing/2014/main" id="{C1FD3E3C-0BBD-48E5-BEF8-50C1A9DBEAE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6" name="Google Shape;36;p9">
            <a:extLst xmlns:a="http://schemas.openxmlformats.org/drawingml/2006/main">
              <a:ext uri="{FF2B5EF4-FFF2-40B4-BE49-F238E27FC236}">
                <a16:creationId xmlns:a16="http://schemas.microsoft.com/office/drawing/2014/main" id="{CF68C93C-9B29-4447-8D10-544162DA83AB}"/>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7" name="Google Shape;37;p9">
            <a:extLst xmlns:a="http://schemas.openxmlformats.org/drawingml/2006/main">
              <a:ext uri="{FF2B5EF4-FFF2-40B4-BE49-F238E27FC236}">
                <a16:creationId xmlns:a16="http://schemas.microsoft.com/office/drawing/2014/main" id="{75B27393-3910-4405-A2AA-A3B65620FA11}"/>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xmlns:a="http://schemas.openxmlformats.org/drawingml/2006/main"/>
        </p:txBody>
      </p:sp>
      <p:sp>
        <p:nvSpPr>
          <p:cNvPr id="38" name="Google Shape;38;p9">
            <a:extLst xmlns:a="http://schemas.openxmlformats.org/drawingml/2006/main">
              <a:ext uri="{FF2B5EF4-FFF2-40B4-BE49-F238E27FC236}">
                <a16:creationId xmlns:a16="http://schemas.microsoft.com/office/drawing/2014/main" id="{14B5EB22-EAC3-44C3-A483-545A6C731F40}"/>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39" name="Google Shape;39;p9">
            <a:extLst xmlns:a="http://schemas.openxmlformats.org/drawingml/2006/main">
              <a:ext uri="{FF2B5EF4-FFF2-40B4-BE49-F238E27FC236}">
                <a16:creationId xmlns:a16="http://schemas.microsoft.com/office/drawing/2014/main" id="{1F8A3330-4176-464C-96BA-AAAE0A30689B}"/>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40" name="Google Shape;40;p9">
            <a:extLst xmlns:a="http://schemas.openxmlformats.org/drawingml/2006/main">
              <a:ext uri="{FF2B5EF4-FFF2-40B4-BE49-F238E27FC236}">
                <a16:creationId xmlns:a16="http://schemas.microsoft.com/office/drawing/2014/main" id="{4CE58F06-5022-48D0-8E02-1E5B678155A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2" name="Google Shape;42;p10">
            <a:extLst xmlns:a="http://schemas.openxmlformats.org/drawingml/2006/main">
              <a:ext uri="{FF2B5EF4-FFF2-40B4-BE49-F238E27FC236}">
                <a16:creationId xmlns:a16="http://schemas.microsoft.com/office/drawing/2014/main" id="{C1A445EB-6B41-4FC3-8A63-B686C39B2244}"/>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228600">
              <a:lnSpc>
                <a:spcPct val="100000"/>
              </a:lnSpc>
              <a:spcBef>
                <a:spcPts val="0"/>
              </a:spcBef>
              <a:spcAft>
                <a:spcPts val="0"/>
              </a:spcAft>
              <a:buSzPts val="1800"/>
              <a:buNone/>
              <a:defRPr/>
            </a:lvl1pPr>
          </a:lstStyle>
          <a:p xmlns:a="http://schemas.openxmlformats.org/drawingml/2006/main"/>
        </p:txBody>
      </p:sp>
      <p:sp>
        <p:nvSpPr>
          <p:cNvPr id="43" name="Google Shape;43;p10">
            <a:extLst xmlns:a="http://schemas.openxmlformats.org/drawingml/2006/main">
              <a:ext uri="{FF2B5EF4-FFF2-40B4-BE49-F238E27FC236}">
                <a16:creationId xmlns:a16="http://schemas.microsoft.com/office/drawing/2014/main" id="{3EDE475F-0B9F-4CC2-BD2E-73070C8C8AC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5" name="Google Shape;45;p11">
            <a:extLst xmlns:a="http://schemas.openxmlformats.org/drawingml/2006/main">
              <a:ext uri="{FF2B5EF4-FFF2-40B4-BE49-F238E27FC236}">
                <a16:creationId xmlns:a16="http://schemas.microsoft.com/office/drawing/2014/main" id="{0B94CE01-1454-4643-91A9-B7EA0A245CE5}"/>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xmlns:a="http://schemas.openxmlformats.org/drawingml/2006/main">
            <a:r>
              <a:t>xx%</a:t>
            </a:r>
          </a:p>
        </p:txBody>
      </p:sp>
      <p:sp>
        <p:nvSpPr>
          <p:cNvPr id="46" name="Google Shape;46;p11">
            <a:extLst xmlns:a="http://schemas.openxmlformats.org/drawingml/2006/main">
              <a:ext uri="{FF2B5EF4-FFF2-40B4-BE49-F238E27FC236}">
                <a16:creationId xmlns:a16="http://schemas.microsoft.com/office/drawing/2014/main" id="{F936A178-0F9A-4EFE-A12F-EE3EF97462B8}"/>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spcBef>
                <a:spcPts val="0"/>
              </a:spcBef>
              <a:spcAft>
                <a:spcPts val="0"/>
              </a:spcAft>
              <a:buSzPts val="1400"/>
              <a:buChar char="■"/>
              <a:defRPr/>
            </a:lvl6pPr>
            <a:lvl7pPr marL="3200400" indent="-317500" algn="ctr">
              <a:spcBef>
                <a:spcPts val="0"/>
              </a:spcBef>
              <a:spcAft>
                <a:spcPts val="0"/>
              </a:spcAft>
              <a:buSzPts val="1400"/>
              <a:buChar char="●"/>
              <a:defRPr/>
            </a:lvl7pPr>
            <a:lvl8pPr marL="3657600" indent="-317500" algn="ctr">
              <a:spcBef>
                <a:spcPts val="0"/>
              </a:spcBef>
              <a:spcAft>
                <a:spcPts val="0"/>
              </a:spcAft>
              <a:buSzPts val="1400"/>
              <a:buChar char="○"/>
              <a:defRPr/>
            </a:lvl8pPr>
            <a:lvl9pPr marL="4114800" indent="-317500" algn="ctr">
              <a:spcBef>
                <a:spcPts val="0"/>
              </a:spcBef>
              <a:spcAft>
                <a:spcPts val="0"/>
              </a:spcAft>
              <a:buSzPts val="1400"/>
              <a:buChar char="■"/>
              <a:defRPr/>
            </a:lvl9pPr>
          </a:lstStyle>
          <a:p xmlns:a="http://schemas.openxmlformats.org/drawingml/2006/main"/>
        </p:txBody>
      </p:sp>
      <p:sp>
        <p:nvSpPr>
          <p:cNvPr id="47" name="Google Shape;47;p11">
            <a:extLst xmlns:a="http://schemas.openxmlformats.org/drawingml/2006/main">
              <a:ext uri="{FF2B5EF4-FFF2-40B4-BE49-F238E27FC236}">
                <a16:creationId xmlns:a16="http://schemas.microsoft.com/office/drawing/2014/main" id="{5BAFE634-6966-4203-BF57-E40B963A1A0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49" name="Google Shape;49;p12">
            <a:extLst xmlns:a="http://schemas.openxmlformats.org/drawingml/2006/main">
              <a:ext uri="{FF2B5EF4-FFF2-40B4-BE49-F238E27FC236}">
                <a16:creationId xmlns:a16="http://schemas.microsoft.com/office/drawing/2014/main" id="{345BFF42-3F4A-4D01-B387-4087204FFF7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showMasterSp="0" matchingName="Blank Alt">
  <p:cSld name="Blank Alt">
    <p:bg>
      <p:bgPr>
        <a:solidFill xmlns:a="http://schemas.openxmlformats.org/drawingml/2006/main">
          <a:srgbClr val="FFFAF5"/>
        </a:solidFill>
      </p:bgPr>
    </p:bg>
    <p:spTree>
      <p:nvGrpSpPr>
        <p:cNvPr id="1" name=""/>
        <p:cNvGrpSpPr/>
        <p:nvPr/>
      </p:nvGrpSpPr>
      <p:grpSpPr>
        <a:xfrm xmlns:a="http://schemas.openxmlformats.org/drawingml/2006/main"/>
      </p:grpSpPr>
      <p:sp>
        <p:nvSpPr>
          <p:cNvPr id="51" name="Google Shape;51;p13">
            <a:extLst xmlns:a="http://schemas.openxmlformats.org/drawingml/2006/main">
              <a:ext uri="{FF2B5EF4-FFF2-40B4-BE49-F238E27FC236}">
                <a16:creationId xmlns:a16="http://schemas.microsoft.com/office/drawing/2014/main" id="{8054A53C-1517-43AF-A540-433C0BD89A8B}"/>
              </a:ext>
            </a:extLst>
          </p:cNvPr>
          <p:cNvSpPr>
            <a:spLocks xmlns:a="http://schemas.openxmlformats.org/drawingml/2006/main" noGrp="1"/>
          </p:cNvSpPr>
          <p:nvPr>
            <p:ph type="sldNum" idx="12"/>
          </p:nvPr>
        </p:nvSpPr>
        <p:spPr>
          <a:xfrm xmlns:a="http://schemas.openxmlformats.org/drawingml/2006/main">
            <a:off x="8568719" y="227707"/>
            <a:ext cx="285900" cy="24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2750" tIns="32750" rIns="32750" bIns="32750" anchor="t">
            <a:normAutofit lnSpcReduction="10000"/>
          </a:bodyPr>
          <a:lstStyle xmlns:a="http://schemas.openxmlformats.org/drawingml/2006/main">
            <a:lvl1pPr marL="0" indent="0" algn="r">
              <a:lnSpc>
                <a:spcPct val="80000"/>
              </a:lnSpc>
              <a:spcBef>
                <a:spcPts val="0"/>
              </a:spcBef>
              <a:spcAft>
                <a:spcPts val="0"/>
              </a:spcAft>
              <a:buClr>
                <a:srgbClr val="838787"/>
              </a:buClr>
              <a:buSzPts val="1500"/>
              <a:buFont typeface="Arial"/>
              <a:buNone/>
              <a:defRPr sz="1500">
                <a:latin typeface="Arial"/>
                <a:ea typeface="Arial"/>
                <a:cs typeface="Arial"/>
              </a:defRPr>
            </a:lvl1pPr>
            <a:lvl2pPr marL="0" indent="0" algn="r">
              <a:lnSpc>
                <a:spcPct val="80000"/>
              </a:lnSpc>
              <a:spcBef>
                <a:spcPts val="0"/>
              </a:spcBef>
              <a:spcAft>
                <a:spcPts val="0"/>
              </a:spcAft>
              <a:buClr>
                <a:srgbClr val="838787"/>
              </a:buClr>
              <a:buSzPts val="1500"/>
              <a:buFont typeface="Arial"/>
              <a:buNone/>
              <a:defRPr sz="1500">
                <a:latin typeface="Arial"/>
                <a:ea typeface="Arial"/>
                <a:cs typeface="Arial"/>
              </a:defRPr>
            </a:lvl2pPr>
            <a:lvl3pPr marL="0" indent="0" algn="r">
              <a:lnSpc>
                <a:spcPct val="80000"/>
              </a:lnSpc>
              <a:spcBef>
                <a:spcPts val="0"/>
              </a:spcBef>
              <a:spcAft>
                <a:spcPts val="0"/>
              </a:spcAft>
              <a:buClr>
                <a:srgbClr val="838787"/>
              </a:buClr>
              <a:buSzPts val="1500"/>
              <a:buFont typeface="Arial"/>
              <a:buNone/>
              <a:defRPr sz="1500">
                <a:latin typeface="Arial"/>
                <a:ea typeface="Arial"/>
                <a:cs typeface="Arial"/>
              </a:defRPr>
            </a:lvl3pPr>
            <a:lvl4pPr marL="0" indent="0" algn="r">
              <a:lnSpc>
                <a:spcPct val="80000"/>
              </a:lnSpc>
              <a:spcBef>
                <a:spcPts val="0"/>
              </a:spcBef>
              <a:spcAft>
                <a:spcPts val="0"/>
              </a:spcAft>
              <a:buClr>
                <a:srgbClr val="838787"/>
              </a:buClr>
              <a:buSzPts val="1500"/>
              <a:buFont typeface="Arial"/>
              <a:buNone/>
              <a:defRPr sz="1500">
                <a:latin typeface="Arial"/>
                <a:ea typeface="Arial"/>
                <a:cs typeface="Arial"/>
              </a:defRPr>
            </a:lvl4pPr>
            <a:lvl5pPr marL="0" indent="0" algn="r">
              <a:lnSpc>
                <a:spcPct val="80000"/>
              </a:lnSpc>
              <a:spcBef>
                <a:spcPts val="0"/>
              </a:spcBef>
              <a:spcAft>
                <a:spcPts val="0"/>
              </a:spcAft>
              <a:buClr>
                <a:srgbClr val="838787"/>
              </a:buClr>
              <a:buSzPts val="1500"/>
              <a:buFont typeface="Arial"/>
              <a:buNone/>
              <a:defRPr sz="1500">
                <a:latin typeface="Arial"/>
                <a:ea typeface="Arial"/>
                <a:cs typeface="Arial"/>
              </a:defRPr>
            </a:lvl5pPr>
            <a:lvl6pPr marL="0" indent="0" algn="r">
              <a:lnSpc>
                <a:spcPct val="80000"/>
              </a:lnSpc>
              <a:spcBef>
                <a:spcPts val="0"/>
              </a:spcBef>
              <a:spcAft>
                <a:spcPts val="0"/>
              </a:spcAft>
              <a:buClr>
                <a:srgbClr val="838787"/>
              </a:buClr>
              <a:buSzPts val="1500"/>
              <a:buFont typeface="Arial"/>
              <a:buNone/>
              <a:defRPr sz="1500">
                <a:latin typeface="Arial"/>
                <a:ea typeface="Arial"/>
                <a:cs typeface="Arial"/>
              </a:defRPr>
            </a:lvl6pPr>
            <a:lvl7pPr marL="0" indent="0" algn="r">
              <a:lnSpc>
                <a:spcPct val="80000"/>
              </a:lnSpc>
              <a:spcBef>
                <a:spcPts val="0"/>
              </a:spcBef>
              <a:spcAft>
                <a:spcPts val="0"/>
              </a:spcAft>
              <a:buClr>
                <a:srgbClr val="838787"/>
              </a:buClr>
              <a:buSzPts val="1500"/>
              <a:buFont typeface="Arial"/>
              <a:buNone/>
              <a:defRPr sz="1500">
                <a:latin typeface="Arial"/>
                <a:ea typeface="Arial"/>
                <a:cs typeface="Arial"/>
              </a:defRPr>
            </a:lvl7pPr>
            <a:lvl8pPr marL="0" indent="0" algn="r">
              <a:lnSpc>
                <a:spcPct val="80000"/>
              </a:lnSpc>
              <a:spcBef>
                <a:spcPts val="0"/>
              </a:spcBef>
              <a:spcAft>
                <a:spcPts val="0"/>
              </a:spcAft>
              <a:buClr>
                <a:srgbClr val="838787"/>
              </a:buClr>
              <a:buSzPts val="1500"/>
              <a:buFont typeface="Arial"/>
              <a:buNone/>
              <a:defRPr sz="1500">
                <a:latin typeface="Arial"/>
                <a:ea typeface="Arial"/>
                <a:cs typeface="Arial"/>
              </a:defRPr>
            </a:lvl8pPr>
            <a:lvl9pPr marL="0" indent="0" algn="r">
              <a:lnSpc>
                <a:spcPct val="80000"/>
              </a:lnSpc>
              <a:spcBef>
                <a:spcPts val="0"/>
              </a:spcBef>
              <a:spcAft>
                <a:spcPts val="0"/>
              </a:spcAft>
              <a:buClr>
                <a:srgbClr val="838787"/>
              </a:buClr>
              <a:buSzPts val="1500"/>
              <a:buFont typeface="Arial"/>
              <a:buNone/>
              <a:defRPr sz="1500">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sz="1000"/>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6db199819e84395" /><Relationship Type="http://schemas.openxmlformats.org/officeDocument/2006/relationships/slideLayout" Target="/ppt/slideLayouts/slideLayout1.xml" Id="R365516b2faab4627" /><Relationship Type="http://schemas.openxmlformats.org/officeDocument/2006/relationships/slideLayout" Target="/ppt/slideLayouts/slideLayout2.xml" Id="R26d8558114ef4ab2" /><Relationship Type="http://schemas.openxmlformats.org/officeDocument/2006/relationships/slideLayout" Target="/ppt/slideLayouts/slideLayout3.xml" Id="R95c89b4a697d4e67" /><Relationship Type="http://schemas.openxmlformats.org/officeDocument/2006/relationships/slideLayout" Target="/ppt/slideLayouts/slideLayout4.xml" Id="R2668f9d1aa364583" /><Relationship Type="http://schemas.openxmlformats.org/officeDocument/2006/relationships/slideLayout" Target="/ppt/slideLayouts/slideLayout5.xml" Id="R66d3cb709a214ddc" /><Relationship Type="http://schemas.openxmlformats.org/officeDocument/2006/relationships/slideLayout" Target="/ppt/slideLayouts/slideLayout6.xml" Id="R6b68dd933f494675" /><Relationship Type="http://schemas.openxmlformats.org/officeDocument/2006/relationships/slideLayout" Target="/ppt/slideLayouts/slideLayout7.xml" Id="Rb80166ed2af1493e" /><Relationship Type="http://schemas.openxmlformats.org/officeDocument/2006/relationships/slideLayout" Target="/ppt/slideLayouts/slideLayout8.xml" Id="R2c3844b232814d77" /><Relationship Type="http://schemas.openxmlformats.org/officeDocument/2006/relationships/slideLayout" Target="/ppt/slideLayouts/slideLayout9.xml" Id="R4891be90025949e5" /><Relationship Type="http://schemas.openxmlformats.org/officeDocument/2006/relationships/slideLayout" Target="/ppt/slideLayouts/slideLayout10.xml" Id="Rb92e6f9f0ffe4529" /><Relationship Type="http://schemas.openxmlformats.org/officeDocument/2006/relationships/slideLayout" Target="/ppt/slideLayouts/slideLayout11.xml" Id="R244137965c964015" /><Relationship Type="http://schemas.openxmlformats.org/officeDocument/2006/relationships/slideLayout" Target="/ppt/slideLayouts/slideLayout12.xml" Id="Rd288f761c46e4cca"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FC48B285-9BFC-42A9-9121-9ECAA88383EE}"/>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1"/>
              </a:buClr>
              <a:buSzPts val="2800"/>
              <a:buNone/>
              <a:defRPr sz="2800">
                <a:solidFill>
                  <a:schemeClr val="dk1"/>
                </a:solidFill>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615D89F3-6D5B-4081-BA4B-A8889EFAF715}"/>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0"/>
              </a:spcBef>
              <a:spcAft>
                <a:spcPts val="0"/>
              </a:spcAft>
              <a:buClr>
                <a:schemeClr val="dk2"/>
              </a:buClr>
              <a:buSzPts val="1400"/>
              <a:buChar char="○"/>
              <a:defRPr>
                <a:solidFill>
                  <a:schemeClr val="dk2"/>
                </a:solidFill>
              </a:defRPr>
            </a:lvl2pPr>
            <a:lvl3pPr marL="1371600" indent="-317500">
              <a:lnSpc>
                <a:spcPct val="115000"/>
              </a:lnSpc>
              <a:spcBef>
                <a:spcPts val="0"/>
              </a:spcBef>
              <a:spcAft>
                <a:spcPts val="0"/>
              </a:spcAft>
              <a:buClr>
                <a:schemeClr val="dk2"/>
              </a:buClr>
              <a:buSzPts val="1400"/>
              <a:buChar char="■"/>
              <a:defRPr>
                <a:solidFill>
                  <a:schemeClr val="dk2"/>
                </a:solidFill>
              </a:defRPr>
            </a:lvl3pPr>
            <a:lvl4pPr marL="1828800" indent="-317500">
              <a:lnSpc>
                <a:spcPct val="115000"/>
              </a:lnSpc>
              <a:spcBef>
                <a:spcPts val="0"/>
              </a:spcBef>
              <a:spcAft>
                <a:spcPts val="0"/>
              </a:spcAft>
              <a:buClr>
                <a:schemeClr val="dk2"/>
              </a:buClr>
              <a:buSzPts val="1400"/>
              <a:buChar char="●"/>
              <a:defRPr>
                <a:solidFill>
                  <a:schemeClr val="dk2"/>
                </a:solidFill>
              </a:defRPr>
            </a:lvl4pPr>
            <a:lvl5pPr marL="2286000" indent="-317500">
              <a:lnSpc>
                <a:spcPct val="115000"/>
              </a:lnSpc>
              <a:spcBef>
                <a:spcPts val="0"/>
              </a:spcBef>
              <a:spcAft>
                <a:spcPts val="0"/>
              </a:spcAft>
              <a:buClr>
                <a:schemeClr val="dk2"/>
              </a:buClr>
              <a:buSzPts val="1400"/>
              <a:buChar char="○"/>
              <a:defRPr>
                <a:solidFill>
                  <a:schemeClr val="dk2"/>
                </a:solidFill>
              </a:defRPr>
            </a:lvl5pPr>
            <a:lvl6pPr marL="2743200" indent="-317500">
              <a:lnSpc>
                <a:spcPct val="115000"/>
              </a:lnSpc>
              <a:spcBef>
                <a:spcPts val="0"/>
              </a:spcBef>
              <a:spcAft>
                <a:spcPts val="0"/>
              </a:spcAft>
              <a:buClr>
                <a:schemeClr val="dk2"/>
              </a:buClr>
              <a:buSzPts val="1400"/>
              <a:buChar char="■"/>
              <a:defRPr>
                <a:solidFill>
                  <a:schemeClr val="dk2"/>
                </a:solidFill>
              </a:defRPr>
            </a:lvl6pPr>
            <a:lvl7pPr marL="3200400" indent="-317500">
              <a:lnSpc>
                <a:spcPct val="115000"/>
              </a:lnSpc>
              <a:spcBef>
                <a:spcPts val="0"/>
              </a:spcBef>
              <a:spcAft>
                <a:spcPts val="0"/>
              </a:spcAft>
              <a:buClr>
                <a:schemeClr val="dk2"/>
              </a:buClr>
              <a:buSzPts val="1400"/>
              <a:buChar char="●"/>
              <a:defRPr>
                <a:solidFill>
                  <a:schemeClr val="dk2"/>
                </a:solidFill>
              </a:defRPr>
            </a:lvl7pPr>
            <a:lvl8pPr marL="3657600" indent="-317500">
              <a:lnSpc>
                <a:spcPct val="115000"/>
              </a:lnSpc>
              <a:spcBef>
                <a:spcPts val="0"/>
              </a:spcBef>
              <a:spcAft>
                <a:spcPts val="0"/>
              </a:spcAft>
              <a:buClr>
                <a:schemeClr val="dk2"/>
              </a:buClr>
              <a:buSzPts val="1400"/>
              <a:buChar char="○"/>
              <a:defRPr>
                <a:solidFill>
                  <a:schemeClr val="dk2"/>
                </a:solidFill>
              </a:defRPr>
            </a:lvl8pPr>
            <a:lvl9pPr marL="4114800" indent="-317500">
              <a:lnSpc>
                <a:spcPct val="115000"/>
              </a:lnSpc>
              <a:spcBef>
                <a:spcPts val="0"/>
              </a:spcBef>
              <a:spcAft>
                <a:spcPts val="0"/>
              </a:spcAft>
              <a:buClr>
                <a:schemeClr val="dk2"/>
              </a:buClr>
              <a:buSzPts val="1400"/>
              <a:buChar char="■"/>
              <a:defRPr>
                <a:solidFill>
                  <a:schemeClr val="dk2"/>
                </a:solidFill>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FD55E178-2200-4F3C-806D-10F276EB1B2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365516b2faab4627"/>
    <p:sldLayoutId xmlns:r="http://schemas.openxmlformats.org/officeDocument/2006/relationships" id="2147483650" r:id="R26d8558114ef4ab2"/>
    <p:sldLayoutId xmlns:r="http://schemas.openxmlformats.org/officeDocument/2006/relationships" id="2147483651" r:id="R95c89b4a697d4e67"/>
    <p:sldLayoutId xmlns:r="http://schemas.openxmlformats.org/officeDocument/2006/relationships" id="2147483652" r:id="R2668f9d1aa364583"/>
    <p:sldLayoutId xmlns:r="http://schemas.openxmlformats.org/officeDocument/2006/relationships" id="2147483653" r:id="R66d3cb709a214ddc"/>
    <p:sldLayoutId xmlns:r="http://schemas.openxmlformats.org/officeDocument/2006/relationships" id="2147483654" r:id="R6b68dd933f494675"/>
    <p:sldLayoutId xmlns:r="http://schemas.openxmlformats.org/officeDocument/2006/relationships" id="2147483655" r:id="Rb80166ed2af1493e"/>
    <p:sldLayoutId xmlns:r="http://schemas.openxmlformats.org/officeDocument/2006/relationships" id="2147483656" r:id="R2c3844b232814d77"/>
    <p:sldLayoutId xmlns:r="http://schemas.openxmlformats.org/officeDocument/2006/relationships" id="2147483657" r:id="R4891be90025949e5"/>
    <p:sldLayoutId xmlns:r="http://schemas.openxmlformats.org/officeDocument/2006/relationships" id="2147483658" r:id="Rb92e6f9f0ffe4529"/>
    <p:sldLayoutId xmlns:r="http://schemas.openxmlformats.org/officeDocument/2006/relationships" id="2147483659" r:id="R244137965c964015"/>
    <p:sldLayoutId xmlns:r="http://schemas.openxmlformats.org/officeDocument/2006/relationships" id="2147483660" r:id="Rd288f761c46e4cca"/>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47727bf8c1b34c2f" /><Relationship Type="http://schemas.openxmlformats.org/officeDocument/2006/relationships/notesSlide" Target="/ppt/notesSlides/notesSlide1.xml" Id="Rafc1b591cf3945cb"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a03c659009054a53" /><Relationship Type="http://schemas.openxmlformats.org/officeDocument/2006/relationships/notesSlide" Target="/ppt/notesSlides/notesSlide2.xml" Id="R0d15e931cfd44605"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aa59887f16144daf" /><Relationship Type="http://schemas.openxmlformats.org/officeDocument/2006/relationships/notesSlide" Target="/ppt/notesSlides/notesSlide3.xml" Id="R876f5979408d47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5676e5c82af84588" /><Relationship Type="http://schemas.openxmlformats.org/officeDocument/2006/relationships/notesSlide" Target="/ppt/notesSlides/notesSlide4.xml" Id="R56be63edf7254758"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173efddf50994de0" /><Relationship Type="http://schemas.openxmlformats.org/officeDocument/2006/relationships/image" Target="/ppt/media/image.png" Id="R6f6ef0f1e9a84b4a" /><Relationship Type="http://schemas.openxmlformats.org/officeDocument/2006/relationships/notesSlide" Target="/ppt/notesSlides/notesSlide5.xml" Id="R56a79ece40494a0f"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9dc54dab9f384ddc" /><Relationship Type="http://schemas.openxmlformats.org/officeDocument/2006/relationships/notesSlide" Target="/ppt/notesSlides/notesSlide6.xml" Id="R4894350e34df43cc"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c4de04a5b081423a" /><Relationship Type="http://schemas.openxmlformats.org/officeDocument/2006/relationships/notesSlide" Target="/ppt/notesSlides/notesSlide7.xml" Id="R3bffb8abc4e64a56"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2ab45fbac541416f" /><Relationship Type="http://schemas.openxmlformats.org/officeDocument/2006/relationships/image" Target="/ppt/media/image2.png" Id="R64e9e963c1a24d4e" /><Relationship Type="http://schemas.openxmlformats.org/officeDocument/2006/relationships/notesSlide" Target="/ppt/notesSlides/notesSlide8.xml" Id="Rfa41015c963741a8"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95c05f083e794f15" /><Relationship Type="http://schemas.openxmlformats.org/officeDocument/2006/relationships/notesSlide" Target="/ppt/notesSlides/notesSlide9.xml" Id="R0e0d6564387d467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c5157bbc0a4f4e84" /><Relationship Type="http://schemas.openxmlformats.org/officeDocument/2006/relationships/notesSlide" Target="/ppt/notesSlides/notesSlide10.xml" Id="R1433360576df414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d8dc54f41fa4432a" /><Relationship Type="http://schemas.openxmlformats.org/officeDocument/2006/relationships/notesSlide" Target="/ppt/notesSlides/notesSlide11.xml" Id="R31accb28ad49417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3875b194480d484e" /><Relationship Type="http://schemas.openxmlformats.org/officeDocument/2006/relationships/notesSlide" Target="/ppt/notesSlides/notesSlide12.xml" Id="R7f966a651cc446c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b928c39e4a2d4579" /><Relationship Type="http://schemas.openxmlformats.org/officeDocument/2006/relationships/notesSlide" Target="/ppt/notesSlides/notesSlide13.xml" Id="Rc3d2c133e570478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a914a93166134760" /><Relationship Type="http://schemas.openxmlformats.org/officeDocument/2006/relationships/notesSlide" Target="/ppt/notesSlides/notesSlide14.xml" Id="Rcf365f17e0fb458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d5a76c60d38b41f5" /><Relationship Type="http://schemas.openxmlformats.org/officeDocument/2006/relationships/notesSlide" Target="/ppt/notesSlides/notesSlide15.xml" Id="R1355f6ac937f430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5db498e14a654def" /><Relationship Type="http://schemas.openxmlformats.org/officeDocument/2006/relationships/notesSlide" Target="/ppt/notesSlides/notesSlide16.xml" Id="R26a9f6a9149a4ef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53c0dfad40844a37" /><Relationship Type="http://schemas.openxmlformats.org/officeDocument/2006/relationships/notesSlide" Target="/ppt/notesSlides/notesSlide17.xml" Id="R7404f329112d4221" /></Relationships>
</file>

<file path=ppt/slides/slide1.xml><?xml version="1.0" encoding="utf-8"?>
<p:sld xmlns:p="http://schemas.openxmlformats.org/presentationml/2006/main">
  <p:cSld>
    <p:bg>
      <p:bgPr>
        <a:solidFill xmlns:a="http://schemas.openxmlformats.org/drawingml/2006/main">
          <a:srgbClr val="EB2227"/>
        </a:solidFill>
      </p:bgPr>
    </p:bg>
    <p:spTree>
      <p:nvGrpSpPr>
        <p:cNvPr id="1" name=""/>
        <p:cNvGrpSpPr/>
        <p:nvPr/>
      </p:nvGrpSpPr>
      <p:grpSpPr>
        <a:xfrm xmlns:a="http://schemas.openxmlformats.org/drawingml/2006/main"/>
      </p:grpSpPr>
      <p:sp>
        <p:nvSpPr>
          <p:cNvPr id="181" name="Google Shape;181;p25">
            <a:extLst xmlns:a="http://schemas.openxmlformats.org/drawingml/2006/main">
              <a:ext uri="{FF2B5EF4-FFF2-40B4-BE49-F238E27FC236}">
                <a16:creationId xmlns:a16="http://schemas.microsoft.com/office/drawing/2014/main" id="{B8224111-B850-4D1D-AAC9-77707B026654}"/>
              </a:ext>
            </a:extLst>
          </p:cNvPr>
          <p:cNvSpPr>
            <a:spLocks xmlns:a="http://schemas.openxmlformats.org/drawingml/2006/main" noGrp="1"/>
          </p:cNvSpPr>
          <p:nvPr>
            <p:ph type="title" idx="0"/>
          </p:nvPr>
        </p:nvSpPr>
        <p:spPr>
          <a:xfrm xmlns:a="http://schemas.openxmlformats.org/drawingml/2006/main">
            <a:off x="409575" y="2743200"/>
            <a:ext cx="8286750" cy="81915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lnSpc>
                <a:spcPct val="115000"/>
              </a:lnSpc>
              <a:spcBef>
                <a:spcPts val="0"/>
              </a:spcBef>
              <a:spcAft>
                <a:spcPts val="0"/>
              </a:spcAft>
              <a:buNone/>
              <a:defRPr sz="4875" b="0">
                <a:solidFill>
                  <a:srgbClr val="FFFFFF"/>
                </a:solidFill>
                <a:latin typeface="Work Sans"/>
                <a:ea typeface="Work Sans"/>
                <a:cs typeface="Work Sans"/>
              </a:defRPr>
            </a:pPr>
            <a:r>
              <a:rPr sz="4875" b="0">
                <a:solidFill>
                  <a:srgbClr val="FFFFFF"/>
                </a:solidFill>
                <a:latin typeface="Work Sans"/>
                <a:ea typeface="Work Sans"/>
                <a:cs typeface="Work Sans"/>
              </a:rPr>
              <a:t>Thesis</a:t>
            </a:r>
          </a:p>
        </p:txBody>
      </p:sp>
      <p:sp>
        <p:nvSpPr>
          <p:cNvPr id="182" name="Google Shape;182;p25">
            <a:extLst xmlns:a="http://schemas.openxmlformats.org/drawingml/2006/main">
              <a:ext uri="{FF2B5EF4-FFF2-40B4-BE49-F238E27FC236}">
                <a16:creationId xmlns:a16="http://schemas.microsoft.com/office/drawing/2014/main" id="{EFF0E017-A694-40CB-BF3D-5B01543E08A1}"/>
              </a:ext>
            </a:extLst>
          </p:cNvPr>
          <p:cNvSpPr>
            <a:spLocks xmlns:a="http://schemas.openxmlformats.org/drawingml/2006/main" noGrp="1"/>
          </p:cNvSpPr>
          <p:nvPr/>
        </p:nvSpPr>
        <p:spPr>
          <a:xfrm xmlns:a="http://schemas.openxmlformats.org/drawingml/2006/main">
            <a:off x="5715000" y="409575"/>
            <a:ext cx="2952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lnSpc>
                <a:spcPct val="115000"/>
              </a:lnSpc>
              <a:spcBef>
                <a:spcPts val="0"/>
              </a:spcBef>
              <a:spcAft>
                <a:spcPts val="0"/>
              </a:spcAft>
              <a:buNone/>
              <a:defRPr sz="1050" b="0">
                <a:solidFill>
                  <a:srgbClr val="FFFFFF"/>
                </a:solidFill>
                <a:latin typeface="Ubuntu Mono"/>
                <a:ea typeface="Ubuntu Mono"/>
                <a:cs typeface="Ubuntu Mono"/>
              </a:defRPr>
            </a:pPr>
            <a:r>
              <a:rPr sz="1050" b="0">
                <a:solidFill>
                  <a:srgbClr val="FFFFFF"/>
                </a:solidFill>
                <a:latin typeface="Ubuntu Mono"/>
                <a:ea typeface="Ubuntu Mono"/>
                <a:cs typeface="Ubuntu Mono"/>
              </a:rPr>
              <a:t>Thesis   9 October 2026</a:t>
            </a:r>
          </a:p>
        </p:txBody>
      </p:sp>
      <p:sp>
        <p:nvSpPr>
          <p:cNvPr id="185" name="Google Shape;185;p25">
            <a:extLst xmlns:a="http://schemas.openxmlformats.org/drawingml/2006/main">
              <a:ext uri="{FF2B5EF4-FFF2-40B4-BE49-F238E27FC236}">
                <a16:creationId xmlns:a16="http://schemas.microsoft.com/office/drawing/2014/main" id="{AB050B74-E3A9-45ED-886A-FB309C7299C4}"/>
              </a:ext>
            </a:extLst>
          </p:cNvPr>
          <p:cNvSpPr>
            <a:spLocks xmlns:a="http://schemas.openxmlformats.org/drawingml/2006/main" noGrp="1"/>
          </p:cNvSpPr>
          <p:nvPr>
            <p:ph type="sldNum" idx="12"/>
          </p:nvPr>
        </p:nvSpPr>
        <p:spPr>
          <a:xfrm xmlns:a="http://schemas.openxmlformats.org/drawingml/2006/main">
            <a:off x="8334375" y="4686300"/>
            <a:ext cx="428625" cy="20955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r">
              <a:lnSpc>
                <a:spcPct val="115000"/>
              </a:lnSpc>
              <a:spcBef>
                <a:spcPts val="0"/>
              </a:spcBef>
              <a:spcAft>
                <a:spcPts val="0"/>
              </a:spcAft>
              <a:buNone/>
              <a:defRPr sz="975" b="0">
                <a:solidFill>
                  <a:srgbClr val="FFFFFF"/>
                </a:solidFill>
                <a:latin typeface="Ubuntu Mono"/>
                <a:ea typeface="Ubuntu Mono"/>
                <a:cs typeface="Ubuntu Mono"/>
              </a:defRPr>
            </a:pPr>
            <a:r>
              <a:rPr sz="975" b="0">
                <a:solidFill>
                  <a:srgbClr val="FFFFFF"/>
                </a:solidFill>
                <a:latin typeface="Ubuntu Mono"/>
                <a:ea typeface="Ubuntu Mono"/>
                <a:cs typeface="Ubuntu Mono"/>
              </a:rPr>
              <a:t>01</a:t>
            </a:r>
          </a:p>
        </p:txBody>
      </p:sp>
      <p:sp>
        <p:nvSpPr>
          <p:cNvPr id="186" name="Thesis 1 Investment research you can revi">
            <a:extLst xmlns:a="http://schemas.openxmlformats.org/drawingml/2006/main">
              <a:ext uri="{FF2B5EF4-FFF2-40B4-BE49-F238E27FC236}">
                <a16:creationId xmlns:a16="http://schemas.microsoft.com/office/drawing/2014/main" id="{66AD4168-AB0A-41E1-872C-BCD225270623}"/>
              </a:ext>
            </a:extLst>
          </p:cNvPr>
          <p:cNvSpPr>
            <a:spLocks xmlns:a="http://schemas.openxmlformats.org/drawingml/2006/main" noGrp="1"/>
          </p:cNvSpPr>
          <p:nvPr/>
        </p:nvSpPr>
        <p:spPr>
          <a:xfrm xmlns:a="http://schemas.openxmlformats.org/drawingml/2006/main">
            <a:off x="419100" y="3619500"/>
            <a:ext cx="814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FFFFFF"/>
                </a:solidFill>
                <a:latin typeface="Ubuntu Mono"/>
                <a:ea typeface="Ubuntu Mono"/>
                <a:cs typeface="Ubuntu Mono"/>
              </a:defRPr>
            </a:pPr>
            <a:r>
              <a:rPr sz="2175" b="0">
                <a:solidFill>
                  <a:srgbClr val="FFFFFF"/>
                </a:solidFill>
                <a:latin typeface="Ubuntu Mono"/>
                <a:ea typeface="Ubuntu Mono"/>
                <a:cs typeface="Ubuntu Mono"/>
              </a:rPr>
              <a:t>Investment research you can revisit</a:t>
            </a:r>
          </a:p>
        </p:txBody>
      </p:sp>
      <p:sp>
        <p:nvSpPr>
          <p:cNvPr id="187" name="Thesis 1 Bryant &amp; Jia Hui">
            <a:extLst xmlns:a="http://schemas.openxmlformats.org/drawingml/2006/main">
              <a:ext uri="{FF2B5EF4-FFF2-40B4-BE49-F238E27FC236}">
                <a16:creationId xmlns:a16="http://schemas.microsoft.com/office/drawing/2014/main" id="{D996B957-4C22-4948-8EC2-3FFD5A684808}"/>
              </a:ext>
            </a:extLst>
          </p:cNvPr>
          <p:cNvSpPr>
            <a:spLocks xmlns:a="http://schemas.openxmlformats.org/drawingml/2006/main" noGrp="1"/>
          </p:cNvSpPr>
          <p:nvPr/>
        </p:nvSpPr>
        <p:spPr>
          <a:xfrm xmlns:a="http://schemas.openxmlformats.org/drawingml/2006/main">
            <a:off x="419100" y="417195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FFFFFF"/>
                </a:solidFill>
                <a:latin typeface="Ubuntu Mono"/>
                <a:ea typeface="Ubuntu Mono"/>
                <a:cs typeface="Ubuntu Mono"/>
              </a:defRPr>
            </a:pPr>
            <a:r>
              <a:rPr sz="1500" b="0">
                <a:solidFill>
                  <a:srgbClr val="FFFFFF"/>
                </a:solidFill>
                <a:latin typeface="Ubuntu Mono"/>
                <a:ea typeface="Ubuntu Mono"/>
                <a:cs typeface="Ubuntu Mono"/>
              </a:rPr>
              <a:t>Bryant &amp; Jia Hui</a:t>
            </a:r>
          </a:p>
        </p:txBody>
      </p:sp>
    </p:spTree>
    <p:extLst>
      <p:ext uri="{BB962C8B-B14F-4D97-AF65-F5344CB8AC3E}">
        <p14:creationId xmlns:p14="http://schemas.microsoft.com/office/powerpoint/2010/main" val="109903254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90" name="Google Shape;190;p26">
            <a:extLst xmlns:a="http://schemas.openxmlformats.org/drawingml/2006/main">
              <a:ext uri="{FF2B5EF4-FFF2-40B4-BE49-F238E27FC236}">
                <a16:creationId xmlns:a16="http://schemas.microsoft.com/office/drawing/2014/main" id="{9D2DEB30-225B-4780-9BB4-E00068DC4208}"/>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lnSpc>
                <a:spcPct val="115000"/>
              </a:lnSpc>
              <a:spcBef>
                <a:spcPts val="0"/>
              </a:spcBef>
              <a:spcAft>
                <a:spcPts val="0"/>
              </a:spcAft>
              <a:buNone/>
              <a:defRPr sz="2550" b="0">
                <a:solidFill>
                  <a:srgbClr val="000000"/>
                </a:solidFill>
                <a:latin typeface="Work Sans"/>
                <a:ea typeface="Work Sans"/>
                <a:cs typeface="Work Sans"/>
              </a:defRPr>
            </a:pPr>
            <a:r>
              <a:rPr sz="2550" b="0">
                <a:solidFill>
                  <a:srgbClr val="000000"/>
                </a:solidFill>
                <a:latin typeface="Work Sans"/>
                <a:ea typeface="Work Sans"/>
                <a:cs typeface="Work Sans"/>
              </a:rPr>
              <a:t>The Thesis pitch</a:t>
            </a:r>
          </a:p>
        </p:txBody>
      </p:sp>
      <p:sp>
        <p:nvSpPr>
          <p:cNvPr id="191" name="Google Shape;191;p26">
            <a:extLst xmlns:a="http://schemas.openxmlformats.org/drawingml/2006/main">
              <a:ext uri="{FF2B5EF4-FFF2-40B4-BE49-F238E27FC236}">
                <a16:creationId xmlns:a16="http://schemas.microsoft.com/office/drawing/2014/main" id="{2573B89C-DB31-42FD-9772-4108BEA8650E}"/>
              </a:ext>
            </a:extLst>
          </p:cNvPr>
          <p:cNvSpPr>
            <a:spLocks xmlns:a="http://schemas.openxmlformats.org/drawingml/2006/main" noGrp="1"/>
          </p:cNvSpPr>
          <p:nvPr>
            <p:ph type="body" idx="1"/>
          </p:nvPr>
        </p:nvSpPr>
        <p:spPr>
          <a:xfrm xmlns:a="http://schemas.openxmlformats.org/drawingml/2006/main">
            <a:off x="409575" y="1323975"/>
            <a:ext cx="8324850" cy="295275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nSpc>
                <a:spcPct val="115000"/>
              </a:lnSpc>
              <a:spcBef>
                <a:spcPts val="0"/>
              </a:spcBef>
              <a:spcAft>
                <a:spcPts val="0"/>
              </a:spcAft>
              <a:buNone/>
            </a:pPr>
            <a:r>
              <a:rPr sz="1650" b="0">
                <a:solidFill>
                  <a:srgbClr val="000000"/>
                </a:solidFill>
                <a:latin typeface="Ubuntu Mono"/>
                <a:ea typeface="Ubuntu Mono"/>
                <a:cs typeface="Ubuntu Mono"/>
              </a:rPr>
              <a:t/>
            </a:r>
          </a:p>
        </p:txBody>
      </p:sp>
      <p:sp>
        <p:nvSpPr>
          <p:cNvPr id="192" name="Google Shape;192;p26">
            <a:extLst xmlns:a="http://schemas.openxmlformats.org/drawingml/2006/main">
              <a:ext uri="{FF2B5EF4-FFF2-40B4-BE49-F238E27FC236}">
                <a16:creationId xmlns:a16="http://schemas.microsoft.com/office/drawing/2014/main" id="{2CFACD8F-D5D2-41D0-A10C-DF7854D7658F}"/>
              </a:ext>
            </a:extLst>
          </p:cNvPr>
          <p:cNvSpPr>
            <a:spLocks xmlns:a="http://schemas.openxmlformats.org/drawingml/2006/main" noGrp="1"/>
          </p:cNvSpPr>
          <p:nvPr/>
        </p:nvSpPr>
        <p:spPr>
          <a:xfrm xmlns:a="http://schemas.openxmlformats.org/drawingml/2006/main">
            <a:off x="400050" y="4686300"/>
            <a:ext cx="2952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lnSpc>
                <a:spcPct val="115000"/>
              </a:lnSpc>
              <a:spcBef>
                <a:spcPts val="0"/>
              </a:spcBef>
              <a:spcAft>
                <a:spcPts val="0"/>
              </a:spcAft>
              <a:buNone/>
              <a:defRPr sz="1050" b="0">
                <a:solidFill>
                  <a:srgbClr val="595959"/>
                </a:solidFill>
                <a:latin typeface="Ubuntu Mono"/>
                <a:ea typeface="Ubuntu Mono"/>
                <a:cs typeface="Ubuntu Mono"/>
              </a:defRPr>
            </a:pPr>
            <a:r>
              <a:rPr sz="1050" b="0">
                <a:solidFill>
                  <a:srgbClr val="595959"/>
                </a:solidFill>
                <a:latin typeface="Ubuntu Mono"/>
                <a:ea typeface="Ubuntu Mono"/>
                <a:cs typeface="Ubuntu Mono"/>
              </a:rPr>
              <a:t>Thesis   9 October 2026</a:t>
            </a:r>
          </a:p>
        </p:txBody>
      </p:sp>
      <p:sp>
        <p:nvSpPr>
          <p:cNvPr id="195" name="Google Shape;195;p26">
            <a:extLst xmlns:a="http://schemas.openxmlformats.org/drawingml/2006/main">
              <a:ext uri="{FF2B5EF4-FFF2-40B4-BE49-F238E27FC236}">
                <a16:creationId xmlns:a16="http://schemas.microsoft.com/office/drawing/2014/main" id="{54086C58-55ED-49FA-9199-ABFB3F0ED4E2}"/>
              </a:ext>
            </a:extLst>
          </p:cNvPr>
          <p:cNvSpPr>
            <a:spLocks xmlns:a="http://schemas.openxmlformats.org/drawingml/2006/main" noGrp="1"/>
          </p:cNvSpPr>
          <p:nvPr>
            <p:ph type="sldNum" idx="12"/>
          </p:nvPr>
        </p:nvSpPr>
        <p:spPr>
          <a:xfrm xmlns:a="http://schemas.openxmlformats.org/drawingml/2006/main">
            <a:off x="8334375" y="4686300"/>
            <a:ext cx="428625" cy="20955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r">
              <a:lnSpc>
                <a:spcPct val="115000"/>
              </a:lnSpc>
              <a:spcBef>
                <a:spcPts val="0"/>
              </a:spcBef>
              <a:spcAft>
                <a:spcPts val="0"/>
              </a:spcAft>
              <a:buNone/>
              <a:defRPr sz="975" b="0">
                <a:solidFill>
                  <a:srgbClr val="595959"/>
                </a:solidFill>
                <a:latin typeface="Ubuntu Mono"/>
                <a:ea typeface="Ubuntu Mono"/>
                <a:cs typeface="Ubuntu Mono"/>
              </a:defRPr>
            </a:pPr>
            <a:r>
              <a:rPr sz="975" b="0">
                <a:solidFill>
                  <a:srgbClr val="595959"/>
                </a:solidFill>
                <a:latin typeface="Ubuntu Mono"/>
                <a:ea typeface="Ubuntu Mono"/>
                <a:cs typeface="Ubuntu Mono"/>
              </a:rPr>
              <a:t>02</a:t>
            </a:r>
          </a:p>
        </p:txBody>
      </p:sp>
      <p:sp>
        <p:nvSpPr>
          <p:cNvPr id="196" name="Thesis 2 The research problem">
            <a:extLst xmlns:a="http://schemas.openxmlformats.org/drawingml/2006/main">
              <a:ext uri="{FF2B5EF4-FFF2-40B4-BE49-F238E27FC236}">
                <a16:creationId xmlns:a16="http://schemas.microsoft.com/office/drawing/2014/main" id="{B3865493-16D1-44FF-9DBA-7F4E6C23EFD5}"/>
              </a:ext>
            </a:extLst>
          </p:cNvPr>
          <p:cNvSpPr>
            <a:spLocks xmlns:a="http://schemas.openxmlformats.org/drawingml/2006/main" noGrp="1"/>
          </p:cNvSpPr>
          <p:nvPr/>
        </p:nvSpPr>
        <p:spPr>
          <a:xfrm xmlns:a="http://schemas.openxmlformats.org/drawingml/2006/main">
            <a:off x="409575" y="1323975"/>
            <a:ext cx="8324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00000"/>
                </a:solidFill>
                <a:latin typeface="Work Sans"/>
                <a:ea typeface="Work Sans"/>
                <a:cs typeface="Work Sans"/>
              </a:defRPr>
            </a:pPr>
            <a:r>
              <a:rPr sz="1725" b="1">
                <a:solidFill>
                  <a:srgbClr val="000000"/>
                </a:solidFill>
                <a:latin typeface="Work Sans"/>
                <a:ea typeface="Work Sans"/>
                <a:cs typeface="Work Sans"/>
              </a:rPr>
              <a:t>The research problem</a:t>
            </a:r>
          </a:p>
        </p:txBody>
      </p:sp>
      <p:sp>
        <p:nvSpPr>
          <p:cNvPr id="197" name="Thesis 2 Why an investment idea needs evi">
            <a:extLst xmlns:a="http://schemas.openxmlformats.org/drawingml/2006/main">
              <a:ext uri="{FF2B5EF4-FFF2-40B4-BE49-F238E27FC236}">
                <a16:creationId xmlns:a16="http://schemas.microsoft.com/office/drawing/2014/main" id="{8B3E1A28-70EC-417B-9978-291B50D8CD34}"/>
              </a:ext>
            </a:extLst>
          </p:cNvPr>
          <p:cNvSpPr>
            <a:spLocks xmlns:a="http://schemas.openxmlformats.org/drawingml/2006/main" noGrp="1"/>
          </p:cNvSpPr>
          <p:nvPr/>
        </p:nvSpPr>
        <p:spPr>
          <a:xfrm xmlns:a="http://schemas.openxmlformats.org/drawingml/2006/main">
            <a:off x="409575" y="1619250"/>
            <a:ext cx="8324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95959"/>
                </a:solidFill>
                <a:latin typeface="Ubuntu Mono"/>
                <a:ea typeface="Ubuntu Mono"/>
                <a:cs typeface="Ubuntu Mono"/>
              </a:defRPr>
            </a:pPr>
            <a:r>
              <a:rPr sz="1500" b="0">
                <a:solidFill>
                  <a:srgbClr val="595959"/>
                </a:solidFill>
                <a:latin typeface="Ubuntu Mono"/>
                <a:ea typeface="Ubuntu Mono"/>
                <a:cs typeface="Ubuntu Mono"/>
              </a:rPr>
              <a:t>Why an investment idea needs evidence and a way to revisit it</a:t>
            </a:r>
          </a:p>
        </p:txBody>
      </p:sp>
      <p:sp>
        <p:nvSpPr>
          <p:cNvPr id="198" name="Thesis 2 The product">
            <a:extLst xmlns:a="http://schemas.openxmlformats.org/drawingml/2006/main">
              <a:ext uri="{FF2B5EF4-FFF2-40B4-BE49-F238E27FC236}">
                <a16:creationId xmlns:a16="http://schemas.microsoft.com/office/drawing/2014/main" id="{56A1486A-617F-47A6-8E54-A1A2DFAAE58D}"/>
              </a:ext>
            </a:extLst>
          </p:cNvPr>
          <p:cNvSpPr>
            <a:spLocks xmlns:a="http://schemas.openxmlformats.org/drawingml/2006/main" noGrp="1"/>
          </p:cNvSpPr>
          <p:nvPr/>
        </p:nvSpPr>
        <p:spPr>
          <a:xfrm xmlns:a="http://schemas.openxmlformats.org/drawingml/2006/main">
            <a:off x="409575" y="2028825"/>
            <a:ext cx="8324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00000"/>
                </a:solidFill>
                <a:latin typeface="Work Sans"/>
                <a:ea typeface="Work Sans"/>
                <a:cs typeface="Work Sans"/>
              </a:defRPr>
            </a:pPr>
            <a:r>
              <a:rPr sz="1725" b="1">
                <a:solidFill>
                  <a:srgbClr val="000000"/>
                </a:solidFill>
                <a:latin typeface="Work Sans"/>
                <a:ea typeface="Work Sans"/>
                <a:cs typeface="Work Sans"/>
              </a:rPr>
              <a:t>The product</a:t>
            </a:r>
          </a:p>
        </p:txBody>
      </p:sp>
      <p:sp>
        <p:nvSpPr>
          <p:cNvPr id="199" name="Thesis 2 A working workspace for company ">
            <a:extLst xmlns:a="http://schemas.openxmlformats.org/drawingml/2006/main">
              <a:ext uri="{FF2B5EF4-FFF2-40B4-BE49-F238E27FC236}">
                <a16:creationId xmlns:a16="http://schemas.microsoft.com/office/drawing/2014/main" id="{BEF256D8-4C12-4705-A8CD-B044B57944CA}"/>
              </a:ext>
            </a:extLst>
          </p:cNvPr>
          <p:cNvSpPr>
            <a:spLocks xmlns:a="http://schemas.openxmlformats.org/drawingml/2006/main" noGrp="1"/>
          </p:cNvSpPr>
          <p:nvPr/>
        </p:nvSpPr>
        <p:spPr>
          <a:xfrm xmlns:a="http://schemas.openxmlformats.org/drawingml/2006/main">
            <a:off x="409575" y="2324100"/>
            <a:ext cx="8324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95959"/>
                </a:solidFill>
                <a:latin typeface="Ubuntu Mono"/>
                <a:ea typeface="Ubuntu Mono"/>
                <a:cs typeface="Ubuntu Mono"/>
              </a:defRPr>
            </a:pPr>
            <a:r>
              <a:rPr sz="1500" b="0">
                <a:solidFill>
                  <a:srgbClr val="595959"/>
                </a:solidFill>
                <a:latin typeface="Ubuntu Mono"/>
                <a:ea typeface="Ubuntu Mono"/>
                <a:cs typeface="Ubuntu Mono"/>
              </a:rPr>
              <a:t>A working workspace for company research and saved reasoning</a:t>
            </a:r>
          </a:p>
        </p:txBody>
      </p:sp>
      <p:sp>
        <p:nvSpPr>
          <p:cNvPr id="200" name="Thesis 2 The opportunity">
            <a:extLst xmlns:a="http://schemas.openxmlformats.org/drawingml/2006/main">
              <a:ext uri="{FF2B5EF4-FFF2-40B4-BE49-F238E27FC236}">
                <a16:creationId xmlns:a16="http://schemas.microsoft.com/office/drawing/2014/main" id="{F5577534-1248-498E-A816-13725BAFAAB2}"/>
              </a:ext>
            </a:extLst>
          </p:cNvPr>
          <p:cNvSpPr>
            <a:spLocks xmlns:a="http://schemas.openxmlformats.org/drawingml/2006/main" noGrp="1"/>
          </p:cNvSpPr>
          <p:nvPr/>
        </p:nvSpPr>
        <p:spPr>
          <a:xfrm xmlns:a="http://schemas.openxmlformats.org/drawingml/2006/main">
            <a:off x="409575" y="2733675"/>
            <a:ext cx="8324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00000"/>
                </a:solidFill>
                <a:latin typeface="Work Sans"/>
                <a:ea typeface="Work Sans"/>
                <a:cs typeface="Work Sans"/>
              </a:defRPr>
            </a:pPr>
            <a:r>
              <a:rPr sz="1725" b="1">
                <a:solidFill>
                  <a:srgbClr val="000000"/>
                </a:solidFill>
                <a:latin typeface="Work Sans"/>
                <a:ea typeface="Work Sans"/>
                <a:cs typeface="Work Sans"/>
              </a:rPr>
              <a:t>The opportunity</a:t>
            </a:r>
          </a:p>
        </p:txBody>
      </p:sp>
      <p:sp>
        <p:nvSpPr>
          <p:cNvPr id="201" name="Thesis 2 A campus pilot and a proposed su">
            <a:extLst xmlns:a="http://schemas.openxmlformats.org/drawingml/2006/main">
              <a:ext uri="{FF2B5EF4-FFF2-40B4-BE49-F238E27FC236}">
                <a16:creationId xmlns:a16="http://schemas.microsoft.com/office/drawing/2014/main" id="{CEFD0723-FD55-45AA-9502-209AD9291064}"/>
              </a:ext>
            </a:extLst>
          </p:cNvPr>
          <p:cNvSpPr>
            <a:spLocks xmlns:a="http://schemas.openxmlformats.org/drawingml/2006/main" noGrp="1"/>
          </p:cNvSpPr>
          <p:nvPr/>
        </p:nvSpPr>
        <p:spPr>
          <a:xfrm xmlns:a="http://schemas.openxmlformats.org/drawingml/2006/main">
            <a:off x="409575" y="3028950"/>
            <a:ext cx="8324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95959"/>
                </a:solidFill>
                <a:latin typeface="Ubuntu Mono"/>
                <a:ea typeface="Ubuntu Mono"/>
                <a:cs typeface="Ubuntu Mono"/>
              </a:defRPr>
            </a:pPr>
            <a:r>
              <a:rPr sz="1500" b="0">
                <a:solidFill>
                  <a:srgbClr val="595959"/>
                </a:solidFill>
                <a:latin typeface="Ubuntu Mono"/>
                <a:ea typeface="Ubuntu Mono"/>
                <a:cs typeface="Ubuntu Mono"/>
              </a:rPr>
              <a:t>A campus pilot and a proposed subscription model</a:t>
            </a:r>
          </a:p>
        </p:txBody>
      </p:sp>
      <p:sp>
        <p:nvSpPr>
          <p:cNvPr id="202" name="Thesis 2 The next stage">
            <a:extLst xmlns:a="http://schemas.openxmlformats.org/drawingml/2006/main">
              <a:ext uri="{FF2B5EF4-FFF2-40B4-BE49-F238E27FC236}">
                <a16:creationId xmlns:a16="http://schemas.microsoft.com/office/drawing/2014/main" id="{58A5B494-218E-4D3B-BC3C-586C245B3A93}"/>
              </a:ext>
            </a:extLst>
          </p:cNvPr>
          <p:cNvSpPr>
            <a:spLocks xmlns:a="http://schemas.openxmlformats.org/drawingml/2006/main" noGrp="1"/>
          </p:cNvSpPr>
          <p:nvPr/>
        </p:nvSpPr>
        <p:spPr>
          <a:xfrm xmlns:a="http://schemas.openxmlformats.org/drawingml/2006/main">
            <a:off x="409575" y="3438525"/>
            <a:ext cx="8324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00000"/>
                </a:solidFill>
                <a:latin typeface="Work Sans"/>
                <a:ea typeface="Work Sans"/>
                <a:cs typeface="Work Sans"/>
              </a:defRPr>
            </a:pPr>
            <a:r>
              <a:rPr sz="1725" b="1">
                <a:solidFill>
                  <a:srgbClr val="000000"/>
                </a:solidFill>
                <a:latin typeface="Work Sans"/>
                <a:ea typeface="Work Sans"/>
                <a:cs typeface="Work Sans"/>
              </a:rPr>
              <a:t>The next stage</a:t>
            </a:r>
          </a:p>
        </p:txBody>
      </p:sp>
      <p:sp>
        <p:nvSpPr>
          <p:cNvPr id="203" name="Thesis 2 Validate repeat use, research qu">
            <a:extLst xmlns:a="http://schemas.openxmlformats.org/drawingml/2006/main">
              <a:ext uri="{FF2B5EF4-FFF2-40B4-BE49-F238E27FC236}">
                <a16:creationId xmlns:a16="http://schemas.microsoft.com/office/drawing/2014/main" id="{4462FA46-9AE3-4ABA-9ED9-E774819A2B7A}"/>
              </a:ext>
            </a:extLst>
          </p:cNvPr>
          <p:cNvSpPr>
            <a:spLocks xmlns:a="http://schemas.openxmlformats.org/drawingml/2006/main" noGrp="1"/>
          </p:cNvSpPr>
          <p:nvPr/>
        </p:nvSpPr>
        <p:spPr>
          <a:xfrm xmlns:a="http://schemas.openxmlformats.org/drawingml/2006/main">
            <a:off x="409575" y="3733800"/>
            <a:ext cx="8324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95959"/>
                </a:solidFill>
                <a:latin typeface="Ubuntu Mono"/>
                <a:ea typeface="Ubuntu Mono"/>
                <a:cs typeface="Ubuntu Mono"/>
              </a:defRPr>
            </a:pPr>
            <a:r>
              <a:rPr sz="1500" b="0">
                <a:solidFill>
                  <a:srgbClr val="595959"/>
                </a:solidFill>
                <a:latin typeface="Ubuntu Mono"/>
                <a:ea typeface="Ubuntu Mono"/>
                <a:cs typeface="Ubuntu Mono"/>
              </a:rPr>
              <a:t>Validate repeat use, research quality and willingness to pay</a:t>
            </a:r>
          </a:p>
        </p:txBody>
      </p:sp>
    </p:spTree>
    <p:extLst>
      <p:ext uri="{BB962C8B-B14F-4D97-AF65-F5344CB8AC3E}">
        <p14:creationId xmlns:p14="http://schemas.microsoft.com/office/powerpoint/2010/main" val="2020634836"/>
      </p:ext>
    </p:extLst>
  </p:cSld>
</p:sld>
</file>

<file path=ppt/slides/slide3.xml><?xml version="1.0" encoding="utf-8"?>
<p:sld xmlns:p="http://schemas.openxmlformats.org/presentationml/2006/main">
  <p:cSld>
    <p:bg>
      <p:bgPr>
        <a:solidFill xmlns:a="http://schemas.openxmlformats.org/drawingml/2006/main">
          <a:schemeClr val="dk1"/>
        </a:solidFill>
      </p:bgPr>
    </p:bg>
    <p:spTree>
      <p:nvGrpSpPr>
        <p:cNvPr id="1" name=""/>
        <p:cNvGrpSpPr/>
        <p:nvPr/>
      </p:nvGrpSpPr>
      <p:grpSpPr>
        <a:xfrm xmlns:a="http://schemas.openxmlformats.org/drawingml/2006/main"/>
      </p:grpSpPr>
      <p:sp>
        <p:nvSpPr>
          <p:cNvPr id="200" name="Google Shape;200;p27">
            <a:extLst xmlns:a="http://schemas.openxmlformats.org/drawingml/2006/main">
              <a:ext uri="{FF2B5EF4-FFF2-40B4-BE49-F238E27FC236}">
                <a16:creationId xmlns:a16="http://schemas.microsoft.com/office/drawing/2014/main" id="{06429B3A-F28A-4D3A-9B04-43B487E96B00}"/>
              </a:ext>
            </a:extLst>
          </p:cNvPr>
          <p:cNvSpPr>
            <a:spLocks xmlns:a="http://schemas.openxmlformats.org/drawingml/2006/main" noGrp="1"/>
          </p:cNvSpPr>
          <p:nvPr>
            <p:ph type="title" idx="0"/>
          </p:nvPr>
        </p:nvSpPr>
        <p:spPr>
          <a:xfrm xmlns:a="http://schemas.openxmlformats.org/drawingml/2006/main">
            <a:off x="666750" y="1285875"/>
            <a:ext cx="7810500" cy="14859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ctr">
              <a:lnSpc>
                <a:spcPct val="115000"/>
              </a:lnSpc>
              <a:spcBef>
                <a:spcPts val="0"/>
              </a:spcBef>
              <a:spcAft>
                <a:spcPts val="0"/>
              </a:spcAft>
              <a:buNone/>
              <a:defRPr sz="2775" b="0">
                <a:solidFill>
                  <a:srgbClr val="FFFFFF"/>
                </a:solidFill>
                <a:latin typeface="Work Sans"/>
                <a:ea typeface="Work Sans"/>
                <a:cs typeface="Work Sans"/>
              </a:defRPr>
            </a:pPr>
            <a:r>
              <a:rPr sz="2775" b="0">
                <a:solidFill>
                  <a:srgbClr val="FFFFFF"/>
                </a:solidFill>
                <a:latin typeface="Work Sans"/>
                <a:ea typeface="Work Sans"/>
                <a:cs typeface="Work Sans"/>
              </a:rPr>
              <a:t>Help new investors understand</a:t>
            </a:r>
          </a:p>
          <a:p xmlns:a="http://schemas.openxmlformats.org/drawingml/2006/main">
            <a:pPr marL="0" indent="0" algn="ctr">
              <a:lnSpc>
                <a:spcPct val="115000"/>
              </a:lnSpc>
              <a:spcBef>
                <a:spcPts val="0"/>
              </a:spcBef>
              <a:spcAft>
                <a:spcPts val="0"/>
              </a:spcAft>
              <a:buNone/>
              <a:defRPr sz="2775" b="0">
                <a:solidFill>
                  <a:srgbClr val="FFFFFF"/>
                </a:solidFill>
                <a:latin typeface="Work Sans"/>
                <a:ea typeface="Work Sans"/>
                <a:cs typeface="Work Sans"/>
              </a:defRPr>
            </a:pPr>
            <a:r>
              <a:rPr sz="2775" b="0">
                <a:solidFill>
                  <a:srgbClr val="FFFFFF"/>
                </a:solidFill>
                <a:latin typeface="Work Sans"/>
                <a:ea typeface="Work Sans"/>
                <a:cs typeface="Work Sans"/>
              </a:rPr>
              <a:t>what they believe, why they believe it,</a:t>
            </a:r>
          </a:p>
          <a:p xmlns:a="http://schemas.openxmlformats.org/drawingml/2006/main">
            <a:pPr marL="0" indent="0" algn="ctr">
              <a:lnSpc>
                <a:spcPct val="115000"/>
              </a:lnSpc>
              <a:spcBef>
                <a:spcPts val="0"/>
              </a:spcBef>
              <a:spcAft>
                <a:spcPts val="0"/>
              </a:spcAft>
              <a:buNone/>
              <a:defRPr sz="2775" b="0">
                <a:solidFill>
                  <a:srgbClr val="FFFFFF"/>
                </a:solidFill>
                <a:latin typeface="Work Sans"/>
                <a:ea typeface="Work Sans"/>
                <a:cs typeface="Work Sans"/>
              </a:defRPr>
            </a:pPr>
            <a:r>
              <a:rPr sz="2775" b="0">
                <a:solidFill>
                  <a:srgbClr val="FFFFFF"/>
                </a:solidFill>
                <a:latin typeface="Work Sans"/>
                <a:ea typeface="Work Sans"/>
                <a:cs typeface="Work Sans"/>
              </a:rPr>
              <a:t>and when the evidence changes</a:t>
            </a:r>
          </a:p>
        </p:txBody>
      </p:sp>
      <p:sp>
        <p:nvSpPr>
          <p:cNvPr id="201" name="Google Shape;201;p27">
            <a:extLst xmlns:a="http://schemas.openxmlformats.org/drawingml/2006/main">
              <a:ext uri="{FF2B5EF4-FFF2-40B4-BE49-F238E27FC236}">
                <a16:creationId xmlns:a16="http://schemas.microsoft.com/office/drawing/2014/main" id="{FBAECDF2-F56C-47D1-BE3E-38B90B30D676}"/>
              </a:ext>
            </a:extLst>
          </p:cNvPr>
          <p:cNvSpPr>
            <a:spLocks xmlns:a="http://schemas.openxmlformats.org/drawingml/2006/main" noGrp="1"/>
          </p:cNvSpPr>
          <p:nvPr/>
        </p:nvSpPr>
        <p:spPr>
          <a:xfrm xmlns:a="http://schemas.openxmlformats.org/drawingml/2006/main">
            <a:off x="619125" y="3228975"/>
            <a:ext cx="7905750" cy="628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ctr">
              <a:lnSpc>
                <a:spcPct val="115000"/>
              </a:lnSpc>
              <a:spcBef>
                <a:spcPts val="0"/>
              </a:spcBef>
              <a:spcAft>
                <a:spcPts val="0"/>
              </a:spcAft>
              <a:buNone/>
              <a:defRPr sz="1575" b="0">
                <a:solidFill>
                  <a:srgbClr val="FFFFFF"/>
                </a:solidFill>
                <a:latin typeface="Ubuntu Mono"/>
                <a:ea typeface="Ubuntu Mono"/>
                <a:cs typeface="Ubuntu Mono"/>
              </a:defRPr>
            </a:pPr>
            <a:r>
              <a:rPr sz="1575" b="0">
                <a:solidFill>
                  <a:srgbClr val="FFFFFF"/>
                </a:solidFill>
                <a:latin typeface="Ubuntu Mono"/>
                <a:ea typeface="Ubuntu Mono"/>
                <a:cs typeface="Ubuntu Mono"/>
              </a:rPr>
              <a:t>A research workspace built around the investor’s own reasoning</a:t>
            </a:r>
          </a:p>
        </p:txBody>
      </p:sp>
      <p:sp>
        <p:nvSpPr>
          <p:cNvPr id="202" name="Google Shape;202;p27">
            <a:extLst xmlns:a="http://schemas.openxmlformats.org/drawingml/2006/main">
              <a:ext uri="{FF2B5EF4-FFF2-40B4-BE49-F238E27FC236}">
                <a16:creationId xmlns:a16="http://schemas.microsoft.com/office/drawing/2014/main" id="{C4D701BC-AA91-4B3A-8805-052F1291A4D8}"/>
              </a:ext>
            </a:extLst>
          </p:cNvPr>
          <p:cNvSpPr>
            <a:spLocks xmlns:a="http://schemas.openxmlformats.org/drawingml/2006/main" noGrp="1"/>
          </p:cNvSpPr>
          <p:nvPr/>
        </p:nvSpPr>
        <p:spPr>
          <a:xfrm xmlns:a="http://schemas.openxmlformats.org/drawingml/2006/main">
            <a:off x="400050" y="4686300"/>
            <a:ext cx="2952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lnSpc>
                <a:spcPct val="115000"/>
              </a:lnSpc>
              <a:spcBef>
                <a:spcPts val="0"/>
              </a:spcBef>
              <a:spcAft>
                <a:spcPts val="0"/>
              </a:spcAft>
              <a:buNone/>
              <a:defRPr sz="1050" b="0">
                <a:solidFill>
                  <a:srgbClr val="FFFFFF"/>
                </a:solidFill>
                <a:latin typeface="Ubuntu Mono"/>
                <a:ea typeface="Ubuntu Mono"/>
                <a:cs typeface="Ubuntu Mono"/>
              </a:defRPr>
            </a:pPr>
            <a:r>
              <a:rPr sz="1050" b="0">
                <a:solidFill>
                  <a:srgbClr val="FFFFFF"/>
                </a:solidFill>
                <a:latin typeface="Ubuntu Mono"/>
                <a:ea typeface="Ubuntu Mono"/>
                <a:cs typeface="Ubuntu Mono"/>
              </a:rPr>
              <a:t>Thesis   9 October 2026</a:t>
            </a:r>
          </a:p>
        </p:txBody>
      </p:sp>
      <p:sp>
        <p:nvSpPr>
          <p:cNvPr id="205" name="Google Shape;205;p27">
            <a:extLst xmlns:a="http://schemas.openxmlformats.org/drawingml/2006/main">
              <a:ext uri="{FF2B5EF4-FFF2-40B4-BE49-F238E27FC236}">
                <a16:creationId xmlns:a16="http://schemas.microsoft.com/office/drawing/2014/main" id="{DA6F8F8C-307A-4FA3-A2BC-9771F5863F7A}"/>
              </a:ext>
            </a:extLst>
          </p:cNvPr>
          <p:cNvSpPr>
            <a:spLocks xmlns:a="http://schemas.openxmlformats.org/drawingml/2006/main" noGrp="1"/>
          </p:cNvSpPr>
          <p:nvPr>
            <p:ph type="sldNum" idx="12"/>
          </p:nvPr>
        </p:nvSpPr>
        <p:spPr>
          <a:xfrm xmlns:a="http://schemas.openxmlformats.org/drawingml/2006/main">
            <a:off x="8334375" y="4686300"/>
            <a:ext cx="428625" cy="20955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r">
              <a:lnSpc>
                <a:spcPct val="115000"/>
              </a:lnSpc>
              <a:spcBef>
                <a:spcPts val="0"/>
              </a:spcBef>
              <a:spcAft>
                <a:spcPts val="0"/>
              </a:spcAft>
              <a:buNone/>
              <a:defRPr sz="975" b="0">
                <a:solidFill>
                  <a:srgbClr val="FFFFFF"/>
                </a:solidFill>
                <a:latin typeface="Ubuntu Mono"/>
                <a:ea typeface="Ubuntu Mono"/>
                <a:cs typeface="Ubuntu Mono"/>
              </a:defRPr>
            </a:pPr>
            <a:r>
              <a:rPr sz="975" b="0">
                <a:solidFill>
                  <a:srgbClr val="FFFFFF"/>
                </a:solidFill>
                <a:latin typeface="Ubuntu Mono"/>
                <a:ea typeface="Ubuntu Mono"/>
                <a:cs typeface="Ubuntu Mono"/>
              </a:rPr>
              <a:t>03</a:t>
            </a:r>
          </a:p>
        </p:txBody>
      </p:sp>
    </p:spTree>
    <p:extLst>
      <p:ext uri="{BB962C8B-B14F-4D97-AF65-F5344CB8AC3E}">
        <p14:creationId xmlns:p14="http://schemas.microsoft.com/office/powerpoint/2010/main" val="96953548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0" name="Google Shape;210;p28">
            <a:extLst xmlns:a="http://schemas.openxmlformats.org/drawingml/2006/main">
              <a:ext uri="{FF2B5EF4-FFF2-40B4-BE49-F238E27FC236}">
                <a16:creationId xmlns:a16="http://schemas.microsoft.com/office/drawing/2014/main" id="{CC83EAB1-B68C-4D38-A244-8721BBC37095}"/>
              </a:ext>
            </a:extLst>
          </p:cNvPr>
          <p:cNvSpPr>
            <a:spLocks xmlns:a="http://schemas.openxmlformats.org/drawingml/2006/main" noGrp="1"/>
          </p:cNvSpPr>
          <p:nvPr>
            <p:ph type="title" idx="0"/>
          </p:nvPr>
        </p:nvSpPr>
        <p:spPr>
          <a:xfrm xmlns:a="http://schemas.openxmlformats.org/drawingml/2006/main">
            <a:off x="387900" y="445025"/>
            <a:ext cx="8520600" cy="5727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lnSpc>
                <a:spcPct val="115000"/>
              </a:lnSpc>
              <a:spcBef>
                <a:spcPts val="0"/>
              </a:spcBef>
              <a:spcAft>
                <a:spcPts val="0"/>
              </a:spcAft>
              <a:buNone/>
              <a:defRPr sz="2550" b="0">
                <a:solidFill>
                  <a:srgbClr val="000000"/>
                </a:solidFill>
                <a:latin typeface="Work Sans"/>
                <a:ea typeface="Work Sans"/>
                <a:cs typeface="Work Sans"/>
              </a:defRPr>
            </a:pPr>
            <a:r>
              <a:rPr sz="2550" b="0">
                <a:solidFill>
                  <a:srgbClr val="000000"/>
                </a:solidFill>
                <a:latin typeface="Work Sans"/>
                <a:ea typeface="Work Sans"/>
                <a:cs typeface="Work Sans"/>
              </a:rPr>
              <a:t>The problem: keeping a reasoned view</a:t>
            </a:r>
          </a:p>
        </p:txBody>
      </p:sp>
      <p:sp>
        <p:nvSpPr>
          <p:cNvPr id="211" name="Google Shape;211;p28">
            <a:extLst xmlns:a="http://schemas.openxmlformats.org/drawingml/2006/main">
              <a:ext uri="{FF2B5EF4-FFF2-40B4-BE49-F238E27FC236}">
                <a16:creationId xmlns:a16="http://schemas.microsoft.com/office/drawing/2014/main" id="{B8FBDB77-1702-47FC-A244-55896A852FEA}"/>
              </a:ext>
            </a:extLst>
          </p:cNvPr>
          <p:cNvSpPr>
            <a:spLocks xmlns:a="http://schemas.openxmlformats.org/drawingml/2006/main" noGrp="1"/>
          </p:cNvSpPr>
          <p:nvPr>
            <p:ph type="body" idx="1"/>
          </p:nvPr>
        </p:nvSpPr>
        <p:spPr>
          <a:xfrm xmlns:a="http://schemas.openxmlformats.org/drawingml/2006/main">
            <a:off x="485775" y="1257300"/>
            <a:ext cx="8096250" cy="295275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nSpc>
                <a:spcPct val="115000"/>
              </a:lnSpc>
              <a:spcBef>
                <a:spcPts val="0"/>
              </a:spcBef>
              <a:spcAft>
                <a:spcPts val="0"/>
              </a:spcAft>
              <a:buNone/>
            </a:pPr>
            <a:r>
              <a:rPr sz="1650" b="0">
                <a:solidFill>
                  <a:srgbClr val="000000"/>
                </a:solidFill>
                <a:latin typeface="Ubuntu Mono"/>
                <a:ea typeface="Ubuntu Mono"/>
                <a:cs typeface="Ubuntu Mono"/>
              </a:rPr>
              <a:t/>
            </a:r>
          </a:p>
        </p:txBody>
      </p:sp>
      <p:sp>
        <p:nvSpPr>
          <p:cNvPr id="212" name="Google Shape;212;p28">
            <a:extLst xmlns:a="http://schemas.openxmlformats.org/drawingml/2006/main">
              <a:ext uri="{FF2B5EF4-FFF2-40B4-BE49-F238E27FC236}">
                <a16:creationId xmlns:a16="http://schemas.microsoft.com/office/drawing/2014/main" id="{3894985D-E902-497C-9189-8DF7C0609492}"/>
              </a:ext>
            </a:extLst>
          </p:cNvPr>
          <p:cNvSpPr>
            <a:spLocks xmlns:a="http://schemas.openxmlformats.org/drawingml/2006/main" noGrp="1"/>
          </p:cNvSpPr>
          <p:nvPr/>
        </p:nvSpPr>
        <p:spPr>
          <a:xfrm xmlns:a="http://schemas.openxmlformats.org/drawingml/2006/main">
            <a:off x="400050" y="4686300"/>
            <a:ext cx="2952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lnSpc>
                <a:spcPct val="115000"/>
              </a:lnSpc>
              <a:spcBef>
                <a:spcPts val="0"/>
              </a:spcBef>
              <a:spcAft>
                <a:spcPts val="0"/>
              </a:spcAft>
              <a:buNone/>
              <a:defRPr sz="1050" b="0">
                <a:solidFill>
                  <a:srgbClr val="595959"/>
                </a:solidFill>
                <a:latin typeface="Ubuntu Mono"/>
                <a:ea typeface="Ubuntu Mono"/>
                <a:cs typeface="Ubuntu Mono"/>
              </a:defRPr>
            </a:pPr>
            <a:r>
              <a:rPr sz="1050" b="0">
                <a:solidFill>
                  <a:srgbClr val="595959"/>
                </a:solidFill>
                <a:latin typeface="Ubuntu Mono"/>
                <a:ea typeface="Ubuntu Mono"/>
                <a:cs typeface="Ubuntu Mono"/>
              </a:rPr>
              <a:t>Thesis   9 October 2026</a:t>
            </a:r>
          </a:p>
        </p:txBody>
      </p:sp>
      <p:sp>
        <p:nvSpPr>
          <p:cNvPr id="215" name="Google Shape;215;p28">
            <a:extLst xmlns:a="http://schemas.openxmlformats.org/drawingml/2006/main">
              <a:ext uri="{FF2B5EF4-FFF2-40B4-BE49-F238E27FC236}">
                <a16:creationId xmlns:a16="http://schemas.microsoft.com/office/drawing/2014/main" id="{E03C957C-C368-408F-B22D-05506C6712D0}"/>
              </a:ext>
            </a:extLst>
          </p:cNvPr>
          <p:cNvSpPr>
            <a:spLocks xmlns:a="http://schemas.openxmlformats.org/drawingml/2006/main" noGrp="1"/>
          </p:cNvSpPr>
          <p:nvPr>
            <p:ph type="sldNum" idx="12"/>
          </p:nvPr>
        </p:nvSpPr>
        <p:spPr>
          <a:xfrm xmlns:a="http://schemas.openxmlformats.org/drawingml/2006/main">
            <a:off x="8334375" y="4686300"/>
            <a:ext cx="428625" cy="20955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r">
              <a:lnSpc>
                <a:spcPct val="115000"/>
              </a:lnSpc>
              <a:spcBef>
                <a:spcPts val="0"/>
              </a:spcBef>
              <a:spcAft>
                <a:spcPts val="0"/>
              </a:spcAft>
              <a:buNone/>
              <a:defRPr sz="975" b="0">
                <a:solidFill>
                  <a:srgbClr val="595959"/>
                </a:solidFill>
                <a:latin typeface="Ubuntu Mono"/>
                <a:ea typeface="Ubuntu Mono"/>
                <a:cs typeface="Ubuntu Mono"/>
              </a:defRPr>
            </a:pPr>
            <a:r>
              <a:rPr sz="975" b="0">
                <a:solidFill>
                  <a:srgbClr val="595959"/>
                </a:solidFill>
                <a:latin typeface="Ubuntu Mono"/>
                <a:ea typeface="Ubuntu Mono"/>
                <a:cs typeface="Ubuntu Mono"/>
              </a:rPr>
              <a:t>04</a:t>
            </a:r>
          </a:p>
        </p:txBody>
      </p:sp>
      <p:sp>
        <p:nvSpPr>
          <p:cNvPr id="216" name="Thesis 4 Information lives in separate pl">
            <a:extLst xmlns:a="http://schemas.openxmlformats.org/drawingml/2006/main">
              <a:ext uri="{FF2B5EF4-FFF2-40B4-BE49-F238E27FC236}">
                <a16:creationId xmlns:a16="http://schemas.microsoft.com/office/drawing/2014/main" id="{CB97DA0D-0115-47EB-BADB-E0F136C681F6}"/>
              </a:ext>
            </a:extLst>
          </p:cNvPr>
          <p:cNvSpPr>
            <a:spLocks xmlns:a="http://schemas.openxmlformats.org/drawingml/2006/main" noGrp="1"/>
          </p:cNvSpPr>
          <p:nvPr/>
        </p:nvSpPr>
        <p:spPr>
          <a:xfrm xmlns:a="http://schemas.openxmlformats.org/drawingml/2006/main">
            <a:off x="485775" y="1257300"/>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00000"/>
                </a:solidFill>
                <a:latin typeface="Work Sans"/>
                <a:ea typeface="Work Sans"/>
                <a:cs typeface="Work Sans"/>
              </a:defRPr>
            </a:pPr>
            <a:r>
              <a:rPr sz="1725" b="1">
                <a:solidFill>
                  <a:srgbClr val="000000"/>
                </a:solidFill>
                <a:latin typeface="Work Sans"/>
                <a:ea typeface="Work Sans"/>
                <a:cs typeface="Work Sans"/>
              </a:rPr>
              <a:t>Information lives in separate places</a:t>
            </a:r>
          </a:p>
        </p:txBody>
      </p:sp>
      <p:sp>
        <p:nvSpPr>
          <p:cNvPr id="217" name="Thesis 4 Filings, financial charts, headl">
            <a:extLst xmlns:a="http://schemas.openxmlformats.org/drawingml/2006/main">
              <a:ext uri="{FF2B5EF4-FFF2-40B4-BE49-F238E27FC236}">
                <a16:creationId xmlns:a16="http://schemas.microsoft.com/office/drawing/2014/main" id="{F0F841B1-F675-4B38-81A4-0A009BACACDD}"/>
              </a:ext>
            </a:extLst>
          </p:cNvPr>
          <p:cNvSpPr>
            <a:spLocks xmlns:a="http://schemas.openxmlformats.org/drawingml/2006/main" noGrp="1"/>
          </p:cNvSpPr>
          <p:nvPr/>
        </p:nvSpPr>
        <p:spPr>
          <a:xfrm xmlns:a="http://schemas.openxmlformats.org/drawingml/2006/main">
            <a:off x="485775" y="1552575"/>
            <a:ext cx="809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95959"/>
                </a:solidFill>
                <a:latin typeface="Ubuntu Mono"/>
                <a:ea typeface="Ubuntu Mono"/>
                <a:cs typeface="Ubuntu Mono"/>
              </a:defRPr>
            </a:pPr>
            <a:r>
              <a:rPr sz="1500" b="0">
                <a:solidFill>
                  <a:srgbClr val="595959"/>
                </a:solidFill>
                <a:latin typeface="Ubuntu Mono"/>
                <a:ea typeface="Ubuntu Mono"/>
                <a:cs typeface="Ubuntu Mono"/>
              </a:rPr>
              <a:t>Filings, financial charts, headlines and discussions need context.</a:t>
            </a:r>
          </a:p>
        </p:txBody>
      </p:sp>
      <p:sp>
        <p:nvSpPr>
          <p:cNvPr id="218" name="Thesis 4 A convincing story still needs c">
            <a:extLst xmlns:a="http://schemas.openxmlformats.org/drawingml/2006/main">
              <a:ext uri="{FF2B5EF4-FFF2-40B4-BE49-F238E27FC236}">
                <a16:creationId xmlns:a16="http://schemas.microsoft.com/office/drawing/2014/main" id="{7A9229B1-AA85-4697-B298-55B8D00B381E}"/>
              </a:ext>
            </a:extLst>
          </p:cNvPr>
          <p:cNvSpPr>
            <a:spLocks xmlns:a="http://schemas.openxmlformats.org/drawingml/2006/main" noGrp="1"/>
          </p:cNvSpPr>
          <p:nvPr/>
        </p:nvSpPr>
        <p:spPr>
          <a:xfrm xmlns:a="http://schemas.openxmlformats.org/drawingml/2006/main">
            <a:off x="485775" y="197167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00000"/>
                </a:solidFill>
                <a:latin typeface="Work Sans"/>
                <a:ea typeface="Work Sans"/>
                <a:cs typeface="Work Sans"/>
              </a:defRPr>
            </a:pPr>
            <a:r>
              <a:rPr sz="1725" b="1">
                <a:solidFill>
                  <a:srgbClr val="000000"/>
                </a:solidFill>
                <a:latin typeface="Work Sans"/>
                <a:ea typeface="Work Sans"/>
                <a:cs typeface="Work Sans"/>
              </a:rPr>
              <a:t>A convincing story still needs checking</a:t>
            </a:r>
          </a:p>
        </p:txBody>
      </p:sp>
      <p:sp>
        <p:nvSpPr>
          <p:cNvPr id="219" name="Thesis 4 New investors need to distinguis">
            <a:extLst xmlns:a="http://schemas.openxmlformats.org/drawingml/2006/main">
              <a:ext uri="{FF2B5EF4-FFF2-40B4-BE49-F238E27FC236}">
                <a16:creationId xmlns:a16="http://schemas.microsoft.com/office/drawing/2014/main" id="{AAABD87B-26CC-4722-83DB-CBFFCCB514B4}"/>
              </a:ext>
            </a:extLst>
          </p:cNvPr>
          <p:cNvSpPr>
            <a:spLocks xmlns:a="http://schemas.openxmlformats.org/drawingml/2006/main" noGrp="1"/>
          </p:cNvSpPr>
          <p:nvPr/>
        </p:nvSpPr>
        <p:spPr>
          <a:xfrm xmlns:a="http://schemas.openxmlformats.org/drawingml/2006/main">
            <a:off x="485775" y="2266950"/>
            <a:ext cx="809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95959"/>
                </a:solidFill>
                <a:latin typeface="Ubuntu Mono"/>
                <a:ea typeface="Ubuntu Mono"/>
                <a:cs typeface="Ubuntu Mono"/>
              </a:defRPr>
            </a:pPr>
            <a:r>
              <a:rPr sz="1500" b="0">
                <a:solidFill>
                  <a:srgbClr val="595959"/>
                </a:solidFill>
                <a:latin typeface="Ubuntu Mono"/>
                <a:ea typeface="Ubuntu Mono"/>
                <a:cs typeface="Ubuntu Mono"/>
              </a:rPr>
              <a:t>New investors need to distinguish reported facts from expectations.</a:t>
            </a:r>
          </a:p>
        </p:txBody>
      </p:sp>
      <p:sp>
        <p:nvSpPr>
          <p:cNvPr id="220" name="Thesis 4 The original reasoning is easy t">
            <a:extLst xmlns:a="http://schemas.openxmlformats.org/drawingml/2006/main">
              <a:ext uri="{FF2B5EF4-FFF2-40B4-BE49-F238E27FC236}">
                <a16:creationId xmlns:a16="http://schemas.microsoft.com/office/drawing/2014/main" id="{079F44FF-F82A-4C77-9AA8-9CFD7B0E09CF}"/>
              </a:ext>
            </a:extLst>
          </p:cNvPr>
          <p:cNvSpPr>
            <a:spLocks xmlns:a="http://schemas.openxmlformats.org/drawingml/2006/main" noGrp="1"/>
          </p:cNvSpPr>
          <p:nvPr/>
        </p:nvSpPr>
        <p:spPr>
          <a:xfrm xmlns:a="http://schemas.openxmlformats.org/drawingml/2006/main">
            <a:off x="485775" y="2686050"/>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00000"/>
                </a:solidFill>
                <a:latin typeface="Work Sans"/>
                <a:ea typeface="Work Sans"/>
                <a:cs typeface="Work Sans"/>
              </a:defRPr>
            </a:pPr>
            <a:r>
              <a:rPr sz="1725" b="1">
                <a:solidFill>
                  <a:srgbClr val="000000"/>
                </a:solidFill>
                <a:latin typeface="Work Sans"/>
                <a:ea typeface="Work Sans"/>
                <a:cs typeface="Work Sans"/>
              </a:rPr>
              <a:t>The original reasoning is easy to lose</a:t>
            </a:r>
          </a:p>
        </p:txBody>
      </p:sp>
      <p:sp>
        <p:nvSpPr>
          <p:cNvPr id="221" name="Thesis 4 A saved note rarely explains wha">
            <a:extLst xmlns:a="http://schemas.openxmlformats.org/drawingml/2006/main">
              <a:ext uri="{FF2B5EF4-FFF2-40B4-BE49-F238E27FC236}">
                <a16:creationId xmlns:a16="http://schemas.microsoft.com/office/drawing/2014/main" id="{0E0D3BE6-C1B4-4E72-B5CD-E4882EAED6F5}"/>
              </a:ext>
            </a:extLst>
          </p:cNvPr>
          <p:cNvSpPr>
            <a:spLocks xmlns:a="http://schemas.openxmlformats.org/drawingml/2006/main" noGrp="1"/>
          </p:cNvSpPr>
          <p:nvPr/>
        </p:nvSpPr>
        <p:spPr>
          <a:xfrm xmlns:a="http://schemas.openxmlformats.org/drawingml/2006/main">
            <a:off x="485775" y="2981325"/>
            <a:ext cx="809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95959"/>
                </a:solidFill>
                <a:latin typeface="Ubuntu Mono"/>
                <a:ea typeface="Ubuntu Mono"/>
                <a:cs typeface="Ubuntu Mono"/>
              </a:defRPr>
            </a:pPr>
            <a:r>
              <a:rPr sz="1500" b="0">
                <a:solidFill>
                  <a:srgbClr val="595959"/>
                </a:solidFill>
                <a:latin typeface="Ubuntu Mono"/>
                <a:ea typeface="Ubuntu Mono"/>
                <a:cs typeface="Ubuntu Mono"/>
              </a:rPr>
              <a:t>A saved note rarely explains what later evidence means for the idea.</a:t>
            </a:r>
          </a:p>
        </p:txBody>
      </p:sp>
      <p:sp>
        <p:nvSpPr>
          <p:cNvPr id="222" name="Thesis 4 Our hypothesis">
            <a:extLst xmlns:a="http://schemas.openxmlformats.org/drawingml/2006/main">
              <a:ext uri="{FF2B5EF4-FFF2-40B4-BE49-F238E27FC236}">
                <a16:creationId xmlns:a16="http://schemas.microsoft.com/office/drawing/2014/main" id="{85E87C54-8938-40EF-810A-63B0F82F8ED5}"/>
              </a:ext>
            </a:extLst>
          </p:cNvPr>
          <p:cNvSpPr>
            <a:spLocks xmlns:a="http://schemas.openxmlformats.org/drawingml/2006/main" noGrp="1"/>
          </p:cNvSpPr>
          <p:nvPr/>
        </p:nvSpPr>
        <p:spPr>
          <a:xfrm xmlns:a="http://schemas.openxmlformats.org/drawingml/2006/main">
            <a:off x="485775" y="34004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00000"/>
                </a:solidFill>
                <a:latin typeface="Work Sans"/>
                <a:ea typeface="Work Sans"/>
                <a:cs typeface="Work Sans"/>
              </a:defRPr>
            </a:pPr>
            <a:r>
              <a:rPr sz="1725" b="1">
                <a:solidFill>
                  <a:srgbClr val="000000"/>
                </a:solidFill>
                <a:latin typeface="Work Sans"/>
                <a:ea typeface="Work Sans"/>
                <a:cs typeface="Work Sans"/>
              </a:rPr>
              <a:t>Our hypothesis</a:t>
            </a:r>
          </a:p>
        </p:txBody>
      </p:sp>
      <p:sp>
        <p:nvSpPr>
          <p:cNvPr id="223" name="Thesis 4 Research tied to an explicit the">
            <a:extLst xmlns:a="http://schemas.openxmlformats.org/drawingml/2006/main">
              <a:ext uri="{FF2B5EF4-FFF2-40B4-BE49-F238E27FC236}">
                <a16:creationId xmlns:a16="http://schemas.microsoft.com/office/drawing/2014/main" id="{6A09BA90-551B-49D7-9023-090DD253D169}"/>
              </a:ext>
            </a:extLst>
          </p:cNvPr>
          <p:cNvSpPr>
            <a:spLocks xmlns:a="http://schemas.openxmlformats.org/drawingml/2006/main" noGrp="1"/>
          </p:cNvSpPr>
          <p:nvPr/>
        </p:nvSpPr>
        <p:spPr>
          <a:xfrm xmlns:a="http://schemas.openxmlformats.org/drawingml/2006/main">
            <a:off x="485775" y="3695700"/>
            <a:ext cx="809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95959"/>
                </a:solidFill>
                <a:latin typeface="Ubuntu Mono"/>
                <a:ea typeface="Ubuntu Mono"/>
                <a:cs typeface="Ubuntu Mono"/>
              </a:defRPr>
            </a:pPr>
            <a:r>
              <a:rPr sz="1500" b="0">
                <a:solidFill>
                  <a:srgbClr val="595959"/>
                </a:solidFill>
                <a:latin typeface="Ubuntu Mono"/>
                <a:ea typeface="Ubuntu Mono"/>
                <a:cs typeface="Ubuntu Mono"/>
              </a:rPr>
              <a:t>Research tied to an explicit thesis can make review more useful.</a:t>
            </a:r>
          </a:p>
        </p:txBody>
      </p:sp>
    </p:spTree>
    <p:extLst>
      <p:ext uri="{BB962C8B-B14F-4D97-AF65-F5344CB8AC3E}">
        <p14:creationId xmlns:p14="http://schemas.microsoft.com/office/powerpoint/2010/main" val="65504404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20" name="Google Shape;220;p29">
            <a:extLst xmlns:a="http://schemas.openxmlformats.org/drawingml/2006/main">
              <a:ext uri="{FF2B5EF4-FFF2-40B4-BE49-F238E27FC236}">
                <a16:creationId xmlns:a16="http://schemas.microsoft.com/office/drawing/2014/main" id="{380B209A-D8DD-483A-A72F-5A7DA8364205}"/>
              </a:ext>
            </a:extLst>
          </p:cNvPr>
          <p:cNvSpPr>
            <a:spLocks xmlns:a="http://schemas.openxmlformats.org/drawingml/2006/main" noGrp="1"/>
          </p:cNvSpPr>
          <p:nvPr>
            <p:ph type="title" idx="0"/>
          </p:nvPr>
        </p:nvSpPr>
        <p:spPr>
          <a:xfrm xmlns:a="http://schemas.openxmlformats.org/drawingml/2006/main">
            <a:off x="387900" y="445025"/>
            <a:ext cx="8520600" cy="5727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lnSpc>
                <a:spcPct val="115000"/>
              </a:lnSpc>
              <a:spcBef>
                <a:spcPts val="0"/>
              </a:spcBef>
              <a:spcAft>
                <a:spcPts val="0"/>
              </a:spcAft>
              <a:buNone/>
              <a:defRPr sz="2550" b="0">
                <a:solidFill>
                  <a:srgbClr val="000000"/>
                </a:solidFill>
                <a:latin typeface="Work Sans"/>
                <a:ea typeface="Work Sans"/>
                <a:cs typeface="Work Sans"/>
              </a:defRPr>
            </a:pPr>
            <a:r>
              <a:rPr sz="2550" b="0">
                <a:solidFill>
                  <a:srgbClr val="000000"/>
                </a:solidFill>
                <a:latin typeface="Work Sans"/>
                <a:ea typeface="Work Sans"/>
                <a:cs typeface="Work Sans"/>
              </a:rPr>
              <a:t>The solution: one research workspace</a:t>
            </a:r>
          </a:p>
        </p:txBody>
      </p:sp>
      <p:sp>
        <p:nvSpPr>
          <p:cNvPr id="221" name="Google Shape;221;p29">
            <a:extLst xmlns:a="http://schemas.openxmlformats.org/drawingml/2006/main">
              <a:ext uri="{FF2B5EF4-FFF2-40B4-BE49-F238E27FC236}">
                <a16:creationId xmlns:a16="http://schemas.microsoft.com/office/drawing/2014/main" id="{1D1C74A2-A78B-4C37-AEB6-0F2A7ED39183}"/>
              </a:ext>
            </a:extLst>
          </p:cNvPr>
          <p:cNvSpPr>
            <a:spLocks xmlns:a="http://schemas.openxmlformats.org/drawingml/2006/main" noGrp="1"/>
          </p:cNvSpPr>
          <p:nvPr>
            <p:ph type="body" idx="1"/>
          </p:nvPr>
        </p:nvSpPr>
        <p:spPr>
          <a:xfrm xmlns:a="http://schemas.openxmlformats.org/drawingml/2006/main">
            <a:off x="485775" y="1304925"/>
            <a:ext cx="3829050" cy="295275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nSpc>
                <a:spcPct val="115000"/>
              </a:lnSpc>
              <a:spcBef>
                <a:spcPts val="0"/>
              </a:spcBef>
              <a:spcAft>
                <a:spcPts val="0"/>
              </a:spcAft>
              <a:buNone/>
            </a:pPr>
            <a:r>
              <a:rPr sz="1650" b="0">
                <a:solidFill>
                  <a:srgbClr val="000000"/>
                </a:solidFill>
                <a:latin typeface="Ubuntu Mono"/>
                <a:ea typeface="Ubuntu Mono"/>
                <a:cs typeface="Ubuntu Mono"/>
              </a:rPr>
              <a:t/>
            </a:r>
          </a:p>
        </p:txBody>
      </p:sp>
      <p:sp>
        <p:nvSpPr>
          <p:cNvPr id="222" name="Google Shape;222;p29">
            <a:extLst xmlns:a="http://schemas.openxmlformats.org/drawingml/2006/main">
              <a:ext uri="{FF2B5EF4-FFF2-40B4-BE49-F238E27FC236}">
                <a16:creationId xmlns:a16="http://schemas.microsoft.com/office/drawing/2014/main" id="{AA964826-D395-44C1-A5E2-FF300D08E448}"/>
              </a:ext>
            </a:extLst>
          </p:cNvPr>
          <p:cNvSpPr>
            <a:spLocks xmlns:a="http://schemas.openxmlformats.org/drawingml/2006/main" noGrp="1"/>
          </p:cNvSpPr>
          <p:nvPr/>
        </p:nvSpPr>
        <p:spPr>
          <a:xfrm xmlns:a="http://schemas.openxmlformats.org/drawingml/2006/main">
            <a:off x="400050" y="4686300"/>
            <a:ext cx="2952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lnSpc>
                <a:spcPct val="115000"/>
              </a:lnSpc>
              <a:spcBef>
                <a:spcPts val="0"/>
              </a:spcBef>
              <a:spcAft>
                <a:spcPts val="0"/>
              </a:spcAft>
              <a:buNone/>
              <a:defRPr sz="1050" b="0">
                <a:solidFill>
                  <a:srgbClr val="595959"/>
                </a:solidFill>
                <a:latin typeface="Ubuntu Mono"/>
                <a:ea typeface="Ubuntu Mono"/>
                <a:cs typeface="Ubuntu Mono"/>
              </a:defRPr>
            </a:pPr>
            <a:r>
              <a:rPr sz="1050" b="0">
                <a:solidFill>
                  <a:srgbClr val="595959"/>
                </a:solidFill>
                <a:latin typeface="Ubuntu Mono"/>
                <a:ea typeface="Ubuntu Mono"/>
                <a:cs typeface="Ubuntu Mono"/>
              </a:rPr>
              <a:t>Thesis   9 October 2026</a:t>
            </a:r>
          </a:p>
        </p:txBody>
      </p:sp>
      <p:sp>
        <p:nvSpPr>
          <p:cNvPr id="225" name="Google Shape;225;p29">
            <a:extLst xmlns:a="http://schemas.openxmlformats.org/drawingml/2006/main">
              <a:ext uri="{FF2B5EF4-FFF2-40B4-BE49-F238E27FC236}">
                <a16:creationId xmlns:a16="http://schemas.microsoft.com/office/drawing/2014/main" id="{106042A9-A518-4EF5-89DE-45264D0F84F5}"/>
              </a:ext>
            </a:extLst>
          </p:cNvPr>
          <p:cNvSpPr>
            <a:spLocks xmlns:a="http://schemas.openxmlformats.org/drawingml/2006/main" noGrp="1"/>
          </p:cNvSpPr>
          <p:nvPr>
            <p:ph type="sldNum" idx="12"/>
          </p:nvPr>
        </p:nvSpPr>
        <p:spPr>
          <a:xfrm xmlns:a="http://schemas.openxmlformats.org/drawingml/2006/main">
            <a:off x="8334375" y="4686300"/>
            <a:ext cx="428625" cy="20955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r">
              <a:lnSpc>
                <a:spcPct val="115000"/>
              </a:lnSpc>
              <a:spcBef>
                <a:spcPts val="0"/>
              </a:spcBef>
              <a:spcAft>
                <a:spcPts val="0"/>
              </a:spcAft>
              <a:buNone/>
              <a:defRPr sz="975" b="0">
                <a:solidFill>
                  <a:srgbClr val="595959"/>
                </a:solidFill>
                <a:latin typeface="Ubuntu Mono"/>
                <a:ea typeface="Ubuntu Mono"/>
                <a:cs typeface="Ubuntu Mono"/>
              </a:defRPr>
            </a:pPr>
            <a:r>
              <a:rPr sz="975" b="0">
                <a:solidFill>
                  <a:srgbClr val="595959"/>
                </a:solidFill>
                <a:latin typeface="Ubuntu Mono"/>
                <a:ea typeface="Ubuntu Mono"/>
                <a:cs typeface="Ubuntu Mono"/>
              </a:rPr>
              <a:t>05</a:t>
            </a:r>
          </a:p>
        </p:txBody>
      </p:sp>
      <p:pic>
        <p:nvPicPr>
          <p:cNvPr id="238" name="Google Shape;226;p29"/>
          <p:cNvPicPr>
            <a:picLocks xmlns:a="http://schemas.openxmlformats.org/drawingml/2006/main" noChangeAspect="1"/>
          </p:cNvPicPr>
          <p:nvPr/>
        </p:nvPicPr>
        <p:blipFill>
          <a:blip xmlns:r="http://schemas.openxmlformats.org/officeDocument/2006/relationships" xmlns:a="http://schemas.openxmlformats.org/drawingml/2006/main" r:embed="R6f6ef0f1e9a84b4a">
            <a:alphaModFix/>
          </a:blip>
          <a:stretch xmlns:a="http://schemas.openxmlformats.org/drawingml/2006/main"/>
        </p:blipFill>
        <p:spPr>
          <a:xfrm xmlns:a="http://schemas.openxmlformats.org/drawingml/2006/main">
            <a:off x="4448175" y="1269140"/>
            <a:ext cx="4295775" cy="3281495"/>
          </a:xfrm>
          <a:prstGeom xmlns:a="http://schemas.openxmlformats.org/drawingml/2006/main" prst="rect">
            <a:avLst/>
          </a:prstGeom>
          <a:ln xmlns:a="http://schemas.openxmlformats.org/drawingml/2006/main">
            <a:noFill/>
          </a:ln>
        </p:spPr>
      </p:pic>
      <p:sp>
        <p:nvSpPr>
          <p:cNvPr id="227" name="Thesis 5 Understand the company">
            <a:extLst xmlns:a="http://schemas.openxmlformats.org/drawingml/2006/main">
              <a:ext uri="{FF2B5EF4-FFF2-40B4-BE49-F238E27FC236}">
                <a16:creationId xmlns:a16="http://schemas.microsoft.com/office/drawing/2014/main" id="{F238800F-8104-40F6-8D8F-9471813893B6}"/>
              </a:ext>
            </a:extLst>
          </p:cNvPr>
          <p:cNvSpPr>
            <a:spLocks xmlns:a="http://schemas.openxmlformats.org/drawingml/2006/main" noGrp="1"/>
          </p:cNvSpPr>
          <p:nvPr/>
        </p:nvSpPr>
        <p:spPr>
          <a:xfrm xmlns:a="http://schemas.openxmlformats.org/drawingml/2006/main">
            <a:off x="485775" y="1304925"/>
            <a:ext cx="3829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00000"/>
                </a:solidFill>
                <a:latin typeface="Work Sans"/>
                <a:ea typeface="Work Sans"/>
                <a:cs typeface="Work Sans"/>
              </a:defRPr>
            </a:pPr>
            <a:r>
              <a:rPr sz="1725" b="1">
                <a:solidFill>
                  <a:srgbClr val="000000"/>
                </a:solidFill>
                <a:latin typeface="Work Sans"/>
                <a:ea typeface="Work Sans"/>
                <a:cs typeface="Work Sans"/>
              </a:rPr>
              <a:t>Understand the company</a:t>
            </a:r>
          </a:p>
        </p:txBody>
      </p:sp>
      <p:sp>
        <p:nvSpPr>
          <p:cNvPr id="228" name="Thesis 5 Read financials and expectations">
            <a:extLst xmlns:a="http://schemas.openxmlformats.org/drawingml/2006/main">
              <a:ext uri="{FF2B5EF4-FFF2-40B4-BE49-F238E27FC236}">
                <a16:creationId xmlns:a16="http://schemas.microsoft.com/office/drawing/2014/main" id="{B7D6ECDC-39E9-4EC0-959A-B4F456354AAB}"/>
              </a:ext>
            </a:extLst>
          </p:cNvPr>
          <p:cNvSpPr>
            <a:spLocks xmlns:a="http://schemas.openxmlformats.org/drawingml/2006/main" noGrp="1"/>
          </p:cNvSpPr>
          <p:nvPr/>
        </p:nvSpPr>
        <p:spPr>
          <a:xfrm xmlns:a="http://schemas.openxmlformats.org/drawingml/2006/main">
            <a:off x="485775" y="1600200"/>
            <a:ext cx="3829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95959"/>
                </a:solidFill>
                <a:latin typeface="Ubuntu Mono"/>
                <a:ea typeface="Ubuntu Mono"/>
                <a:cs typeface="Ubuntu Mono"/>
              </a:defRPr>
            </a:pPr>
            <a:r>
              <a:rPr sz="1500" b="0">
                <a:solidFill>
                  <a:srgbClr val="595959"/>
                </a:solidFill>
                <a:latin typeface="Ubuntu Mono"/>
                <a:ea typeface="Ubuntu Mono"/>
                <a:cs typeface="Ubuntu Mono"/>
              </a:rPr>
              <a:t>Read financials and expectations</a:t>
            </a:r>
          </a:p>
          <a:p xmlns:a="http://schemas.openxmlformats.org/drawingml/2006/main">
            <a:pPr algn="l">
              <a:defRPr sz="1500" b="0">
                <a:solidFill>
                  <a:srgbClr val="595959"/>
                </a:solidFill>
                <a:latin typeface="Ubuntu Mono"/>
                <a:ea typeface="Ubuntu Mono"/>
                <a:cs typeface="Ubuntu Mono"/>
              </a:defRPr>
            </a:pPr>
            <a:r>
              <a:rPr sz="1500" b="0">
                <a:solidFill>
                  <a:srgbClr val="595959"/>
                </a:solidFill>
                <a:latin typeface="Ubuntu Mono"/>
                <a:ea typeface="Ubuntu Mono"/>
                <a:cs typeface="Ubuntu Mono"/>
              </a:rPr>
              <a:t>with dates and original evidence.</a:t>
            </a:r>
          </a:p>
        </p:txBody>
      </p:sp>
      <p:sp>
        <p:nvSpPr>
          <p:cNvPr id="229" name="Thesis 5 Save the reasoning">
            <a:extLst xmlns:a="http://schemas.openxmlformats.org/drawingml/2006/main">
              <a:ext uri="{FF2B5EF4-FFF2-40B4-BE49-F238E27FC236}">
                <a16:creationId xmlns:a16="http://schemas.microsoft.com/office/drawing/2014/main" id="{4E8CF96B-FA63-4458-92C2-6E7B1B4388F7}"/>
              </a:ext>
            </a:extLst>
          </p:cNvPr>
          <p:cNvSpPr>
            <a:spLocks xmlns:a="http://schemas.openxmlformats.org/drawingml/2006/main" noGrp="1"/>
          </p:cNvSpPr>
          <p:nvPr/>
        </p:nvSpPr>
        <p:spPr>
          <a:xfrm xmlns:a="http://schemas.openxmlformats.org/drawingml/2006/main">
            <a:off x="485775" y="2266950"/>
            <a:ext cx="3829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00000"/>
                </a:solidFill>
                <a:latin typeface="Work Sans"/>
                <a:ea typeface="Work Sans"/>
                <a:cs typeface="Work Sans"/>
              </a:defRPr>
            </a:pPr>
            <a:r>
              <a:rPr sz="1725" b="1">
                <a:solidFill>
                  <a:srgbClr val="000000"/>
                </a:solidFill>
                <a:latin typeface="Work Sans"/>
                <a:ea typeface="Work Sans"/>
                <a:cs typeface="Work Sans"/>
              </a:rPr>
              <a:t>Save the reasoning</a:t>
            </a:r>
          </a:p>
        </p:txBody>
      </p:sp>
      <p:sp>
        <p:nvSpPr>
          <p:cNvPr id="230" name="Thesis 5 Keep a question, a view and the&#10;">
            <a:extLst xmlns:a="http://schemas.openxmlformats.org/drawingml/2006/main">
              <a:ext uri="{FF2B5EF4-FFF2-40B4-BE49-F238E27FC236}">
                <a16:creationId xmlns:a16="http://schemas.microsoft.com/office/drawing/2014/main" id="{779A85DD-4D1B-4716-8133-A3626858B022}"/>
              </a:ext>
            </a:extLst>
          </p:cNvPr>
          <p:cNvSpPr>
            <a:spLocks xmlns:a="http://schemas.openxmlformats.org/drawingml/2006/main" noGrp="1"/>
          </p:cNvSpPr>
          <p:nvPr/>
        </p:nvSpPr>
        <p:spPr>
          <a:xfrm xmlns:a="http://schemas.openxmlformats.org/drawingml/2006/main">
            <a:off x="485775" y="2562225"/>
            <a:ext cx="3829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95959"/>
                </a:solidFill>
                <a:latin typeface="Ubuntu Mono"/>
                <a:ea typeface="Ubuntu Mono"/>
                <a:cs typeface="Ubuntu Mono"/>
              </a:defRPr>
            </a:pPr>
            <a:r>
              <a:rPr sz="1500" b="0">
                <a:solidFill>
                  <a:srgbClr val="595959"/>
                </a:solidFill>
                <a:latin typeface="Ubuntu Mono"/>
                <a:ea typeface="Ubuntu Mono"/>
                <a:cs typeface="Ubuntu Mono"/>
              </a:rPr>
              <a:t>Keep a question, a view and the</a:t>
            </a:r>
          </a:p>
          <a:p xmlns:a="http://schemas.openxmlformats.org/drawingml/2006/main">
            <a:pPr algn="l">
              <a:defRPr sz="1500" b="0">
                <a:solidFill>
                  <a:srgbClr val="595959"/>
                </a:solidFill>
                <a:latin typeface="Ubuntu Mono"/>
                <a:ea typeface="Ubuntu Mono"/>
                <a:cs typeface="Ubuntu Mono"/>
              </a:defRPr>
            </a:pPr>
            <a:r>
              <a:rPr sz="1500" b="0">
                <a:solidFill>
                  <a:srgbClr val="595959"/>
                </a:solidFill>
                <a:latin typeface="Ubuntu Mono"/>
                <a:ea typeface="Ubuntu Mono"/>
                <a:cs typeface="Ubuntu Mono"/>
              </a:rPr>
              <a:t>conditions that would challenge it.</a:t>
            </a:r>
          </a:p>
        </p:txBody>
      </p:sp>
      <p:sp>
        <p:nvSpPr>
          <p:cNvPr id="231" name="Thesis 5 Review what changes">
            <a:extLst xmlns:a="http://schemas.openxmlformats.org/drawingml/2006/main">
              <a:ext uri="{FF2B5EF4-FFF2-40B4-BE49-F238E27FC236}">
                <a16:creationId xmlns:a16="http://schemas.microsoft.com/office/drawing/2014/main" id="{BA8ADA53-E46C-4204-97FE-780F6688E73B}"/>
              </a:ext>
            </a:extLst>
          </p:cNvPr>
          <p:cNvSpPr>
            <a:spLocks xmlns:a="http://schemas.openxmlformats.org/drawingml/2006/main" noGrp="1"/>
          </p:cNvSpPr>
          <p:nvPr/>
        </p:nvSpPr>
        <p:spPr>
          <a:xfrm xmlns:a="http://schemas.openxmlformats.org/drawingml/2006/main">
            <a:off x="485775" y="3228975"/>
            <a:ext cx="3829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00000"/>
                </a:solidFill>
                <a:latin typeface="Work Sans"/>
                <a:ea typeface="Work Sans"/>
                <a:cs typeface="Work Sans"/>
              </a:defRPr>
            </a:pPr>
            <a:r>
              <a:rPr sz="1725" b="1">
                <a:solidFill>
                  <a:srgbClr val="000000"/>
                </a:solidFill>
                <a:latin typeface="Work Sans"/>
                <a:ea typeface="Work Sans"/>
                <a:cs typeface="Work Sans"/>
              </a:rPr>
              <a:t>Review what changes</a:t>
            </a:r>
          </a:p>
        </p:txBody>
      </p:sp>
      <p:sp>
        <p:nvSpPr>
          <p:cNvPr id="232" name="Thesis 5 Inspect updates against the idea">
            <a:extLst xmlns:a="http://schemas.openxmlformats.org/drawingml/2006/main">
              <a:ext uri="{FF2B5EF4-FFF2-40B4-BE49-F238E27FC236}">
                <a16:creationId xmlns:a16="http://schemas.microsoft.com/office/drawing/2014/main" id="{07825E14-D24C-4204-AD3B-28601DE854F6}"/>
              </a:ext>
            </a:extLst>
          </p:cNvPr>
          <p:cNvSpPr>
            <a:spLocks xmlns:a="http://schemas.openxmlformats.org/drawingml/2006/main" noGrp="1"/>
          </p:cNvSpPr>
          <p:nvPr/>
        </p:nvSpPr>
        <p:spPr>
          <a:xfrm xmlns:a="http://schemas.openxmlformats.org/drawingml/2006/main">
            <a:off x="485775" y="3524250"/>
            <a:ext cx="3829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95959"/>
                </a:solidFill>
                <a:latin typeface="Ubuntu Mono"/>
                <a:ea typeface="Ubuntu Mono"/>
                <a:cs typeface="Ubuntu Mono"/>
              </a:defRPr>
            </a:pPr>
            <a:r>
              <a:rPr sz="1500" b="0">
                <a:solidFill>
                  <a:srgbClr val="595959"/>
                </a:solidFill>
                <a:latin typeface="Ubuntu Mono"/>
                <a:ea typeface="Ubuntu Mono"/>
                <a:cs typeface="Ubuntu Mono"/>
              </a:rPr>
              <a:t>Inspect updates against the idea</a:t>
            </a:r>
          </a:p>
          <a:p xmlns:a="http://schemas.openxmlformats.org/drawingml/2006/main">
            <a:pPr algn="l">
              <a:defRPr sz="1500" b="0">
                <a:solidFill>
                  <a:srgbClr val="595959"/>
                </a:solidFill>
                <a:latin typeface="Ubuntu Mono"/>
                <a:ea typeface="Ubuntu Mono"/>
                <a:cs typeface="Ubuntu Mono"/>
              </a:defRPr>
            </a:pPr>
            <a:r>
              <a:rPr sz="1500" b="0">
                <a:solidFill>
                  <a:srgbClr val="595959"/>
                </a:solidFill>
                <a:latin typeface="Ubuntu Mono"/>
                <a:ea typeface="Ubuntu Mono"/>
                <a:cs typeface="Ubuntu Mono"/>
              </a:rPr>
              <a:t>you actually saved.</a:t>
            </a:r>
          </a:p>
        </p:txBody>
      </p:sp>
      <p:sp>
        <p:nvSpPr>
          <p:cNvPr id="233" name="Thesis 5 Working local prototype">
            <a:extLst xmlns:a="http://schemas.openxmlformats.org/drawingml/2006/main">
              <a:ext uri="{FF2B5EF4-FFF2-40B4-BE49-F238E27FC236}">
                <a16:creationId xmlns:a16="http://schemas.microsoft.com/office/drawing/2014/main" id="{822EE744-2A72-4A31-9CA5-7B0123692476}"/>
              </a:ext>
            </a:extLst>
          </p:cNvPr>
          <p:cNvSpPr>
            <a:spLocks xmlns:a="http://schemas.openxmlformats.org/drawingml/2006/main" noGrp="1"/>
          </p:cNvSpPr>
          <p:nvPr/>
        </p:nvSpPr>
        <p:spPr>
          <a:xfrm xmlns:a="http://schemas.openxmlformats.org/drawingml/2006/main">
            <a:off x="4448175" y="1057275"/>
            <a:ext cx="430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95959"/>
                </a:solidFill>
                <a:latin typeface="Ubuntu Mono"/>
                <a:ea typeface="Ubuntu Mono"/>
                <a:cs typeface="Ubuntu Mono"/>
              </a:defRPr>
            </a:pPr>
            <a:r>
              <a:rPr sz="1125" b="0">
                <a:solidFill>
                  <a:srgbClr val="595959"/>
                </a:solidFill>
                <a:latin typeface="Ubuntu Mono"/>
                <a:ea typeface="Ubuntu Mono"/>
                <a:cs typeface="Ubuntu Mono"/>
              </a:rPr>
              <a:t>Working local prototype</a:t>
            </a:r>
          </a:p>
        </p:txBody>
      </p:sp>
    </p:spTree>
    <p:extLst>
      <p:ext uri="{BB962C8B-B14F-4D97-AF65-F5344CB8AC3E}">
        <p14:creationId xmlns:p14="http://schemas.microsoft.com/office/powerpoint/2010/main" val="154688891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32" name="Google Shape;232;p30">
            <a:extLst xmlns:a="http://schemas.openxmlformats.org/drawingml/2006/main">
              <a:ext uri="{FF2B5EF4-FFF2-40B4-BE49-F238E27FC236}">
                <a16:creationId xmlns:a16="http://schemas.microsoft.com/office/drawing/2014/main" id="{58895086-5ECA-4E0C-B0CC-CB84956E9950}"/>
              </a:ext>
            </a:extLst>
          </p:cNvPr>
          <p:cNvSpPr>
            <a:spLocks xmlns:a="http://schemas.openxmlformats.org/drawingml/2006/main" noGrp="1"/>
          </p:cNvSpPr>
          <p:nvPr/>
        </p:nvSpPr>
        <p:spPr>
          <a:xfrm xmlns:a="http://schemas.openxmlformats.org/drawingml/2006/main">
            <a:off x="400050" y="4686300"/>
            <a:ext cx="2952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lnSpc>
                <a:spcPct val="115000"/>
              </a:lnSpc>
              <a:spcBef>
                <a:spcPts val="0"/>
              </a:spcBef>
              <a:spcAft>
                <a:spcPts val="0"/>
              </a:spcAft>
              <a:buNone/>
              <a:defRPr sz="1050" b="0">
                <a:solidFill>
                  <a:srgbClr val="595959"/>
                </a:solidFill>
                <a:latin typeface="Ubuntu Mono"/>
                <a:ea typeface="Ubuntu Mono"/>
                <a:cs typeface="Ubuntu Mono"/>
              </a:defRPr>
            </a:pPr>
            <a:r>
              <a:rPr sz="1050" b="0">
                <a:solidFill>
                  <a:srgbClr val="595959"/>
                </a:solidFill>
                <a:latin typeface="Ubuntu Mono"/>
                <a:ea typeface="Ubuntu Mono"/>
                <a:cs typeface="Ubuntu Mono"/>
              </a:rPr>
              <a:t>Thesis   9 October 2026</a:t>
            </a:r>
          </a:p>
        </p:txBody>
      </p:sp>
      <p:sp>
        <p:nvSpPr>
          <p:cNvPr id="235" name="Google Shape;235;p30">
            <a:extLst xmlns:a="http://schemas.openxmlformats.org/drawingml/2006/main">
              <a:ext uri="{FF2B5EF4-FFF2-40B4-BE49-F238E27FC236}">
                <a16:creationId xmlns:a16="http://schemas.microsoft.com/office/drawing/2014/main" id="{9CF5D031-C7CA-466A-9B3E-EB0CF6934FFA}"/>
              </a:ext>
            </a:extLst>
          </p:cNvPr>
          <p:cNvSpPr>
            <a:spLocks xmlns:a="http://schemas.openxmlformats.org/drawingml/2006/main" noGrp="1"/>
          </p:cNvSpPr>
          <p:nvPr>
            <p:ph type="sldNum" idx="12"/>
          </p:nvPr>
        </p:nvSpPr>
        <p:spPr>
          <a:xfrm xmlns:a="http://schemas.openxmlformats.org/drawingml/2006/main">
            <a:off x="8334375" y="4686300"/>
            <a:ext cx="428625" cy="20955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r">
              <a:lnSpc>
                <a:spcPct val="115000"/>
              </a:lnSpc>
              <a:spcBef>
                <a:spcPts val="0"/>
              </a:spcBef>
              <a:spcAft>
                <a:spcPts val="0"/>
              </a:spcAft>
              <a:buNone/>
              <a:defRPr sz="975" b="0">
                <a:solidFill>
                  <a:srgbClr val="595959"/>
                </a:solidFill>
                <a:latin typeface="Ubuntu Mono"/>
                <a:ea typeface="Ubuntu Mono"/>
                <a:cs typeface="Ubuntu Mono"/>
              </a:defRPr>
            </a:pPr>
            <a:r>
              <a:rPr sz="975" b="0">
                <a:solidFill>
                  <a:srgbClr val="595959"/>
                </a:solidFill>
                <a:latin typeface="Ubuntu Mono"/>
                <a:ea typeface="Ubuntu Mono"/>
                <a:cs typeface="Ubuntu Mono"/>
              </a:rPr>
              <a:t>06</a:t>
            </a:r>
          </a:p>
        </p:txBody>
      </p:sp>
      <p:sp>
        <p:nvSpPr>
          <p:cNvPr id="236" name="Google Shape;236;p30">
            <a:extLst xmlns:a="http://schemas.openxmlformats.org/drawingml/2006/main">
              <a:ext uri="{FF2B5EF4-FFF2-40B4-BE49-F238E27FC236}">
                <a16:creationId xmlns:a16="http://schemas.microsoft.com/office/drawing/2014/main" id="{CE64610E-AFD4-48EB-8358-AC99939DF859}"/>
              </a:ext>
            </a:extLst>
          </p:cNvPr>
          <p:cNvSpPr>
            <a:spLocks xmlns:a="http://schemas.openxmlformats.org/drawingml/2006/main" noGrp="1"/>
          </p:cNvSpPr>
          <p:nvPr>
            <p:ph type="title" idx="0"/>
          </p:nvPr>
        </p:nvSpPr>
        <p:spPr>
          <a:xfrm xmlns:a="http://schemas.openxmlformats.org/drawingml/2006/main">
            <a:off x="311700" y="194934"/>
            <a:ext cx="8520600" cy="5727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ctr">
              <a:lnSpc>
                <a:spcPct val="115000"/>
              </a:lnSpc>
              <a:spcBef>
                <a:spcPts val="0"/>
              </a:spcBef>
              <a:spcAft>
                <a:spcPts val="0"/>
              </a:spcAft>
              <a:buNone/>
              <a:defRPr sz="2550" b="0">
                <a:solidFill>
                  <a:srgbClr val="000000"/>
                </a:solidFill>
                <a:latin typeface="Work Sans"/>
                <a:ea typeface="Work Sans"/>
                <a:cs typeface="Work Sans"/>
              </a:defRPr>
            </a:pPr>
            <a:r>
              <a:rPr sz="2550" b="0">
                <a:solidFill>
                  <a:srgbClr val="000000"/>
                </a:solidFill>
                <a:latin typeface="Work Sans"/>
                <a:ea typeface="Work Sans"/>
                <a:cs typeface="Work Sans"/>
              </a:rPr>
              <a:t>Team</a:t>
            </a:r>
          </a:p>
        </p:txBody>
      </p:sp>
      <p:sp>
        <p:nvSpPr>
          <p:cNvPr id="237" name="Google Shape;237;p30">
            <a:extLst xmlns:a="http://schemas.openxmlformats.org/drawingml/2006/main">
              <a:ext uri="{FF2B5EF4-FFF2-40B4-BE49-F238E27FC236}">
                <a16:creationId xmlns:a16="http://schemas.microsoft.com/office/drawing/2014/main" id="{57148791-BA95-4288-826E-B14D5D5EAA63}"/>
              </a:ext>
            </a:extLst>
          </p:cNvPr>
          <p:cNvSpPr>
            <a:spLocks xmlns:a="http://schemas.openxmlformats.org/drawingml/2006/main" noGrp="1"/>
          </p:cNvSpPr>
          <p:nvPr/>
        </p:nvSpPr>
        <p:spPr>
          <a:xfrm xmlns:a="http://schemas.openxmlformats.org/drawingml/2006/main">
            <a:off x="2286000" y="1247775"/>
            <a:ext cx="1714500" cy="1714500"/>
          </a:xfrm>
          <a:prstGeom xmlns:a="http://schemas.openxmlformats.org/drawingml/2006/main" prst="ellipse">
            <a:avLst/>
          </a:prstGeom>
          <a:solidFill xmlns:a="http://schemas.openxmlformats.org/drawingml/2006/main">
            <a:schemeClr val="dk1"/>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38" name="Google Shape;238;p30">
            <a:extLst xmlns:a="http://schemas.openxmlformats.org/drawingml/2006/main">
              <a:ext uri="{FF2B5EF4-FFF2-40B4-BE49-F238E27FC236}">
                <a16:creationId xmlns:a16="http://schemas.microsoft.com/office/drawing/2014/main" id="{3DC2238B-C7D1-42E3-980A-397E22951F63}"/>
              </a:ext>
            </a:extLst>
          </p:cNvPr>
          <p:cNvSpPr>
            <a:spLocks xmlns:a="http://schemas.openxmlformats.org/drawingml/2006/main" noGrp="1"/>
          </p:cNvSpPr>
          <p:nvPr/>
        </p:nvSpPr>
        <p:spPr>
          <a:xfrm xmlns:a="http://schemas.openxmlformats.org/drawingml/2006/main">
            <a:off x="2286000" y="1752600"/>
            <a:ext cx="1714500" cy="7715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ctr">
              <a:lnSpc>
                <a:spcPct val="115000"/>
              </a:lnSpc>
              <a:spcBef>
                <a:spcPts val="0"/>
              </a:spcBef>
              <a:spcAft>
                <a:spcPts val="0"/>
              </a:spcAft>
              <a:buNone/>
              <a:defRPr sz="4950" b="0">
                <a:solidFill>
                  <a:srgbClr val="FFFFFF"/>
                </a:solidFill>
                <a:latin typeface="Work Sans"/>
                <a:ea typeface="Work Sans"/>
                <a:cs typeface="Work Sans"/>
              </a:defRPr>
            </a:pPr>
            <a:r>
              <a:rPr sz="4950" b="0">
                <a:solidFill>
                  <a:srgbClr val="FFFFFF"/>
                </a:solidFill>
                <a:latin typeface="Work Sans"/>
                <a:ea typeface="Work Sans"/>
                <a:cs typeface="Work Sans"/>
              </a:rPr>
              <a:t>B</a:t>
            </a:r>
          </a:p>
        </p:txBody>
      </p:sp>
      <p:sp>
        <p:nvSpPr>
          <p:cNvPr id="239" name="Google Shape;239;p30">
            <a:extLst xmlns:a="http://schemas.openxmlformats.org/drawingml/2006/main">
              <a:ext uri="{FF2B5EF4-FFF2-40B4-BE49-F238E27FC236}">
                <a16:creationId xmlns:a16="http://schemas.microsoft.com/office/drawing/2014/main" id="{EF5BF376-55F5-4179-8ADD-DF1097B4E3F9}"/>
              </a:ext>
            </a:extLst>
          </p:cNvPr>
          <p:cNvSpPr>
            <a:spLocks xmlns:a="http://schemas.openxmlformats.org/drawingml/2006/main" noGrp="1"/>
          </p:cNvSpPr>
          <p:nvPr/>
        </p:nvSpPr>
        <p:spPr>
          <a:xfrm xmlns:a="http://schemas.openxmlformats.org/drawingml/2006/main">
            <a:off x="5143500" y="1247775"/>
            <a:ext cx="1714500" cy="1714500"/>
          </a:xfrm>
          <a:prstGeom xmlns:a="http://schemas.openxmlformats.org/drawingml/2006/main" prst="ellipse">
            <a:avLst/>
          </a:prstGeom>
          <a:solidFill xmlns:a="http://schemas.openxmlformats.org/drawingml/2006/main">
            <a:schemeClr val="dk1"/>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0" name="Google Shape;240;p30">
            <a:extLst xmlns:a="http://schemas.openxmlformats.org/drawingml/2006/main">
              <a:ext uri="{FF2B5EF4-FFF2-40B4-BE49-F238E27FC236}">
                <a16:creationId xmlns:a16="http://schemas.microsoft.com/office/drawing/2014/main" id="{D6479C79-6D34-4ACD-98E5-4FFBC2CC2CC6}"/>
              </a:ext>
            </a:extLst>
          </p:cNvPr>
          <p:cNvSpPr>
            <a:spLocks xmlns:a="http://schemas.openxmlformats.org/drawingml/2006/main" noGrp="1"/>
          </p:cNvSpPr>
          <p:nvPr/>
        </p:nvSpPr>
        <p:spPr>
          <a:xfrm xmlns:a="http://schemas.openxmlformats.org/drawingml/2006/main">
            <a:off x="5143500" y="1781175"/>
            <a:ext cx="1714500" cy="7715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ctr">
              <a:lnSpc>
                <a:spcPct val="115000"/>
              </a:lnSpc>
              <a:spcBef>
                <a:spcPts val="0"/>
              </a:spcBef>
              <a:spcAft>
                <a:spcPts val="0"/>
              </a:spcAft>
              <a:buNone/>
              <a:defRPr sz="4500" b="0">
                <a:solidFill>
                  <a:srgbClr val="FFFFFF"/>
                </a:solidFill>
                <a:latin typeface="Work Sans"/>
                <a:ea typeface="Work Sans"/>
                <a:cs typeface="Work Sans"/>
              </a:defRPr>
            </a:pPr>
            <a:r>
              <a:rPr sz="4500" b="0">
                <a:solidFill>
                  <a:srgbClr val="FFFFFF"/>
                </a:solidFill>
                <a:latin typeface="Work Sans"/>
                <a:ea typeface="Work Sans"/>
                <a:cs typeface="Work Sans"/>
              </a:rPr>
              <a:t>JH</a:t>
            </a:r>
          </a:p>
        </p:txBody>
      </p:sp>
      <p:sp>
        <p:nvSpPr>
          <p:cNvPr id="243" name="Google Shape;243;p30">
            <a:extLst xmlns:a="http://schemas.openxmlformats.org/drawingml/2006/main">
              <a:ext uri="{FF2B5EF4-FFF2-40B4-BE49-F238E27FC236}">
                <a16:creationId xmlns:a16="http://schemas.microsoft.com/office/drawing/2014/main" id="{61A24C26-AF28-4353-B5DA-AFDBB73B0B79}"/>
              </a:ext>
            </a:extLst>
          </p:cNvPr>
          <p:cNvSpPr>
            <a:spLocks xmlns:a="http://schemas.openxmlformats.org/drawingml/2006/main" noGrp="1"/>
          </p:cNvSpPr>
          <p:nvPr/>
        </p:nvSpPr>
        <p:spPr>
          <a:xfrm xmlns:a="http://schemas.openxmlformats.org/drawingml/2006/main">
            <a:off x="1838325" y="3228975"/>
            <a:ext cx="260985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ctr">
              <a:lnSpc>
                <a:spcPct val="115000"/>
              </a:lnSpc>
              <a:spcBef>
                <a:spcPts val="0"/>
              </a:spcBef>
              <a:spcAft>
                <a:spcPts val="0"/>
              </a:spcAft>
              <a:buNone/>
              <a:defRPr sz="2175" b="1">
                <a:solidFill>
                  <a:srgbClr val="000000"/>
                </a:solidFill>
                <a:latin typeface="Work Sans"/>
                <a:ea typeface="Work Sans"/>
                <a:cs typeface="Work Sans"/>
              </a:defRPr>
            </a:pPr>
            <a:r>
              <a:rPr sz="2175" b="1">
                <a:solidFill>
                  <a:srgbClr val="000000"/>
                </a:solidFill>
                <a:latin typeface="Work Sans"/>
                <a:ea typeface="Work Sans"/>
                <a:cs typeface="Work Sans"/>
              </a:rPr>
              <a:t>Bryant</a:t>
            </a:r>
          </a:p>
        </p:txBody>
      </p:sp>
      <p:sp>
        <p:nvSpPr>
          <p:cNvPr id="244" name="Google Shape;244;p30">
            <a:extLst xmlns:a="http://schemas.openxmlformats.org/drawingml/2006/main">
              <a:ext uri="{FF2B5EF4-FFF2-40B4-BE49-F238E27FC236}">
                <a16:creationId xmlns:a16="http://schemas.microsoft.com/office/drawing/2014/main" id="{E108AED8-1EA9-4F68-B5D1-00FE1E9A99E5}"/>
              </a:ext>
            </a:extLst>
          </p:cNvPr>
          <p:cNvSpPr>
            <a:spLocks xmlns:a="http://schemas.openxmlformats.org/drawingml/2006/main" noGrp="1"/>
          </p:cNvSpPr>
          <p:nvPr/>
        </p:nvSpPr>
        <p:spPr>
          <a:xfrm xmlns:a="http://schemas.openxmlformats.org/drawingml/2006/main">
            <a:off x="4695825" y="3228975"/>
            <a:ext cx="260985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ctr">
              <a:lnSpc>
                <a:spcPct val="115000"/>
              </a:lnSpc>
              <a:spcBef>
                <a:spcPts val="0"/>
              </a:spcBef>
              <a:spcAft>
                <a:spcPts val="0"/>
              </a:spcAft>
              <a:buNone/>
              <a:defRPr sz="2175" b="1">
                <a:solidFill>
                  <a:srgbClr val="000000"/>
                </a:solidFill>
                <a:latin typeface="Work Sans"/>
                <a:ea typeface="Work Sans"/>
                <a:cs typeface="Work Sans"/>
              </a:defRPr>
            </a:pPr>
            <a:r>
              <a:rPr sz="2175" b="1">
                <a:solidFill>
                  <a:srgbClr val="000000"/>
                </a:solidFill>
                <a:latin typeface="Work Sans"/>
                <a:ea typeface="Work Sans"/>
                <a:cs typeface="Work Sans"/>
              </a:rPr>
              <a:t>Jia Hui</a:t>
            </a:r>
          </a:p>
        </p:txBody>
      </p:sp>
      <p:sp>
        <p:nvSpPr>
          <p:cNvPr id="245" name="Bryant role (blank)">
            <a:extLst xmlns:a="http://schemas.openxmlformats.org/drawingml/2006/main">
              <a:ext uri="{FF2B5EF4-FFF2-40B4-BE49-F238E27FC236}">
                <a16:creationId xmlns:a16="http://schemas.microsoft.com/office/drawing/2014/main" id="{4DCB4E26-A640-409E-88DE-C3B58CCFEB25}"/>
              </a:ext>
            </a:extLst>
          </p:cNvPr>
          <p:cNvSpPr>
            <a:spLocks xmlns:a="http://schemas.openxmlformats.org/drawingml/2006/main" noGrp="1"/>
          </p:cNvSpPr>
          <p:nvPr/>
        </p:nvSpPr>
        <p:spPr>
          <a:xfrm xmlns:a="http://schemas.openxmlformats.org/drawingml/2006/main">
            <a:off x="1838325" y="3800475"/>
            <a:ext cx="2609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246" name="Jia Hui role (blank)">
            <a:extLst xmlns:a="http://schemas.openxmlformats.org/drawingml/2006/main">
              <a:ext uri="{FF2B5EF4-FFF2-40B4-BE49-F238E27FC236}">
                <a16:creationId xmlns:a16="http://schemas.microsoft.com/office/drawing/2014/main" id="{C2B1CA00-89EC-44A2-8906-751552F4D442}"/>
              </a:ext>
            </a:extLst>
          </p:cNvPr>
          <p:cNvSpPr>
            <a:spLocks xmlns:a="http://schemas.openxmlformats.org/drawingml/2006/main" noGrp="1"/>
          </p:cNvSpPr>
          <p:nvPr/>
        </p:nvSpPr>
        <p:spPr>
          <a:xfrm xmlns:a="http://schemas.openxmlformats.org/drawingml/2006/main">
            <a:off x="4695825" y="3800475"/>
            <a:ext cx="2609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Tree>
    <p:extLst>
      <p:ext uri="{BB962C8B-B14F-4D97-AF65-F5344CB8AC3E}">
        <p14:creationId xmlns:p14="http://schemas.microsoft.com/office/powerpoint/2010/main" val="197814622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53" name="Google Shape;253;p31">
            <a:extLst xmlns:a="http://schemas.openxmlformats.org/drawingml/2006/main">
              <a:ext uri="{FF2B5EF4-FFF2-40B4-BE49-F238E27FC236}">
                <a16:creationId xmlns:a16="http://schemas.microsoft.com/office/drawing/2014/main" id="{4283E1DD-62A1-4EEF-960E-0454084F8636}"/>
              </a:ext>
            </a:extLst>
          </p:cNvPr>
          <p:cNvSpPr>
            <a:spLocks xmlns:a="http://schemas.openxmlformats.org/drawingml/2006/main" noGrp="1"/>
          </p:cNvSpPr>
          <p:nvPr>
            <p:ph type="title" idx="0"/>
          </p:nvPr>
        </p:nvSpPr>
        <p:spPr>
          <a:xfrm xmlns:a="http://schemas.openxmlformats.org/drawingml/2006/main">
            <a:off x="311700" y="194934"/>
            <a:ext cx="8520600" cy="5727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ctr">
              <a:lnSpc>
                <a:spcPct val="115000"/>
              </a:lnSpc>
              <a:spcBef>
                <a:spcPts val="0"/>
              </a:spcBef>
              <a:spcAft>
                <a:spcPts val="0"/>
              </a:spcAft>
              <a:buNone/>
              <a:defRPr sz="2550" b="0">
                <a:solidFill>
                  <a:srgbClr val="000000"/>
                </a:solidFill>
                <a:latin typeface="Work Sans"/>
                <a:ea typeface="Work Sans"/>
                <a:cs typeface="Work Sans"/>
              </a:defRPr>
            </a:pPr>
            <a:r>
              <a:rPr sz="2550" b="0">
                <a:solidFill>
                  <a:srgbClr val="000000"/>
                </a:solidFill>
                <a:latin typeface="Work Sans"/>
                <a:ea typeface="Work Sans"/>
                <a:cs typeface="Work Sans"/>
              </a:rPr>
              <a:t>Support we’re seeking</a:t>
            </a:r>
          </a:p>
        </p:txBody>
      </p:sp>
      <p:sp>
        <p:nvSpPr>
          <p:cNvPr id="254" name="Google Shape;254;p31">
            <a:extLst xmlns:a="http://schemas.openxmlformats.org/drawingml/2006/main">
              <a:ext uri="{FF2B5EF4-FFF2-40B4-BE49-F238E27FC236}">
                <a16:creationId xmlns:a16="http://schemas.microsoft.com/office/drawing/2014/main" id="{5394EA57-6A87-4BD1-AB71-F9A6C59FB95E}"/>
              </a:ext>
            </a:extLst>
          </p:cNvPr>
          <p:cNvSpPr>
            <a:spLocks xmlns:a="http://schemas.openxmlformats.org/drawingml/2006/main" noGrp="1"/>
          </p:cNvSpPr>
          <p:nvPr/>
        </p:nvSpPr>
        <p:spPr>
          <a:xfrm xmlns:a="http://schemas.openxmlformats.org/drawingml/2006/main">
            <a:off x="857400" y="960488"/>
            <a:ext cx="1684500" cy="1684500"/>
          </a:xfrm>
          <a:prstGeom xmlns:a="http://schemas.openxmlformats.org/drawingml/2006/main" prst="ellipse">
            <a:avLst/>
          </a:prstGeom>
          <a:solidFill xmlns:a="http://schemas.openxmlformats.org/drawingml/2006/main">
            <a:schemeClr val="dk1"/>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55" name="Google Shape;255;p31">
            <a:extLst xmlns:a="http://schemas.openxmlformats.org/drawingml/2006/main">
              <a:ext uri="{FF2B5EF4-FFF2-40B4-BE49-F238E27FC236}">
                <a16:creationId xmlns:a16="http://schemas.microsoft.com/office/drawing/2014/main" id="{FAA487F4-0CA2-4CF6-A475-F2FD5E80ADAE}"/>
              </a:ext>
            </a:extLst>
          </p:cNvPr>
          <p:cNvSpPr>
            <a:spLocks xmlns:a="http://schemas.openxmlformats.org/drawingml/2006/main" noGrp="1"/>
          </p:cNvSpPr>
          <p:nvPr/>
        </p:nvSpPr>
        <p:spPr>
          <a:xfrm xmlns:a="http://schemas.openxmlformats.org/drawingml/2006/main">
            <a:off x="857400" y="1600200"/>
            <a:ext cx="16845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ctr">
              <a:lnSpc>
                <a:spcPct val="115000"/>
              </a:lnSpc>
              <a:spcBef>
                <a:spcPts val="0"/>
              </a:spcBef>
              <a:spcAft>
                <a:spcPts val="0"/>
              </a:spcAft>
              <a:buNone/>
              <a:defRPr sz="1875" b="0">
                <a:solidFill>
                  <a:srgbClr val="FFFFFF"/>
                </a:solidFill>
                <a:latin typeface="Work Sans"/>
                <a:ea typeface="Work Sans"/>
                <a:cs typeface="Work Sans"/>
              </a:defRPr>
            </a:pPr>
            <a:r>
              <a:rPr sz="1875" b="0">
                <a:solidFill>
                  <a:srgbClr val="FFFFFF"/>
                </a:solidFill>
                <a:latin typeface="Work Sans"/>
                <a:ea typeface="Work Sans"/>
                <a:cs typeface="Work Sans"/>
              </a:rPr>
              <a:t>Research</a:t>
            </a:r>
          </a:p>
        </p:txBody>
      </p:sp>
      <p:sp>
        <p:nvSpPr>
          <p:cNvPr id="256" name="Google Shape;256;p31">
            <a:extLst xmlns:a="http://schemas.openxmlformats.org/drawingml/2006/main">
              <a:ext uri="{FF2B5EF4-FFF2-40B4-BE49-F238E27FC236}">
                <a16:creationId xmlns:a16="http://schemas.microsoft.com/office/drawing/2014/main" id="{94B18C1E-EC71-419B-865C-A215CB318407}"/>
              </a:ext>
            </a:extLst>
          </p:cNvPr>
          <p:cNvSpPr>
            <a:spLocks xmlns:a="http://schemas.openxmlformats.org/drawingml/2006/main" noGrp="1"/>
          </p:cNvSpPr>
          <p:nvPr/>
        </p:nvSpPr>
        <p:spPr>
          <a:xfrm xmlns:a="http://schemas.openxmlformats.org/drawingml/2006/main">
            <a:off x="3729750" y="960500"/>
            <a:ext cx="1684500" cy="1684500"/>
          </a:xfrm>
          <a:prstGeom xmlns:a="http://schemas.openxmlformats.org/drawingml/2006/main" prst="ellipse">
            <a:avLst/>
          </a:prstGeom>
          <a:solidFill xmlns:a="http://schemas.openxmlformats.org/drawingml/2006/main">
            <a:schemeClr val="dk1"/>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57" name="Google Shape;257;p31">
            <a:extLst xmlns:a="http://schemas.openxmlformats.org/drawingml/2006/main">
              <a:ext uri="{FF2B5EF4-FFF2-40B4-BE49-F238E27FC236}">
                <a16:creationId xmlns:a16="http://schemas.microsoft.com/office/drawing/2014/main" id="{C380BACB-5B66-470D-9AD9-7F45FACC319D}"/>
              </a:ext>
            </a:extLst>
          </p:cNvPr>
          <p:cNvSpPr>
            <a:spLocks xmlns:a="http://schemas.openxmlformats.org/drawingml/2006/main" noGrp="1"/>
          </p:cNvSpPr>
          <p:nvPr/>
        </p:nvSpPr>
        <p:spPr>
          <a:xfrm xmlns:a="http://schemas.openxmlformats.org/drawingml/2006/main">
            <a:off x="3729750" y="1600200"/>
            <a:ext cx="16845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ctr">
              <a:lnSpc>
                <a:spcPct val="115000"/>
              </a:lnSpc>
              <a:spcBef>
                <a:spcPts val="0"/>
              </a:spcBef>
              <a:spcAft>
                <a:spcPts val="0"/>
              </a:spcAft>
              <a:buNone/>
              <a:defRPr sz="1875" b="0">
                <a:solidFill>
                  <a:srgbClr val="FFFFFF"/>
                </a:solidFill>
                <a:latin typeface="Work Sans"/>
                <a:ea typeface="Work Sans"/>
                <a:cs typeface="Work Sans"/>
              </a:defRPr>
            </a:pPr>
            <a:r>
              <a:rPr sz="1875" b="0">
                <a:solidFill>
                  <a:srgbClr val="FFFFFF"/>
                </a:solidFill>
                <a:latin typeface="Work Sans"/>
                <a:ea typeface="Work Sans"/>
                <a:cs typeface="Work Sans"/>
              </a:rPr>
              <a:t>Data</a:t>
            </a:r>
          </a:p>
        </p:txBody>
      </p:sp>
      <p:sp>
        <p:nvSpPr>
          <p:cNvPr id="258" name="Google Shape;258;p31">
            <a:extLst xmlns:a="http://schemas.openxmlformats.org/drawingml/2006/main">
              <a:ext uri="{FF2B5EF4-FFF2-40B4-BE49-F238E27FC236}">
                <a16:creationId xmlns:a16="http://schemas.microsoft.com/office/drawing/2014/main" id="{037308B9-FD2B-4D6E-AAA7-2A1FDCF7E251}"/>
              </a:ext>
            </a:extLst>
          </p:cNvPr>
          <p:cNvSpPr>
            <a:spLocks xmlns:a="http://schemas.openxmlformats.org/drawingml/2006/main" noGrp="1"/>
          </p:cNvSpPr>
          <p:nvPr/>
        </p:nvSpPr>
        <p:spPr>
          <a:xfrm xmlns:a="http://schemas.openxmlformats.org/drawingml/2006/main">
            <a:off x="6602100" y="960500"/>
            <a:ext cx="1684500" cy="1684500"/>
          </a:xfrm>
          <a:prstGeom xmlns:a="http://schemas.openxmlformats.org/drawingml/2006/main" prst="ellipse">
            <a:avLst/>
          </a:prstGeom>
          <a:solidFill xmlns:a="http://schemas.openxmlformats.org/drawingml/2006/main">
            <a:schemeClr val="dk1"/>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59" name="Google Shape;259;p31">
            <a:extLst xmlns:a="http://schemas.openxmlformats.org/drawingml/2006/main">
              <a:ext uri="{FF2B5EF4-FFF2-40B4-BE49-F238E27FC236}">
                <a16:creationId xmlns:a16="http://schemas.microsoft.com/office/drawing/2014/main" id="{3B424F92-EEC3-4E93-8BB5-F068C43D956F}"/>
              </a:ext>
            </a:extLst>
          </p:cNvPr>
          <p:cNvSpPr>
            <a:spLocks xmlns:a="http://schemas.openxmlformats.org/drawingml/2006/main" noGrp="1"/>
          </p:cNvSpPr>
          <p:nvPr/>
        </p:nvSpPr>
        <p:spPr>
          <a:xfrm xmlns:a="http://schemas.openxmlformats.org/drawingml/2006/main">
            <a:off x="6602100" y="1600200"/>
            <a:ext cx="16845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ctr">
              <a:lnSpc>
                <a:spcPct val="115000"/>
              </a:lnSpc>
              <a:spcBef>
                <a:spcPts val="0"/>
              </a:spcBef>
              <a:spcAft>
                <a:spcPts val="0"/>
              </a:spcAft>
              <a:buNone/>
              <a:defRPr sz="1875" b="0">
                <a:solidFill>
                  <a:srgbClr val="FFFFFF"/>
                </a:solidFill>
                <a:latin typeface="Work Sans"/>
                <a:ea typeface="Work Sans"/>
                <a:cs typeface="Work Sans"/>
              </a:defRPr>
            </a:pPr>
            <a:r>
              <a:rPr sz="1875" b="0">
                <a:solidFill>
                  <a:srgbClr val="FFFFFF"/>
                </a:solidFill>
                <a:latin typeface="Work Sans"/>
                <a:ea typeface="Work Sans"/>
                <a:cs typeface="Work Sans"/>
              </a:rPr>
              <a:t>Pilot</a:t>
            </a:r>
          </a:p>
        </p:txBody>
      </p:sp>
      <p:sp>
        <p:nvSpPr>
          <p:cNvPr id="260" name="Google Shape;260;p31">
            <a:extLst xmlns:a="http://schemas.openxmlformats.org/drawingml/2006/main">
              <a:ext uri="{FF2B5EF4-FFF2-40B4-BE49-F238E27FC236}">
                <a16:creationId xmlns:a16="http://schemas.microsoft.com/office/drawing/2014/main" id="{9FD3C758-4DB2-4F77-9390-3FF78FE76A04}"/>
              </a:ext>
            </a:extLst>
          </p:cNvPr>
          <p:cNvSpPr>
            <a:spLocks xmlns:a="http://schemas.openxmlformats.org/drawingml/2006/main" noGrp="1"/>
          </p:cNvSpPr>
          <p:nvPr/>
        </p:nvSpPr>
        <p:spPr>
          <a:xfrm xmlns:a="http://schemas.openxmlformats.org/drawingml/2006/main">
            <a:off x="428625" y="2867025"/>
            <a:ext cx="2571750" cy="10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ctr">
              <a:lnSpc>
                <a:spcPct val="115000"/>
              </a:lnSpc>
              <a:spcBef>
                <a:spcPts val="0"/>
              </a:spcBef>
              <a:spcAft>
                <a:spcPts val="0"/>
              </a:spcAft>
              <a:buNone/>
              <a:defRPr sz="1500" b="0">
                <a:solidFill>
                  <a:srgbClr val="000000"/>
                </a:solidFill>
                <a:latin typeface="Ubuntu Mono"/>
                <a:ea typeface="Ubuntu Mono"/>
                <a:cs typeface="Ubuntu Mono"/>
              </a:defRPr>
            </a:pPr>
            <a:r>
              <a:rPr sz="1500" b="0">
                <a:solidFill>
                  <a:srgbClr val="000000"/>
                </a:solidFill>
                <a:latin typeface="Ubuntu Mono"/>
                <a:ea typeface="Ubuntu Mono"/>
                <a:cs typeface="Ubuntu Mono"/>
              </a:rPr>
              <a:t>Investment research</a:t>
            </a:r>
          </a:p>
          <a:p xmlns:a="http://schemas.openxmlformats.org/drawingml/2006/main">
            <a:pPr marL="0" indent="0" algn="ctr">
              <a:lnSpc>
                <a:spcPct val="115000"/>
              </a:lnSpc>
              <a:spcBef>
                <a:spcPts val="0"/>
              </a:spcBef>
              <a:spcAft>
                <a:spcPts val="0"/>
              </a:spcAft>
              <a:buNone/>
              <a:defRPr sz="1500" b="0">
                <a:solidFill>
                  <a:srgbClr val="000000"/>
                </a:solidFill>
                <a:latin typeface="Ubuntu Mono"/>
                <a:ea typeface="Ubuntu Mono"/>
                <a:cs typeface="Ubuntu Mono"/>
              </a:defRPr>
            </a:pPr>
            <a:r>
              <a:rPr sz="1500" b="0">
                <a:solidFill>
                  <a:srgbClr val="000000"/>
                </a:solidFill>
                <a:latin typeface="Ubuntu Mono"/>
                <a:ea typeface="Ubuntu Mono"/>
                <a:cs typeface="Ubuntu Mono"/>
              </a:rPr>
              <a:t>Review explanations and</a:t>
            </a:r>
          </a:p>
          <a:p xmlns:a="http://schemas.openxmlformats.org/drawingml/2006/main">
            <a:pPr marL="0" indent="0" algn="ctr">
              <a:lnSpc>
                <a:spcPct val="115000"/>
              </a:lnSpc>
              <a:spcBef>
                <a:spcPts val="0"/>
              </a:spcBef>
              <a:spcAft>
                <a:spcPts val="0"/>
              </a:spcAft>
              <a:buNone/>
              <a:defRPr sz="1500" b="0">
                <a:solidFill>
                  <a:srgbClr val="000000"/>
                </a:solidFill>
                <a:latin typeface="Ubuntu Mono"/>
                <a:ea typeface="Ubuntu Mono"/>
                <a:cs typeface="Ubuntu Mono"/>
              </a:defRPr>
            </a:pPr>
            <a:r>
              <a:rPr sz="1500" b="0">
                <a:solidFill>
                  <a:srgbClr val="000000"/>
                </a:solidFill>
                <a:latin typeface="Ubuntu Mono"/>
                <a:ea typeface="Ubuntu Mono"/>
                <a:cs typeface="Ubuntu Mono"/>
              </a:rPr>
              <a:t>challenging evidence</a:t>
            </a:r>
          </a:p>
        </p:txBody>
      </p:sp>
      <p:sp>
        <p:nvSpPr>
          <p:cNvPr id="261" name="Google Shape;261;p31">
            <a:extLst xmlns:a="http://schemas.openxmlformats.org/drawingml/2006/main">
              <a:ext uri="{FF2B5EF4-FFF2-40B4-BE49-F238E27FC236}">
                <a16:creationId xmlns:a16="http://schemas.microsoft.com/office/drawing/2014/main" id="{4D87D618-A727-47C6-8F51-02C16945576A}"/>
              </a:ext>
            </a:extLst>
          </p:cNvPr>
          <p:cNvSpPr>
            <a:spLocks xmlns:a="http://schemas.openxmlformats.org/drawingml/2006/main" noGrp="1"/>
          </p:cNvSpPr>
          <p:nvPr/>
        </p:nvSpPr>
        <p:spPr>
          <a:xfrm xmlns:a="http://schemas.openxmlformats.org/drawingml/2006/main">
            <a:off x="3286125" y="2867025"/>
            <a:ext cx="2571750" cy="10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ctr">
              <a:lnSpc>
                <a:spcPct val="115000"/>
              </a:lnSpc>
              <a:spcBef>
                <a:spcPts val="0"/>
              </a:spcBef>
              <a:spcAft>
                <a:spcPts val="0"/>
              </a:spcAft>
              <a:buNone/>
              <a:defRPr sz="1500" b="0">
                <a:solidFill>
                  <a:srgbClr val="000000"/>
                </a:solidFill>
                <a:latin typeface="Ubuntu Mono"/>
                <a:ea typeface="Ubuntu Mono"/>
                <a:cs typeface="Ubuntu Mono"/>
              </a:defRPr>
            </a:pPr>
            <a:r>
              <a:rPr sz="1500" b="0">
                <a:solidFill>
                  <a:srgbClr val="000000"/>
                </a:solidFill>
                <a:latin typeface="Ubuntu Mono"/>
                <a:ea typeface="Ubuntu Mono"/>
                <a:cs typeface="Ubuntu Mono"/>
              </a:rPr>
              <a:t>Data &amp; product access</a:t>
            </a:r>
          </a:p>
          <a:p xmlns:a="http://schemas.openxmlformats.org/drawingml/2006/main">
            <a:pPr marL="0" indent="0" algn="ctr">
              <a:lnSpc>
                <a:spcPct val="115000"/>
              </a:lnSpc>
              <a:spcBef>
                <a:spcPts val="0"/>
              </a:spcBef>
              <a:spcAft>
                <a:spcPts val="0"/>
              </a:spcAft>
              <a:buNone/>
              <a:defRPr sz="1500" b="0">
                <a:solidFill>
                  <a:srgbClr val="000000"/>
                </a:solidFill>
                <a:latin typeface="Ubuntu Mono"/>
                <a:ea typeface="Ubuntu Mono"/>
                <a:cs typeface="Ubuntu Mono"/>
              </a:defRPr>
            </a:pPr>
            <a:r>
              <a:rPr sz="1500" b="0">
                <a:solidFill>
                  <a:srgbClr val="000000"/>
                </a:solidFill>
                <a:latin typeface="Ubuntu Mono"/>
                <a:ea typeface="Ubuntu Mono"/>
                <a:cs typeface="Ubuntu Mono"/>
              </a:rPr>
              <a:t>Help assess permitted</a:t>
            </a:r>
          </a:p>
          <a:p xmlns:a="http://schemas.openxmlformats.org/drawingml/2006/main">
            <a:pPr marL="0" indent="0" algn="ctr">
              <a:lnSpc>
                <a:spcPct val="115000"/>
              </a:lnSpc>
              <a:spcBef>
                <a:spcPts val="0"/>
              </a:spcBef>
              <a:spcAft>
                <a:spcPts val="0"/>
              </a:spcAft>
              <a:buNone/>
              <a:defRPr sz="1500" b="0">
                <a:solidFill>
                  <a:srgbClr val="000000"/>
                </a:solidFill>
                <a:latin typeface="Ubuntu Mono"/>
                <a:ea typeface="Ubuntu Mono"/>
                <a:cs typeface="Ubuntu Mono"/>
              </a:defRPr>
            </a:pPr>
            <a:r>
              <a:rPr sz="1500" b="0">
                <a:solidFill>
                  <a:srgbClr val="000000"/>
                </a:solidFill>
                <a:latin typeface="Ubuntu Mono"/>
                <a:ea typeface="Ubuntu Mono"/>
                <a:cs typeface="Ubuntu Mono"/>
              </a:rPr>
              <a:t>sources and launch needs</a:t>
            </a:r>
          </a:p>
        </p:txBody>
      </p:sp>
      <p:sp>
        <p:nvSpPr>
          <p:cNvPr id="262" name="Google Shape;262;p31">
            <a:extLst xmlns:a="http://schemas.openxmlformats.org/drawingml/2006/main">
              <a:ext uri="{FF2B5EF4-FFF2-40B4-BE49-F238E27FC236}">
                <a16:creationId xmlns:a16="http://schemas.microsoft.com/office/drawing/2014/main" id="{61A25CF5-72C3-4488-8C0C-D4645D68E768}"/>
              </a:ext>
            </a:extLst>
          </p:cNvPr>
          <p:cNvSpPr>
            <a:spLocks xmlns:a="http://schemas.openxmlformats.org/drawingml/2006/main" noGrp="1"/>
          </p:cNvSpPr>
          <p:nvPr/>
        </p:nvSpPr>
        <p:spPr>
          <a:xfrm xmlns:a="http://schemas.openxmlformats.org/drawingml/2006/main">
            <a:off x="6143625" y="2867025"/>
            <a:ext cx="2571750" cy="10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ctr">
              <a:lnSpc>
                <a:spcPct val="115000"/>
              </a:lnSpc>
              <a:spcBef>
                <a:spcPts val="0"/>
              </a:spcBef>
              <a:spcAft>
                <a:spcPts val="0"/>
              </a:spcAft>
              <a:buNone/>
              <a:defRPr sz="1500" b="0">
                <a:solidFill>
                  <a:srgbClr val="000000"/>
                </a:solidFill>
                <a:latin typeface="Ubuntu Mono"/>
                <a:ea typeface="Ubuntu Mono"/>
                <a:cs typeface="Ubuntu Mono"/>
              </a:defRPr>
            </a:pPr>
            <a:r>
              <a:rPr sz="1500" b="0">
                <a:solidFill>
                  <a:srgbClr val="000000"/>
                </a:solidFill>
                <a:latin typeface="Ubuntu Mono"/>
                <a:ea typeface="Ubuntu Mono"/>
                <a:cs typeface="Ubuntu Mono"/>
              </a:rPr>
              <a:t>Campus introductions</a:t>
            </a:r>
          </a:p>
          <a:p xmlns:a="http://schemas.openxmlformats.org/drawingml/2006/main">
            <a:pPr marL="0" indent="0" algn="ctr">
              <a:lnSpc>
                <a:spcPct val="115000"/>
              </a:lnSpc>
              <a:spcBef>
                <a:spcPts val="0"/>
              </a:spcBef>
              <a:spcAft>
                <a:spcPts val="0"/>
              </a:spcAft>
              <a:buNone/>
              <a:defRPr sz="1500" b="0">
                <a:solidFill>
                  <a:srgbClr val="000000"/>
                </a:solidFill>
                <a:latin typeface="Ubuntu Mono"/>
                <a:ea typeface="Ubuntu Mono"/>
                <a:cs typeface="Ubuntu Mono"/>
              </a:defRPr>
            </a:pPr>
            <a:r>
              <a:rPr sz="1500" b="0">
                <a:solidFill>
                  <a:srgbClr val="000000"/>
                </a:solidFill>
                <a:latin typeface="Ubuntu Mono"/>
                <a:ea typeface="Ubuntu Mono"/>
                <a:cs typeface="Ubuntu Mono"/>
              </a:rPr>
              <a:t>Reach students beyond</a:t>
            </a:r>
          </a:p>
          <a:p xmlns:a="http://schemas.openxmlformats.org/drawingml/2006/main">
            <a:pPr marL="0" indent="0" algn="ctr">
              <a:lnSpc>
                <a:spcPct val="115000"/>
              </a:lnSpc>
              <a:spcBef>
                <a:spcPts val="0"/>
              </a:spcBef>
              <a:spcAft>
                <a:spcPts val="0"/>
              </a:spcAft>
              <a:buNone/>
              <a:defRPr sz="1500" b="0">
                <a:solidFill>
                  <a:srgbClr val="000000"/>
                </a:solidFill>
                <a:latin typeface="Ubuntu Mono"/>
                <a:ea typeface="Ubuntu Mono"/>
                <a:cs typeface="Ubuntu Mono"/>
              </a:defRPr>
            </a:pPr>
            <a:r>
              <a:rPr sz="1500" b="0">
                <a:solidFill>
                  <a:srgbClr val="000000"/>
                </a:solidFill>
                <a:latin typeface="Ubuntu Mono"/>
                <a:ea typeface="Ubuntu Mono"/>
                <a:cs typeface="Ubuntu Mono"/>
              </a:rPr>
              <a:t>our own social circle</a:t>
            </a:r>
          </a:p>
        </p:txBody>
      </p:sp>
      <p:sp>
        <p:nvSpPr>
          <p:cNvPr id="266" name="Google Shape;266;p31">
            <a:extLst xmlns:a="http://schemas.openxmlformats.org/drawingml/2006/main">
              <a:ext uri="{FF2B5EF4-FFF2-40B4-BE49-F238E27FC236}">
                <a16:creationId xmlns:a16="http://schemas.microsoft.com/office/drawing/2014/main" id="{A5BD0CD0-F862-42A8-8E88-53666EBA8092}"/>
              </a:ext>
            </a:extLst>
          </p:cNvPr>
          <p:cNvSpPr>
            <a:spLocks xmlns:a="http://schemas.openxmlformats.org/drawingml/2006/main" noGrp="1"/>
          </p:cNvSpPr>
          <p:nvPr/>
        </p:nvSpPr>
        <p:spPr>
          <a:xfrm xmlns:a="http://schemas.openxmlformats.org/drawingml/2006/main">
            <a:off x="400050" y="4686300"/>
            <a:ext cx="2952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lnSpc>
                <a:spcPct val="115000"/>
              </a:lnSpc>
              <a:spcBef>
                <a:spcPts val="0"/>
              </a:spcBef>
              <a:spcAft>
                <a:spcPts val="0"/>
              </a:spcAft>
              <a:buNone/>
              <a:defRPr sz="1050" b="0">
                <a:solidFill>
                  <a:srgbClr val="595959"/>
                </a:solidFill>
                <a:latin typeface="Ubuntu Mono"/>
                <a:ea typeface="Ubuntu Mono"/>
                <a:cs typeface="Ubuntu Mono"/>
              </a:defRPr>
            </a:pPr>
            <a:r>
              <a:rPr sz="1050" b="0">
                <a:solidFill>
                  <a:srgbClr val="595959"/>
                </a:solidFill>
                <a:latin typeface="Ubuntu Mono"/>
                <a:ea typeface="Ubuntu Mono"/>
                <a:cs typeface="Ubuntu Mono"/>
              </a:rPr>
              <a:t>Thesis   9 October 2026</a:t>
            </a:r>
          </a:p>
        </p:txBody>
      </p:sp>
      <p:sp>
        <p:nvSpPr>
          <p:cNvPr id="269" name="Google Shape;269;p31">
            <a:extLst xmlns:a="http://schemas.openxmlformats.org/drawingml/2006/main">
              <a:ext uri="{FF2B5EF4-FFF2-40B4-BE49-F238E27FC236}">
                <a16:creationId xmlns:a16="http://schemas.microsoft.com/office/drawing/2014/main" id="{C957A2AA-ECFC-4485-AD26-D32D483A7937}"/>
              </a:ext>
            </a:extLst>
          </p:cNvPr>
          <p:cNvSpPr>
            <a:spLocks xmlns:a="http://schemas.openxmlformats.org/drawingml/2006/main" noGrp="1"/>
          </p:cNvSpPr>
          <p:nvPr>
            <p:ph type="sldNum" idx="12"/>
          </p:nvPr>
        </p:nvSpPr>
        <p:spPr>
          <a:xfrm xmlns:a="http://schemas.openxmlformats.org/drawingml/2006/main">
            <a:off x="8334375" y="4686300"/>
            <a:ext cx="428625" cy="20955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r">
              <a:lnSpc>
                <a:spcPct val="115000"/>
              </a:lnSpc>
              <a:spcBef>
                <a:spcPts val="0"/>
              </a:spcBef>
              <a:spcAft>
                <a:spcPts val="0"/>
              </a:spcAft>
              <a:buNone/>
              <a:defRPr sz="975" b="0">
                <a:solidFill>
                  <a:srgbClr val="595959"/>
                </a:solidFill>
                <a:latin typeface="Ubuntu Mono"/>
                <a:ea typeface="Ubuntu Mono"/>
                <a:cs typeface="Ubuntu Mono"/>
              </a:defRPr>
            </a:pPr>
            <a:r>
              <a:rPr sz="975" b="0">
                <a:solidFill>
                  <a:srgbClr val="595959"/>
                </a:solidFill>
                <a:latin typeface="Ubuntu Mono"/>
                <a:ea typeface="Ubuntu Mono"/>
                <a:cs typeface="Ubuntu Mono"/>
              </a:rPr>
              <a:t>07</a:t>
            </a:r>
          </a:p>
        </p:txBody>
      </p:sp>
      <p:sp>
        <p:nvSpPr>
          <p:cNvPr id="270" name="Thesis 7 Seeking input and introductions.">
            <a:extLst xmlns:a="http://schemas.openxmlformats.org/drawingml/2006/main">
              <a:ext uri="{FF2B5EF4-FFF2-40B4-BE49-F238E27FC236}">
                <a16:creationId xmlns:a16="http://schemas.microsoft.com/office/drawing/2014/main" id="{ECCCE874-6488-4757-900E-836C1833DAE7}"/>
              </a:ext>
            </a:extLst>
          </p:cNvPr>
          <p:cNvSpPr>
            <a:spLocks xmlns:a="http://schemas.openxmlformats.org/drawingml/2006/main" noGrp="1"/>
          </p:cNvSpPr>
          <p:nvPr/>
        </p:nvSpPr>
        <p:spPr>
          <a:xfrm xmlns:a="http://schemas.openxmlformats.org/drawingml/2006/main">
            <a:off x="952500" y="419100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0">
                <a:solidFill>
                  <a:srgbClr val="595959"/>
                </a:solidFill>
                <a:latin typeface="Ubuntu Mono"/>
                <a:ea typeface="Ubuntu Mono"/>
                <a:cs typeface="Ubuntu Mono"/>
              </a:defRPr>
            </a:pPr>
            <a:r>
              <a:rPr sz="1275" b="0">
                <a:solidFill>
                  <a:srgbClr val="595959"/>
                </a:solidFill>
                <a:latin typeface="Ubuntu Mono"/>
                <a:ea typeface="Ubuntu Mono"/>
                <a:cs typeface="Ubuntu Mono"/>
              </a:rPr>
              <a:t>Seeking input and introductions. No advisors or partnerships confirmed.</a:t>
            </a:r>
          </a:p>
        </p:txBody>
      </p:sp>
    </p:spTree>
    <p:extLst>
      <p:ext uri="{BB962C8B-B14F-4D97-AF65-F5344CB8AC3E}">
        <p14:creationId xmlns:p14="http://schemas.microsoft.com/office/powerpoint/2010/main" val="144106443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74" name="Google Shape;274;p32">
            <a:extLst xmlns:a="http://schemas.openxmlformats.org/drawingml/2006/main">
              <a:ext uri="{FF2B5EF4-FFF2-40B4-BE49-F238E27FC236}">
                <a16:creationId xmlns:a16="http://schemas.microsoft.com/office/drawing/2014/main" id="{BF22FDD3-CB21-4E86-88BC-5AF87D346FA8}"/>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lnSpc>
                <a:spcPct val="115000"/>
              </a:lnSpc>
              <a:spcBef>
                <a:spcPts val="0"/>
              </a:spcBef>
              <a:spcAft>
                <a:spcPts val="0"/>
              </a:spcAft>
              <a:buNone/>
              <a:defRPr sz="2550" b="0">
                <a:solidFill>
                  <a:srgbClr val="000000"/>
                </a:solidFill>
                <a:latin typeface="Work Sans"/>
                <a:ea typeface="Work Sans"/>
                <a:cs typeface="Work Sans"/>
              </a:defRPr>
            </a:pPr>
            <a:r>
              <a:rPr sz="2550" b="0">
                <a:solidFill>
                  <a:srgbClr val="000000"/>
                </a:solidFill>
                <a:latin typeface="Work Sans"/>
                <a:ea typeface="Work Sans"/>
                <a:cs typeface="Work Sans"/>
              </a:rPr>
              <a:t>How Thesis works</a:t>
            </a:r>
          </a:p>
        </p:txBody>
      </p:sp>
      <p:sp>
        <p:nvSpPr>
          <p:cNvPr id="275" name="Google Shape;275;p32">
            <a:extLst xmlns:a="http://schemas.openxmlformats.org/drawingml/2006/main">
              <a:ext uri="{FF2B5EF4-FFF2-40B4-BE49-F238E27FC236}">
                <a16:creationId xmlns:a16="http://schemas.microsoft.com/office/drawing/2014/main" id="{E232AB32-DEF2-4DEF-BD3B-E36B40228731}"/>
              </a:ext>
            </a:extLst>
          </p:cNvPr>
          <p:cNvSpPr>
            <a:spLocks xmlns:a="http://schemas.openxmlformats.org/drawingml/2006/main" noGrp="1"/>
          </p:cNvSpPr>
          <p:nvPr>
            <p:ph type="body" idx="1"/>
          </p:nvPr>
        </p:nvSpPr>
        <p:spPr>
          <a:xfrm xmlns:a="http://schemas.openxmlformats.org/drawingml/2006/main">
            <a:off x="409575" y="1238250"/>
            <a:ext cx="5857875" cy="295275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nSpc>
                <a:spcPct val="115000"/>
              </a:lnSpc>
              <a:spcBef>
                <a:spcPts val="0"/>
              </a:spcBef>
              <a:spcAft>
                <a:spcPts val="0"/>
              </a:spcAft>
              <a:buNone/>
            </a:pPr>
            <a:r>
              <a:rPr sz="1650" b="0">
                <a:solidFill>
                  <a:srgbClr val="000000"/>
                </a:solidFill>
                <a:latin typeface="Ubuntu Mono"/>
                <a:ea typeface="Ubuntu Mono"/>
                <a:cs typeface="Ubuntu Mono"/>
              </a:rPr>
              <a:t/>
            </a:r>
          </a:p>
        </p:txBody>
      </p:sp>
      <p:sp>
        <p:nvSpPr>
          <p:cNvPr id="276" name="Google Shape;276;p32">
            <a:extLst xmlns:a="http://schemas.openxmlformats.org/drawingml/2006/main">
              <a:ext uri="{FF2B5EF4-FFF2-40B4-BE49-F238E27FC236}">
                <a16:creationId xmlns:a16="http://schemas.microsoft.com/office/drawing/2014/main" id="{9DC9B351-0B50-4FE3-AD81-C5F238132601}"/>
              </a:ext>
            </a:extLst>
          </p:cNvPr>
          <p:cNvSpPr>
            <a:spLocks xmlns:a="http://schemas.openxmlformats.org/drawingml/2006/main" noGrp="1"/>
          </p:cNvSpPr>
          <p:nvPr/>
        </p:nvSpPr>
        <p:spPr>
          <a:xfrm xmlns:a="http://schemas.openxmlformats.org/drawingml/2006/main">
            <a:off x="400050" y="4686300"/>
            <a:ext cx="2952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lnSpc>
                <a:spcPct val="115000"/>
              </a:lnSpc>
              <a:spcBef>
                <a:spcPts val="0"/>
              </a:spcBef>
              <a:spcAft>
                <a:spcPts val="0"/>
              </a:spcAft>
              <a:buNone/>
              <a:defRPr sz="1050" b="0">
                <a:solidFill>
                  <a:srgbClr val="595959"/>
                </a:solidFill>
                <a:latin typeface="Ubuntu Mono"/>
                <a:ea typeface="Ubuntu Mono"/>
                <a:cs typeface="Ubuntu Mono"/>
              </a:defRPr>
            </a:pPr>
            <a:r>
              <a:rPr sz="1050" b="0">
                <a:solidFill>
                  <a:srgbClr val="595959"/>
                </a:solidFill>
                <a:latin typeface="Ubuntu Mono"/>
                <a:ea typeface="Ubuntu Mono"/>
                <a:cs typeface="Ubuntu Mono"/>
              </a:rPr>
              <a:t>Thesis   9 October 2026</a:t>
            </a:r>
          </a:p>
        </p:txBody>
      </p:sp>
      <p:sp>
        <p:nvSpPr>
          <p:cNvPr id="279" name="Google Shape;279;p32">
            <a:extLst xmlns:a="http://schemas.openxmlformats.org/drawingml/2006/main">
              <a:ext uri="{FF2B5EF4-FFF2-40B4-BE49-F238E27FC236}">
                <a16:creationId xmlns:a16="http://schemas.microsoft.com/office/drawing/2014/main" id="{53DB70CD-2D97-485B-BA45-B908B91833A9}"/>
              </a:ext>
            </a:extLst>
          </p:cNvPr>
          <p:cNvSpPr>
            <a:spLocks xmlns:a="http://schemas.openxmlformats.org/drawingml/2006/main" noGrp="1"/>
          </p:cNvSpPr>
          <p:nvPr>
            <p:ph type="sldNum" idx="12"/>
          </p:nvPr>
        </p:nvSpPr>
        <p:spPr>
          <a:xfrm xmlns:a="http://schemas.openxmlformats.org/drawingml/2006/main">
            <a:off x="8334375" y="4686300"/>
            <a:ext cx="428625" cy="20955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r">
              <a:lnSpc>
                <a:spcPct val="115000"/>
              </a:lnSpc>
              <a:spcBef>
                <a:spcPts val="0"/>
              </a:spcBef>
              <a:spcAft>
                <a:spcPts val="0"/>
              </a:spcAft>
              <a:buNone/>
              <a:defRPr sz="975" b="0">
                <a:solidFill>
                  <a:srgbClr val="595959"/>
                </a:solidFill>
                <a:latin typeface="Ubuntu Mono"/>
                <a:ea typeface="Ubuntu Mono"/>
                <a:cs typeface="Ubuntu Mono"/>
              </a:defRPr>
            </a:pPr>
            <a:r>
              <a:rPr sz="975" b="0">
                <a:solidFill>
                  <a:srgbClr val="595959"/>
                </a:solidFill>
                <a:latin typeface="Ubuntu Mono"/>
                <a:ea typeface="Ubuntu Mono"/>
                <a:cs typeface="Ubuntu Mono"/>
              </a:rPr>
              <a:t>08</a:t>
            </a:r>
          </a:p>
        </p:txBody>
      </p:sp>
      <p:pic>
        <p:nvPicPr>
          <p:cNvPr id="294" name="Google Shape;281;p32"/>
          <p:cNvPicPr>
            <a:picLocks xmlns:a="http://schemas.openxmlformats.org/drawingml/2006/main" noChangeAspect="1"/>
          </p:cNvPicPr>
          <p:nvPr/>
        </p:nvPicPr>
        <p:blipFill>
          <a:blip xmlns:r="http://schemas.openxmlformats.org/officeDocument/2006/relationships" xmlns:a="http://schemas.openxmlformats.org/drawingml/2006/main" r:embed="R64e9e963c1a24d4e">
            <a:alphaModFix/>
          </a:blip>
          <a:stretch xmlns:a="http://schemas.openxmlformats.org/drawingml/2006/main"/>
        </p:blipFill>
        <p:spPr>
          <a:xfrm xmlns:a="http://schemas.openxmlformats.org/drawingml/2006/main">
            <a:off x="7010808" y="981075"/>
            <a:ext cx="1323159" cy="3562350"/>
          </a:xfrm>
          <a:prstGeom xmlns:a="http://schemas.openxmlformats.org/drawingml/2006/main" prst="rect">
            <a:avLst/>
          </a:prstGeom>
          <a:ln xmlns:a="http://schemas.openxmlformats.org/drawingml/2006/main">
            <a:noFill/>
          </a:ln>
        </p:spPr>
      </p:pic>
      <p:sp>
        <p:nvSpPr>
          <p:cNvPr id="282" name="Thesis 8 01  Choose a company">
            <a:extLst xmlns:a="http://schemas.openxmlformats.org/drawingml/2006/main">
              <a:ext uri="{FF2B5EF4-FFF2-40B4-BE49-F238E27FC236}">
                <a16:creationId xmlns:a16="http://schemas.microsoft.com/office/drawing/2014/main" id="{4A58A1DC-EBFA-4ED9-86D0-B4300C285A26}"/>
              </a:ext>
            </a:extLst>
          </p:cNvPr>
          <p:cNvSpPr>
            <a:spLocks xmlns:a="http://schemas.openxmlformats.org/drawingml/2006/main" noGrp="1"/>
          </p:cNvSpPr>
          <p:nvPr/>
        </p:nvSpPr>
        <p:spPr>
          <a:xfrm xmlns:a="http://schemas.openxmlformats.org/drawingml/2006/main">
            <a:off x="409575" y="1238250"/>
            <a:ext cx="5857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00000"/>
                </a:solidFill>
                <a:latin typeface="Work Sans"/>
                <a:ea typeface="Work Sans"/>
                <a:cs typeface="Work Sans"/>
              </a:defRPr>
            </a:pPr>
            <a:r>
              <a:rPr sz="1725" b="1">
                <a:solidFill>
                  <a:srgbClr val="000000"/>
                </a:solidFill>
                <a:latin typeface="Work Sans"/>
                <a:ea typeface="Work Sans"/>
                <a:cs typeface="Work Sans"/>
              </a:rPr>
              <a:t>01  Choose a company</a:t>
            </a:r>
          </a:p>
        </p:txBody>
      </p:sp>
      <p:sp>
        <p:nvSpPr>
          <p:cNvPr id="283" name="Thesis 8 Explore the business, financials">
            <a:extLst xmlns:a="http://schemas.openxmlformats.org/drawingml/2006/main">
              <a:ext uri="{FF2B5EF4-FFF2-40B4-BE49-F238E27FC236}">
                <a16:creationId xmlns:a16="http://schemas.microsoft.com/office/drawing/2014/main" id="{C13893D2-BFB4-42AB-936F-6F8397B56EE3}"/>
              </a:ext>
            </a:extLst>
          </p:cNvPr>
          <p:cNvSpPr>
            <a:spLocks xmlns:a="http://schemas.openxmlformats.org/drawingml/2006/main" noGrp="1"/>
          </p:cNvSpPr>
          <p:nvPr/>
        </p:nvSpPr>
        <p:spPr>
          <a:xfrm xmlns:a="http://schemas.openxmlformats.org/drawingml/2006/main">
            <a:off x="409575" y="1533525"/>
            <a:ext cx="585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95959"/>
                </a:solidFill>
                <a:latin typeface="Ubuntu Mono"/>
                <a:ea typeface="Ubuntu Mono"/>
                <a:cs typeface="Ubuntu Mono"/>
              </a:defRPr>
            </a:pPr>
            <a:r>
              <a:rPr sz="1500" b="0">
                <a:solidFill>
                  <a:srgbClr val="595959"/>
                </a:solidFill>
                <a:latin typeface="Ubuntu Mono"/>
                <a:ea typeface="Ubuntu Mono"/>
                <a:cs typeface="Ubuntu Mono"/>
              </a:rPr>
              <a:t>Explore the business, financials and available expectations.</a:t>
            </a:r>
          </a:p>
        </p:txBody>
      </p:sp>
      <p:sp>
        <p:nvSpPr>
          <p:cNvPr id="284" name="Thesis 8 02  Investigate a question">
            <a:extLst xmlns:a="http://schemas.openxmlformats.org/drawingml/2006/main">
              <a:ext uri="{FF2B5EF4-FFF2-40B4-BE49-F238E27FC236}">
                <a16:creationId xmlns:a16="http://schemas.microsoft.com/office/drawing/2014/main" id="{4B94E0F8-6350-43E2-9ADC-EDDE61E15020}"/>
              </a:ext>
            </a:extLst>
          </p:cNvPr>
          <p:cNvSpPr>
            <a:spLocks xmlns:a="http://schemas.openxmlformats.org/drawingml/2006/main" noGrp="1"/>
          </p:cNvSpPr>
          <p:nvPr/>
        </p:nvSpPr>
        <p:spPr>
          <a:xfrm xmlns:a="http://schemas.openxmlformats.org/drawingml/2006/main">
            <a:off x="409575" y="1981200"/>
            <a:ext cx="5857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00000"/>
                </a:solidFill>
                <a:latin typeface="Work Sans"/>
                <a:ea typeface="Work Sans"/>
                <a:cs typeface="Work Sans"/>
              </a:defRPr>
            </a:pPr>
            <a:r>
              <a:rPr sz="1725" b="1">
                <a:solidFill>
                  <a:srgbClr val="000000"/>
                </a:solidFill>
                <a:latin typeface="Work Sans"/>
                <a:ea typeface="Work Sans"/>
                <a:cs typeface="Work Sans"/>
              </a:rPr>
              <a:t>02  Investigate a question</a:t>
            </a:r>
          </a:p>
        </p:txBody>
      </p:sp>
      <p:sp>
        <p:nvSpPr>
          <p:cNvPr id="285" name="Thesis 8 Read sources and inspect the evi">
            <a:extLst xmlns:a="http://schemas.openxmlformats.org/drawingml/2006/main">
              <a:ext uri="{FF2B5EF4-FFF2-40B4-BE49-F238E27FC236}">
                <a16:creationId xmlns:a16="http://schemas.microsoft.com/office/drawing/2014/main" id="{A5534D3F-F967-49A2-9394-C0356CBF40D8}"/>
              </a:ext>
            </a:extLst>
          </p:cNvPr>
          <p:cNvSpPr>
            <a:spLocks xmlns:a="http://schemas.openxmlformats.org/drawingml/2006/main" noGrp="1"/>
          </p:cNvSpPr>
          <p:nvPr/>
        </p:nvSpPr>
        <p:spPr>
          <a:xfrm xmlns:a="http://schemas.openxmlformats.org/drawingml/2006/main">
            <a:off x="409575" y="2276475"/>
            <a:ext cx="585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95959"/>
                </a:solidFill>
                <a:latin typeface="Ubuntu Mono"/>
                <a:ea typeface="Ubuntu Mono"/>
                <a:cs typeface="Ubuntu Mono"/>
              </a:defRPr>
            </a:pPr>
            <a:r>
              <a:rPr sz="1500" b="0">
                <a:solidFill>
                  <a:srgbClr val="595959"/>
                </a:solidFill>
                <a:latin typeface="Ubuntu Mono"/>
                <a:ea typeface="Ubuntu Mono"/>
                <a:cs typeface="Ubuntu Mono"/>
              </a:rPr>
              <a:t>Read sources and inspect the evidence behind an answer.</a:t>
            </a:r>
          </a:p>
        </p:txBody>
      </p:sp>
      <p:sp>
        <p:nvSpPr>
          <p:cNvPr id="286" name="Thesis 8 03  Save a thesis">
            <a:extLst xmlns:a="http://schemas.openxmlformats.org/drawingml/2006/main">
              <a:ext uri="{FF2B5EF4-FFF2-40B4-BE49-F238E27FC236}">
                <a16:creationId xmlns:a16="http://schemas.microsoft.com/office/drawing/2014/main" id="{6B8EF708-7E5A-4B4B-9F33-B3A8CD4E1D3C}"/>
              </a:ext>
            </a:extLst>
          </p:cNvPr>
          <p:cNvSpPr>
            <a:spLocks xmlns:a="http://schemas.openxmlformats.org/drawingml/2006/main" noGrp="1"/>
          </p:cNvSpPr>
          <p:nvPr/>
        </p:nvSpPr>
        <p:spPr>
          <a:xfrm xmlns:a="http://schemas.openxmlformats.org/drawingml/2006/main">
            <a:off x="409575" y="2724150"/>
            <a:ext cx="5857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00000"/>
                </a:solidFill>
                <a:latin typeface="Work Sans"/>
                <a:ea typeface="Work Sans"/>
                <a:cs typeface="Work Sans"/>
              </a:defRPr>
            </a:pPr>
            <a:r>
              <a:rPr sz="1725" b="1">
                <a:solidFill>
                  <a:srgbClr val="000000"/>
                </a:solidFill>
                <a:latin typeface="Work Sans"/>
                <a:ea typeface="Work Sans"/>
                <a:cs typeface="Work Sans"/>
              </a:rPr>
              <a:t>03  Save a thesis</a:t>
            </a:r>
          </a:p>
        </p:txBody>
      </p:sp>
      <p:sp>
        <p:nvSpPr>
          <p:cNvPr id="287" name="Thesis 8 Write the reasoning and approve ">
            <a:extLst xmlns:a="http://schemas.openxmlformats.org/drawingml/2006/main">
              <a:ext uri="{FF2B5EF4-FFF2-40B4-BE49-F238E27FC236}">
                <a16:creationId xmlns:a16="http://schemas.microsoft.com/office/drawing/2014/main" id="{0112283F-3516-4CC1-B0B3-009B46C93EA6}"/>
              </a:ext>
            </a:extLst>
          </p:cNvPr>
          <p:cNvSpPr>
            <a:spLocks xmlns:a="http://schemas.openxmlformats.org/drawingml/2006/main" noGrp="1"/>
          </p:cNvSpPr>
          <p:nvPr/>
        </p:nvSpPr>
        <p:spPr>
          <a:xfrm xmlns:a="http://schemas.openxmlformats.org/drawingml/2006/main">
            <a:off x="409575" y="3019425"/>
            <a:ext cx="585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95959"/>
                </a:solidFill>
                <a:latin typeface="Ubuntu Mono"/>
                <a:ea typeface="Ubuntu Mono"/>
                <a:cs typeface="Ubuntu Mono"/>
              </a:defRPr>
            </a:pPr>
            <a:r>
              <a:rPr sz="1500" b="0">
                <a:solidFill>
                  <a:srgbClr val="595959"/>
                </a:solidFill>
                <a:latin typeface="Ubuntu Mono"/>
                <a:ea typeface="Ubuntu Mono"/>
                <a:cs typeface="Ubuntu Mono"/>
              </a:rPr>
              <a:t>Write the reasoning and approve any monitoring conditions.</a:t>
            </a:r>
          </a:p>
        </p:txBody>
      </p:sp>
      <p:sp>
        <p:nvSpPr>
          <p:cNvPr id="288" name="Thesis 8 04  Return to the evidence">
            <a:extLst xmlns:a="http://schemas.openxmlformats.org/drawingml/2006/main">
              <a:ext uri="{FF2B5EF4-FFF2-40B4-BE49-F238E27FC236}">
                <a16:creationId xmlns:a16="http://schemas.microsoft.com/office/drawing/2014/main" id="{53A23DB6-70F4-42A5-B694-C8F406DCCB89}"/>
              </a:ext>
            </a:extLst>
          </p:cNvPr>
          <p:cNvSpPr>
            <a:spLocks xmlns:a="http://schemas.openxmlformats.org/drawingml/2006/main" noGrp="1"/>
          </p:cNvSpPr>
          <p:nvPr/>
        </p:nvSpPr>
        <p:spPr>
          <a:xfrm xmlns:a="http://schemas.openxmlformats.org/drawingml/2006/main">
            <a:off x="409575" y="3467100"/>
            <a:ext cx="5857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00000"/>
                </a:solidFill>
                <a:latin typeface="Work Sans"/>
                <a:ea typeface="Work Sans"/>
                <a:cs typeface="Work Sans"/>
              </a:defRPr>
            </a:pPr>
            <a:r>
              <a:rPr sz="1725" b="1">
                <a:solidFill>
                  <a:srgbClr val="000000"/>
                </a:solidFill>
                <a:latin typeface="Work Sans"/>
                <a:ea typeface="Work Sans"/>
                <a:cs typeface="Work Sans"/>
              </a:rPr>
              <a:t>04  Return to the evidence</a:t>
            </a:r>
          </a:p>
        </p:txBody>
      </p:sp>
      <p:sp>
        <p:nvSpPr>
          <p:cNvPr id="289" name="Thesis 8 Review relevant updates and deci">
            <a:extLst xmlns:a="http://schemas.openxmlformats.org/drawingml/2006/main">
              <a:ext uri="{FF2B5EF4-FFF2-40B4-BE49-F238E27FC236}">
                <a16:creationId xmlns:a16="http://schemas.microsoft.com/office/drawing/2014/main" id="{A3C9D612-500F-4225-930F-D127F3DBA026}"/>
              </a:ext>
            </a:extLst>
          </p:cNvPr>
          <p:cNvSpPr>
            <a:spLocks xmlns:a="http://schemas.openxmlformats.org/drawingml/2006/main" noGrp="1"/>
          </p:cNvSpPr>
          <p:nvPr/>
        </p:nvSpPr>
        <p:spPr>
          <a:xfrm xmlns:a="http://schemas.openxmlformats.org/drawingml/2006/main">
            <a:off x="409575" y="3762375"/>
            <a:ext cx="585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95959"/>
                </a:solidFill>
                <a:latin typeface="Ubuntu Mono"/>
                <a:ea typeface="Ubuntu Mono"/>
                <a:cs typeface="Ubuntu Mono"/>
              </a:defRPr>
            </a:pPr>
            <a:r>
              <a:rPr sz="1500" b="0">
                <a:solidFill>
                  <a:srgbClr val="595959"/>
                </a:solidFill>
                <a:latin typeface="Ubuntu Mono"/>
                <a:ea typeface="Ubuntu Mono"/>
                <a:cs typeface="Ubuntu Mono"/>
              </a:rPr>
              <a:t>Review relevant updates and decide whether to revise the view.</a:t>
            </a:r>
          </a:p>
        </p:txBody>
      </p:sp>
    </p:spTree>
    <p:extLst>
      <p:ext uri="{BB962C8B-B14F-4D97-AF65-F5344CB8AC3E}">
        <p14:creationId xmlns:p14="http://schemas.microsoft.com/office/powerpoint/2010/main" val="123508757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86" name="Google Shape;286;p33">
            <a:extLst xmlns:a="http://schemas.openxmlformats.org/drawingml/2006/main">
              <a:ext uri="{FF2B5EF4-FFF2-40B4-BE49-F238E27FC236}">
                <a16:creationId xmlns:a16="http://schemas.microsoft.com/office/drawing/2014/main" id="{44A8C250-89E4-4680-B19D-474391162D56}"/>
              </a:ext>
            </a:extLst>
          </p:cNvPr>
          <p:cNvSpPr>
            <a:spLocks xmlns:a="http://schemas.openxmlformats.org/drawingml/2006/main" noGrp="1"/>
          </p:cNvSpPr>
          <p:nvPr>
            <p:ph type="title" idx="0"/>
          </p:nvPr>
        </p:nvSpPr>
        <p:spPr>
          <a:xfrm xmlns:a="http://schemas.openxmlformats.org/drawingml/2006/main">
            <a:off x="466725" y="266700"/>
            <a:ext cx="8520600" cy="5727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lnSpc>
                <a:spcPct val="115000"/>
              </a:lnSpc>
              <a:spcBef>
                <a:spcPts val="0"/>
              </a:spcBef>
              <a:spcAft>
                <a:spcPts val="0"/>
              </a:spcAft>
              <a:buNone/>
              <a:defRPr sz="2550" b="0">
                <a:solidFill>
                  <a:srgbClr val="000000"/>
                </a:solidFill>
                <a:latin typeface="Work Sans"/>
                <a:ea typeface="Work Sans"/>
                <a:cs typeface="Work Sans"/>
              </a:defRPr>
            </a:pPr>
            <a:r>
              <a:rPr sz="2550" b="0">
                <a:solidFill>
                  <a:srgbClr val="000000"/>
                </a:solidFill>
                <a:latin typeface="Work Sans"/>
                <a:ea typeface="Work Sans"/>
                <a:cs typeface="Work Sans"/>
              </a:rPr>
              <a:t>Market entry: campus investors</a:t>
            </a:r>
          </a:p>
        </p:txBody>
      </p:sp>
      <p:sp>
        <p:nvSpPr>
          <p:cNvPr id="287" name="Google Shape;287;p33">
            <a:extLst xmlns:a="http://schemas.openxmlformats.org/drawingml/2006/main">
              <a:ext uri="{FF2B5EF4-FFF2-40B4-BE49-F238E27FC236}">
                <a16:creationId xmlns:a16="http://schemas.microsoft.com/office/drawing/2014/main" id="{4E9091B2-F934-463C-B0A5-C5210825B55D}"/>
              </a:ext>
            </a:extLst>
          </p:cNvPr>
          <p:cNvSpPr>
            <a:spLocks xmlns:a="http://schemas.openxmlformats.org/drawingml/2006/main" noGrp="1"/>
          </p:cNvSpPr>
          <p:nvPr/>
        </p:nvSpPr>
        <p:spPr>
          <a:xfrm xmlns:a="http://schemas.openxmlformats.org/drawingml/2006/main">
            <a:off x="387900" y="941525"/>
            <a:ext cx="3435900" cy="3415500"/>
          </a:xfrm>
          <a:prstGeom xmlns:a="http://schemas.openxmlformats.org/drawingml/2006/main" prst="ellipse">
            <a:avLst/>
          </a:prstGeom>
          <a:solidFill xmlns:a="http://schemas.openxmlformats.org/drawingml/2006/main">
            <a:srgbClr val="F3F3F3"/>
          </a:solidFill>
          <a:ln xmlns:a="http://schemas.openxmlformats.org/drawingml/2006/main" w="28575" cmpd="sng">
            <a:solidFill>
              <a:schemeClr val="dk1"/>
            </a:solidFill>
            <a:prstDash val="dash"/>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88" name="Google Shape;288;p33">
            <a:extLst xmlns:a="http://schemas.openxmlformats.org/drawingml/2006/main">
              <a:ext uri="{FF2B5EF4-FFF2-40B4-BE49-F238E27FC236}">
                <a16:creationId xmlns:a16="http://schemas.microsoft.com/office/drawing/2014/main" id="{00B07BDF-4E77-42FF-A8D1-DE1650D12C6B}"/>
              </a:ext>
            </a:extLst>
          </p:cNvPr>
          <p:cNvSpPr>
            <a:spLocks xmlns:a="http://schemas.openxmlformats.org/drawingml/2006/main" noGrp="1"/>
          </p:cNvSpPr>
          <p:nvPr/>
        </p:nvSpPr>
        <p:spPr>
          <a:xfrm xmlns:a="http://schemas.openxmlformats.org/drawingml/2006/main">
            <a:off x="940200" y="2039525"/>
            <a:ext cx="2331300" cy="2317500"/>
          </a:xfrm>
          <a:prstGeom xmlns:a="http://schemas.openxmlformats.org/drawingml/2006/main" prst="ellipse">
            <a:avLst/>
          </a:prstGeom>
          <a:solidFill xmlns:a="http://schemas.openxmlformats.org/drawingml/2006/main">
            <a:srgbClr val="D9D9D9"/>
          </a:solidFill>
          <a:ln xmlns:a="http://schemas.openxmlformats.org/drawingml/2006/main" w="28575" cmpd="sng">
            <a:solidFill>
              <a:schemeClr val="dk2"/>
            </a:solidFill>
            <a:prstDash val="dash"/>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89" name="Google Shape;289;p33">
            <a:extLst xmlns:a="http://schemas.openxmlformats.org/drawingml/2006/main">
              <a:ext uri="{FF2B5EF4-FFF2-40B4-BE49-F238E27FC236}">
                <a16:creationId xmlns:a16="http://schemas.microsoft.com/office/drawing/2014/main" id="{5BD2B6C9-F8C0-482F-91B7-1123247FB6FF}"/>
              </a:ext>
            </a:extLst>
          </p:cNvPr>
          <p:cNvSpPr>
            <a:spLocks xmlns:a="http://schemas.openxmlformats.org/drawingml/2006/main" noGrp="1"/>
          </p:cNvSpPr>
          <p:nvPr/>
        </p:nvSpPr>
        <p:spPr>
          <a:xfrm xmlns:a="http://schemas.openxmlformats.org/drawingml/2006/main">
            <a:off x="4429125" y="1095375"/>
            <a:ext cx="4295775"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lnSpc>
                <a:spcPct val="115000"/>
              </a:lnSpc>
              <a:spcBef>
                <a:spcPts val="0"/>
              </a:spcBef>
              <a:spcAft>
                <a:spcPts val="0"/>
              </a:spcAft>
              <a:buNone/>
              <a:defRPr sz="1500" b="0">
                <a:solidFill>
                  <a:srgbClr val="000000"/>
                </a:solidFill>
                <a:latin typeface="Ubuntu Mono"/>
                <a:ea typeface="Ubuntu Mono"/>
                <a:cs typeface="Ubuntu Mono"/>
              </a:defRPr>
            </a:pPr>
            <a:r>
              <a:rPr sz="1500" b="0">
                <a:solidFill>
                  <a:srgbClr val="000000"/>
                </a:solidFill>
                <a:latin typeface="Ubuntu Mono"/>
                <a:ea typeface="Ubuntu Mono"/>
                <a:cs typeface="Ubuntu Mono"/>
              </a:rPr>
              <a:t>Initial campus: NUS</a:t>
            </a:r>
          </a:p>
          <a:p xmlns:a="http://schemas.openxmlformats.org/drawingml/2006/main">
            <a:pPr marL="0" indent="0" algn="l">
              <a:lnSpc>
                <a:spcPct val="115000"/>
              </a:lnSpc>
              <a:spcBef>
                <a:spcPts val="0"/>
              </a:spcBef>
              <a:spcAft>
                <a:spcPts val="0"/>
              </a:spcAft>
              <a:buNone/>
              <a:defRPr sz="1500" b="0">
                <a:solidFill>
                  <a:srgbClr val="000000"/>
                </a:solidFill>
                <a:latin typeface="Ubuntu Mono"/>
                <a:ea typeface="Ubuntu Mono"/>
                <a:cs typeface="Ubuntu Mono"/>
              </a:defRPr>
            </a:pPr>
            <a:r>
              <a:rPr sz="1500" b="0">
                <a:solidFill>
                  <a:srgbClr val="000000"/>
                </a:solidFill>
                <a:latin typeface="Ubuntu Mono"/>
                <a:ea typeface="Ubuntu Mono"/>
                <a:cs typeface="Ubuntu Mono"/>
              </a:rPr>
              <a:t>31,086 undergraduates in AY2025/26.</a:t>
            </a:r>
          </a:p>
          <a:p xmlns:a="http://schemas.openxmlformats.org/drawingml/2006/main">
            <a:pPr marL="0" indent="0" algn="l">
              <a:lnSpc>
                <a:spcPct val="115000"/>
              </a:lnSpc>
              <a:spcBef>
                <a:spcPts val="0"/>
              </a:spcBef>
              <a:spcAft>
                <a:spcPts val="0"/>
              </a:spcAft>
              <a:buNone/>
              <a:defRPr sz="1500" b="0">
                <a:solidFill>
                  <a:srgbClr val="000000"/>
                </a:solidFill>
                <a:latin typeface="Ubuntu Mono"/>
                <a:ea typeface="Ubuntu Mono"/>
                <a:cs typeface="Ubuntu Mono"/>
              </a:defRPr>
            </a:pPr>
            <a:r>
              <a:rPr sz="1500" b="0">
                <a:solidFill>
                  <a:srgbClr val="000000"/>
                </a:solidFill>
                <a:latin typeface="Ubuntu Mono"/>
                <a:ea typeface="Ubuntu Mono"/>
                <a:cs typeface="Ubuntu Mono"/>
              </a:rPr>
              <a:t>This is an audience base, not paying demand.</a:t>
            </a:r>
          </a:p>
        </p:txBody>
      </p:sp>
      <p:sp>
        <p:nvSpPr>
          <p:cNvPr id="290" name="Google Shape;290;p33">
            <a:extLst xmlns:a="http://schemas.openxmlformats.org/drawingml/2006/main">
              <a:ext uri="{FF2B5EF4-FFF2-40B4-BE49-F238E27FC236}">
                <a16:creationId xmlns:a16="http://schemas.microsoft.com/office/drawing/2014/main" id="{4B09250D-8D3E-491C-8235-A558606947A0}"/>
              </a:ext>
            </a:extLst>
          </p:cNvPr>
          <p:cNvSpPr>
            <a:spLocks xmlns:a="http://schemas.openxmlformats.org/drawingml/2006/main" noGrp="1"/>
          </p:cNvSpPr>
          <p:nvPr/>
        </p:nvSpPr>
        <p:spPr>
          <a:xfrm xmlns:a="http://schemas.openxmlformats.org/drawingml/2006/main">
            <a:off x="4476750" y="2238375"/>
            <a:ext cx="4248150" cy="923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lnSpc>
                <a:spcPct val="115000"/>
              </a:lnSpc>
              <a:spcBef>
                <a:spcPts val="0"/>
              </a:spcBef>
              <a:spcAft>
                <a:spcPts val="0"/>
              </a:spcAft>
              <a:buNone/>
              <a:defRPr sz="1500" b="0">
                <a:solidFill>
                  <a:srgbClr val="000000"/>
                </a:solidFill>
                <a:latin typeface="Ubuntu Mono"/>
                <a:ea typeface="Ubuntu Mono"/>
                <a:cs typeface="Ubuntu Mono"/>
              </a:defRPr>
            </a:pPr>
            <a:r>
              <a:rPr sz="1500" b="0">
                <a:solidFill>
                  <a:srgbClr val="000000"/>
                </a:solidFill>
                <a:latin typeface="Ubuntu Mono"/>
                <a:ea typeface="Ubuntu Mono"/>
                <a:cs typeface="Ubuntu Mono"/>
              </a:rPr>
              <a:t>First user segment</a:t>
            </a:r>
          </a:p>
          <a:p xmlns:a="http://schemas.openxmlformats.org/drawingml/2006/main">
            <a:pPr marL="0" indent="0" algn="l">
              <a:lnSpc>
                <a:spcPct val="115000"/>
              </a:lnSpc>
              <a:spcBef>
                <a:spcPts val="0"/>
              </a:spcBef>
              <a:spcAft>
                <a:spcPts val="0"/>
              </a:spcAft>
              <a:buNone/>
              <a:defRPr sz="1500" b="0">
                <a:solidFill>
                  <a:srgbClr val="000000"/>
                </a:solidFill>
                <a:latin typeface="Ubuntu Mono"/>
                <a:ea typeface="Ubuntu Mono"/>
                <a:cs typeface="Ubuntu Mono"/>
              </a:defRPr>
            </a:pPr>
            <a:r>
              <a:rPr sz="1500" b="0">
                <a:solidFill>
                  <a:srgbClr val="000000"/>
                </a:solidFill>
                <a:latin typeface="Ubuntu Mono"/>
                <a:ea typeface="Ubuntu Mono"/>
                <a:cs typeface="Ubuntu Mono"/>
              </a:rPr>
              <a:t>Students already researching individual</a:t>
            </a:r>
          </a:p>
          <a:p xmlns:a="http://schemas.openxmlformats.org/drawingml/2006/main">
            <a:pPr marL="0" indent="0" algn="l">
              <a:lnSpc>
                <a:spcPct val="115000"/>
              </a:lnSpc>
              <a:spcBef>
                <a:spcPts val="0"/>
              </a:spcBef>
              <a:spcAft>
                <a:spcPts val="0"/>
              </a:spcAft>
              <a:buNone/>
              <a:defRPr sz="1500" b="0">
                <a:solidFill>
                  <a:srgbClr val="000000"/>
                </a:solidFill>
                <a:latin typeface="Ubuntu Mono"/>
                <a:ea typeface="Ubuntu Mono"/>
                <a:cs typeface="Ubuntu Mono"/>
              </a:defRPr>
            </a:pPr>
            <a:r>
              <a:rPr sz="1500" b="0">
                <a:solidFill>
                  <a:srgbClr val="000000"/>
                </a:solidFill>
                <a:latin typeface="Ubuntu Mono"/>
                <a:ea typeface="Ubuntu Mono"/>
                <a:cs typeface="Ubuntu Mono"/>
              </a:rPr>
              <a:t>companies and looking for a repeat workflow.</a:t>
            </a:r>
          </a:p>
        </p:txBody>
      </p:sp>
      <p:sp>
        <p:nvSpPr>
          <p:cNvPr id="291" name="Google Shape;291;p33">
            <a:extLst xmlns:a="http://schemas.openxmlformats.org/drawingml/2006/main">
              <a:ext uri="{FF2B5EF4-FFF2-40B4-BE49-F238E27FC236}">
                <a16:creationId xmlns:a16="http://schemas.microsoft.com/office/drawing/2014/main" id="{8228E405-9B84-4A78-92AB-12428B334205}"/>
              </a:ext>
            </a:extLst>
          </p:cNvPr>
          <p:cNvSpPr>
            <a:spLocks xmlns:a="http://schemas.openxmlformats.org/drawingml/2006/main" noGrp="1"/>
          </p:cNvSpPr>
          <p:nvPr/>
        </p:nvSpPr>
        <p:spPr>
          <a:xfrm xmlns:a="http://schemas.openxmlformats.org/drawingml/2006/main">
            <a:off x="1538400" y="3228725"/>
            <a:ext cx="1134900" cy="1128300"/>
          </a:xfrm>
          <a:prstGeom xmlns:a="http://schemas.openxmlformats.org/drawingml/2006/main" prst="ellipse">
            <a:avLst/>
          </a:prstGeom>
          <a:solidFill xmlns:a="http://schemas.openxmlformats.org/drawingml/2006/main">
            <a:srgbClr val="F4CCCC"/>
          </a:solidFill>
          <a:ln xmlns:a="http://schemas.openxmlformats.org/drawingml/2006/main" w="28575" cmpd="sng">
            <a:solidFill>
              <a:srgbClr val="EB2227"/>
            </a:solidFill>
            <a:prstDash val="dash"/>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92" name="Google Shape;292;p33">
            <a:extLst xmlns:a="http://schemas.openxmlformats.org/drawingml/2006/main">
              <a:ext uri="{FF2B5EF4-FFF2-40B4-BE49-F238E27FC236}">
                <a16:creationId xmlns:a16="http://schemas.microsoft.com/office/drawing/2014/main" id="{970705F5-87D6-4323-88DF-CEB5D7BBB192}"/>
              </a:ext>
            </a:extLst>
          </p:cNvPr>
          <p:cNvSpPr>
            <a:spLocks xmlns:a="http://schemas.openxmlformats.org/drawingml/2006/main" noGrp="1"/>
          </p:cNvSpPr>
          <p:nvPr/>
        </p:nvSpPr>
        <p:spPr>
          <a:xfrm xmlns:a="http://schemas.openxmlformats.org/drawingml/2006/main">
            <a:off x="4429125" y="3400425"/>
            <a:ext cx="4295775"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lnSpc>
                <a:spcPct val="115000"/>
              </a:lnSpc>
              <a:spcBef>
                <a:spcPts val="0"/>
              </a:spcBef>
              <a:spcAft>
                <a:spcPts val="0"/>
              </a:spcAft>
              <a:buNone/>
              <a:defRPr sz="1500" b="0">
                <a:solidFill>
                  <a:srgbClr val="F51F28"/>
                </a:solidFill>
                <a:latin typeface="Ubuntu Mono"/>
                <a:ea typeface="Ubuntu Mono"/>
                <a:cs typeface="Ubuntu Mono"/>
              </a:defRPr>
            </a:pPr>
            <a:r>
              <a:rPr sz="1500" b="0">
                <a:solidFill>
                  <a:srgbClr val="F51F28"/>
                </a:solidFill>
                <a:latin typeface="Ubuntu Mono"/>
                <a:ea typeface="Ubuntu Mono"/>
                <a:cs typeface="Ubuntu Mono"/>
              </a:rPr>
              <a:t>Proposed pilot</a:t>
            </a:r>
          </a:p>
          <a:p xmlns:a="http://schemas.openxmlformats.org/drawingml/2006/main">
            <a:pPr marL="0" indent="0" algn="l">
              <a:lnSpc>
                <a:spcPct val="115000"/>
              </a:lnSpc>
              <a:spcBef>
                <a:spcPts val="0"/>
              </a:spcBef>
              <a:spcAft>
                <a:spcPts val="0"/>
              </a:spcAft>
              <a:buNone/>
              <a:defRPr sz="1500" b="0">
                <a:solidFill>
                  <a:srgbClr val="F51F28"/>
                </a:solidFill>
                <a:latin typeface="Ubuntu Mono"/>
                <a:ea typeface="Ubuntu Mono"/>
                <a:cs typeface="Ubuntu Mono"/>
              </a:defRPr>
            </a:pPr>
            <a:r>
              <a:rPr sz="1500" b="0">
                <a:solidFill>
                  <a:srgbClr val="F51F28"/>
                </a:solidFill>
                <a:latin typeface="Ubuntu Mono"/>
                <a:ea typeface="Ubuntu Mono"/>
                <a:cs typeface="Ubuntu Mono"/>
              </a:rPr>
              <a:t>20–30 participants over four weeks.</a:t>
            </a:r>
          </a:p>
          <a:p xmlns:a="http://schemas.openxmlformats.org/drawingml/2006/main">
            <a:pPr marL="0" indent="0" algn="l">
              <a:lnSpc>
                <a:spcPct val="115000"/>
              </a:lnSpc>
              <a:spcBef>
                <a:spcPts val="0"/>
              </a:spcBef>
              <a:spcAft>
                <a:spcPts val="0"/>
              </a:spcAft>
              <a:buNone/>
              <a:defRPr sz="1500" b="0">
                <a:solidFill>
                  <a:srgbClr val="F51F28"/>
                </a:solidFill>
                <a:latin typeface="Ubuntu Mono"/>
                <a:ea typeface="Ubuntu Mono"/>
                <a:cs typeface="Ubuntu Mono"/>
              </a:defRPr>
            </a:pPr>
            <a:r>
              <a:rPr sz="1500" b="0">
                <a:solidFill>
                  <a:srgbClr val="F51F28"/>
                </a:solidFill>
                <a:latin typeface="Ubuntu Mono"/>
                <a:ea typeface="Ubuntu Mono"/>
                <a:cs typeface="Ubuntu Mono"/>
              </a:rPr>
              <a:t>Expansion depends on observed repeat use.</a:t>
            </a:r>
          </a:p>
        </p:txBody>
      </p:sp>
      <p:sp>
        <p:nvSpPr>
          <p:cNvPr id="293" name="Google Shape;293;p33">
            <a:extLst xmlns:a="http://schemas.openxmlformats.org/drawingml/2006/main">
              <a:ext uri="{FF2B5EF4-FFF2-40B4-BE49-F238E27FC236}">
                <a16:creationId xmlns:a16="http://schemas.microsoft.com/office/drawing/2014/main" id="{87699153-5D3A-4243-BD07-636395927530}"/>
              </a:ext>
            </a:extLst>
          </p:cNvPr>
          <p:cNvSpPr>
            <a:spLocks xmlns:a="http://schemas.openxmlformats.org/drawingml/2006/main" noGrp="1"/>
          </p:cNvSpPr>
          <p:nvPr/>
        </p:nvSpPr>
        <p:spPr>
          <a:xfrm xmlns:a="http://schemas.openxmlformats.org/drawingml/2006/main">
            <a:off x="4241700" y="1098275"/>
            <a:ext cx="46800" cy="752400"/>
          </a:xfrm>
          <a:prstGeom xmlns:a="http://schemas.openxmlformats.org/drawingml/2006/main" prst="rect">
            <a:avLst/>
          </a:prstGeom>
          <a:solidFill xmlns:a="http://schemas.openxmlformats.org/drawingml/2006/main">
            <a:srgbClr val="23232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94" name="Google Shape;294;p33">
            <a:extLst xmlns:a="http://schemas.openxmlformats.org/drawingml/2006/main">
              <a:ext uri="{FF2B5EF4-FFF2-40B4-BE49-F238E27FC236}">
                <a16:creationId xmlns:a16="http://schemas.microsoft.com/office/drawing/2014/main" id="{0A602B3D-5C49-4894-812D-56215A3F8F6F}"/>
              </a:ext>
            </a:extLst>
          </p:cNvPr>
          <p:cNvSpPr>
            <a:spLocks xmlns:a="http://schemas.openxmlformats.org/drawingml/2006/main" noGrp="1"/>
          </p:cNvSpPr>
          <p:nvPr/>
        </p:nvSpPr>
        <p:spPr>
          <a:xfrm xmlns:a="http://schemas.openxmlformats.org/drawingml/2006/main">
            <a:off x="4241700" y="2173925"/>
            <a:ext cx="46800" cy="806100"/>
          </a:xfrm>
          <a:prstGeom xmlns:a="http://schemas.openxmlformats.org/drawingml/2006/main" prst="rect">
            <a:avLst/>
          </a:prstGeom>
          <a:solidFill xmlns:a="http://schemas.openxmlformats.org/drawingml/2006/main">
            <a:schemeClr val="dk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95" name="Google Shape;295;p33">
            <a:extLst xmlns:a="http://schemas.openxmlformats.org/drawingml/2006/main">
              <a:ext uri="{FF2B5EF4-FFF2-40B4-BE49-F238E27FC236}">
                <a16:creationId xmlns:a16="http://schemas.microsoft.com/office/drawing/2014/main" id="{78170EE6-26AB-4F26-A9B6-4EBC4E7B7AA1}"/>
              </a:ext>
            </a:extLst>
          </p:cNvPr>
          <p:cNvSpPr>
            <a:spLocks xmlns:a="http://schemas.openxmlformats.org/drawingml/2006/main" noGrp="1"/>
          </p:cNvSpPr>
          <p:nvPr/>
        </p:nvSpPr>
        <p:spPr>
          <a:xfrm xmlns:a="http://schemas.openxmlformats.org/drawingml/2006/main">
            <a:off x="4241700" y="3333800"/>
            <a:ext cx="46800" cy="860400"/>
          </a:xfrm>
          <a:prstGeom xmlns:a="http://schemas.openxmlformats.org/drawingml/2006/main" prst="rect">
            <a:avLst/>
          </a:prstGeom>
          <a:solidFill xmlns:a="http://schemas.openxmlformats.org/drawingml/2006/main">
            <a:srgbClr val="E8250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EB2227"/>
              </a:solidFill>
            </a:endParaRPr>
          </a:p>
        </p:txBody>
      </p:sp>
      <p:sp>
        <p:nvSpPr>
          <p:cNvPr id="296" name="Google Shape;296;p33">
            <a:extLst xmlns:a="http://schemas.openxmlformats.org/drawingml/2006/main">
              <a:ext uri="{FF2B5EF4-FFF2-40B4-BE49-F238E27FC236}">
                <a16:creationId xmlns:a16="http://schemas.microsoft.com/office/drawing/2014/main" id="{3D453B61-1DB2-49F3-AE0A-8EE8682FC91C}"/>
              </a:ext>
            </a:extLst>
          </p:cNvPr>
          <p:cNvSpPr>
            <a:spLocks xmlns:a="http://schemas.openxmlformats.org/drawingml/2006/main" noGrp="1"/>
          </p:cNvSpPr>
          <p:nvPr/>
        </p:nvSpPr>
        <p:spPr>
          <a:xfrm xmlns:a="http://schemas.openxmlformats.org/drawingml/2006/main">
            <a:off x="400050" y="4686300"/>
            <a:ext cx="2952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lnSpc>
                <a:spcPct val="115000"/>
              </a:lnSpc>
              <a:spcBef>
                <a:spcPts val="0"/>
              </a:spcBef>
              <a:spcAft>
                <a:spcPts val="0"/>
              </a:spcAft>
              <a:buNone/>
              <a:defRPr sz="1050" b="0">
                <a:solidFill>
                  <a:srgbClr val="595959"/>
                </a:solidFill>
                <a:latin typeface="Ubuntu Mono"/>
                <a:ea typeface="Ubuntu Mono"/>
                <a:cs typeface="Ubuntu Mono"/>
              </a:defRPr>
            </a:pPr>
            <a:r>
              <a:rPr sz="1050" b="0">
                <a:solidFill>
                  <a:srgbClr val="595959"/>
                </a:solidFill>
                <a:latin typeface="Ubuntu Mono"/>
                <a:ea typeface="Ubuntu Mono"/>
                <a:cs typeface="Ubuntu Mono"/>
              </a:rPr>
              <a:t>Thesis   9 October 2026</a:t>
            </a:r>
          </a:p>
        </p:txBody>
      </p:sp>
      <p:sp>
        <p:nvSpPr>
          <p:cNvPr id="299" name="Google Shape;299;p33">
            <a:extLst xmlns:a="http://schemas.openxmlformats.org/drawingml/2006/main">
              <a:ext uri="{FF2B5EF4-FFF2-40B4-BE49-F238E27FC236}">
                <a16:creationId xmlns:a16="http://schemas.microsoft.com/office/drawing/2014/main" id="{2ED55F1B-067B-4EFE-B5D8-3DBDCB59067A}"/>
              </a:ext>
            </a:extLst>
          </p:cNvPr>
          <p:cNvSpPr>
            <a:spLocks xmlns:a="http://schemas.openxmlformats.org/drawingml/2006/main" noGrp="1"/>
          </p:cNvSpPr>
          <p:nvPr>
            <p:ph type="sldNum" idx="12"/>
          </p:nvPr>
        </p:nvSpPr>
        <p:spPr>
          <a:xfrm xmlns:a="http://schemas.openxmlformats.org/drawingml/2006/main">
            <a:off x="8334375" y="4686300"/>
            <a:ext cx="428625" cy="20955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r">
              <a:lnSpc>
                <a:spcPct val="115000"/>
              </a:lnSpc>
              <a:spcBef>
                <a:spcPts val="0"/>
              </a:spcBef>
              <a:spcAft>
                <a:spcPts val="0"/>
              </a:spcAft>
              <a:buNone/>
              <a:defRPr sz="975" b="0">
                <a:solidFill>
                  <a:srgbClr val="595959"/>
                </a:solidFill>
                <a:latin typeface="Ubuntu Mono"/>
                <a:ea typeface="Ubuntu Mono"/>
                <a:cs typeface="Ubuntu Mono"/>
              </a:defRPr>
            </a:pPr>
            <a:r>
              <a:rPr sz="975" b="0">
                <a:solidFill>
                  <a:srgbClr val="595959"/>
                </a:solidFill>
                <a:latin typeface="Ubuntu Mono"/>
                <a:ea typeface="Ubuntu Mono"/>
                <a:cs typeface="Ubuntu Mono"/>
              </a:rPr>
              <a:t>09</a:t>
            </a:r>
          </a:p>
        </p:txBody>
      </p:sp>
      <p:sp>
        <p:nvSpPr>
          <p:cNvPr id="300" name="Google Shape;300;p33">
            <a:extLst xmlns:a="http://schemas.openxmlformats.org/drawingml/2006/main">
              <a:ext uri="{FF2B5EF4-FFF2-40B4-BE49-F238E27FC236}">
                <a16:creationId xmlns:a16="http://schemas.microsoft.com/office/drawing/2014/main" id="{298AF354-6A52-494C-9D28-0169430A4410}"/>
              </a:ext>
            </a:extLst>
          </p:cNvPr>
          <p:cNvSpPr>
            <a:spLocks xmlns:a="http://schemas.openxmlformats.org/drawingml/2006/main" noGrp="1"/>
          </p:cNvSpPr>
          <p:nvPr/>
        </p:nvSpPr>
        <p:spPr>
          <a:xfrm xmlns:a="http://schemas.openxmlformats.org/drawingml/2006/main">
            <a:off x="1409700" y="3600450"/>
            <a:ext cx="1381125" cy="4286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ctr">
              <a:lnSpc>
                <a:spcPct val="115000"/>
              </a:lnSpc>
              <a:spcBef>
                <a:spcPts val="0"/>
              </a:spcBef>
              <a:spcAft>
                <a:spcPts val="0"/>
              </a:spcAft>
              <a:buNone/>
              <a:defRPr sz="2025" b="1">
                <a:solidFill>
                  <a:srgbClr val="F51F28"/>
                </a:solidFill>
                <a:latin typeface="Work Sans"/>
                <a:ea typeface="Work Sans"/>
                <a:cs typeface="Work Sans"/>
              </a:defRPr>
            </a:pPr>
            <a:r>
              <a:rPr sz="2025" b="1">
                <a:solidFill>
                  <a:srgbClr val="F51F28"/>
                </a:solidFill>
                <a:latin typeface="Work Sans"/>
                <a:ea typeface="Work Sans"/>
                <a:cs typeface="Work Sans"/>
              </a:rPr>
              <a:t>20–30</a:t>
            </a:r>
          </a:p>
        </p:txBody>
      </p:sp>
      <p:sp>
        <p:nvSpPr>
          <p:cNvPr id="301" name="Google Shape;301;p33">
            <a:extLst xmlns:a="http://schemas.openxmlformats.org/drawingml/2006/main">
              <a:ext uri="{FF2B5EF4-FFF2-40B4-BE49-F238E27FC236}">
                <a16:creationId xmlns:a16="http://schemas.microsoft.com/office/drawing/2014/main" id="{6130D22B-8BE7-4937-B6E1-4DC61B236478}"/>
              </a:ext>
            </a:extLst>
          </p:cNvPr>
          <p:cNvSpPr>
            <a:spLocks xmlns:a="http://schemas.openxmlformats.org/drawingml/2006/main" noGrp="1"/>
          </p:cNvSpPr>
          <p:nvPr/>
        </p:nvSpPr>
        <p:spPr>
          <a:xfrm xmlns:a="http://schemas.openxmlformats.org/drawingml/2006/main">
            <a:off x="1133475" y="2409825"/>
            <a:ext cx="1952625"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ctr">
              <a:lnSpc>
                <a:spcPct val="115000"/>
              </a:lnSpc>
              <a:spcBef>
                <a:spcPts val="0"/>
              </a:spcBef>
              <a:spcAft>
                <a:spcPts val="0"/>
              </a:spcAft>
              <a:buNone/>
              <a:defRPr sz="1800" b="1">
                <a:solidFill>
                  <a:srgbClr val="595959"/>
                </a:solidFill>
                <a:latin typeface="Work Sans"/>
                <a:ea typeface="Work Sans"/>
                <a:cs typeface="Work Sans"/>
              </a:defRPr>
            </a:pPr>
            <a:r>
              <a:rPr sz="1800" b="1">
                <a:solidFill>
                  <a:srgbClr val="595959"/>
                </a:solidFill>
                <a:latin typeface="Work Sans"/>
                <a:ea typeface="Work Sans"/>
                <a:cs typeface="Work Sans"/>
              </a:rPr>
              <a:t>Researching</a:t>
            </a:r>
          </a:p>
          <a:p xmlns:a="http://schemas.openxmlformats.org/drawingml/2006/main">
            <a:pPr marL="0" indent="0" algn="ctr">
              <a:lnSpc>
                <a:spcPct val="115000"/>
              </a:lnSpc>
              <a:spcBef>
                <a:spcPts val="0"/>
              </a:spcBef>
              <a:spcAft>
                <a:spcPts val="0"/>
              </a:spcAft>
              <a:buNone/>
              <a:defRPr sz="1800" b="1">
                <a:solidFill>
                  <a:srgbClr val="595959"/>
                </a:solidFill>
                <a:latin typeface="Work Sans"/>
                <a:ea typeface="Work Sans"/>
                <a:cs typeface="Work Sans"/>
              </a:defRPr>
            </a:pPr>
            <a:r>
              <a:rPr sz="1800" b="1">
                <a:solidFill>
                  <a:srgbClr val="595959"/>
                </a:solidFill>
                <a:latin typeface="Work Sans"/>
                <a:ea typeface="Work Sans"/>
                <a:cs typeface="Work Sans"/>
              </a:rPr>
              <a:t>shares</a:t>
            </a:r>
          </a:p>
        </p:txBody>
      </p:sp>
      <p:sp>
        <p:nvSpPr>
          <p:cNvPr id="302" name="Google Shape;302;p33">
            <a:extLst xmlns:a="http://schemas.openxmlformats.org/drawingml/2006/main">
              <a:ext uri="{FF2B5EF4-FFF2-40B4-BE49-F238E27FC236}">
                <a16:creationId xmlns:a16="http://schemas.microsoft.com/office/drawing/2014/main" id="{0D9B31F8-0310-41EE-B42F-AACFBA1CDAF1}"/>
              </a:ext>
            </a:extLst>
          </p:cNvPr>
          <p:cNvSpPr>
            <a:spLocks xmlns:a="http://schemas.openxmlformats.org/drawingml/2006/main" noGrp="1"/>
          </p:cNvSpPr>
          <p:nvPr/>
        </p:nvSpPr>
        <p:spPr>
          <a:xfrm xmlns:a="http://schemas.openxmlformats.org/drawingml/2006/main">
            <a:off x="1257300" y="1343025"/>
            <a:ext cx="17145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ctr">
              <a:lnSpc>
                <a:spcPct val="115000"/>
              </a:lnSpc>
              <a:spcBef>
                <a:spcPts val="0"/>
              </a:spcBef>
              <a:spcAft>
                <a:spcPts val="0"/>
              </a:spcAft>
              <a:buNone/>
              <a:defRPr sz="2325" b="1">
                <a:solidFill>
                  <a:srgbClr val="000000"/>
                </a:solidFill>
                <a:latin typeface="Work Sans"/>
                <a:ea typeface="Work Sans"/>
                <a:cs typeface="Work Sans"/>
              </a:defRPr>
            </a:pPr>
            <a:r>
              <a:rPr sz="2325" b="1">
                <a:solidFill>
                  <a:srgbClr val="000000"/>
                </a:solidFill>
                <a:latin typeface="Work Sans"/>
                <a:ea typeface="Work Sans"/>
                <a:cs typeface="Work Sans"/>
              </a:rPr>
              <a:t>31,086</a:t>
            </a:r>
          </a:p>
        </p:txBody>
      </p:sp>
      <p:sp>
        <p:nvSpPr>
          <p:cNvPr id="303" name="Thesis 9 NUS Registrar, 7 Sep 2025. Circl">
            <a:extLst xmlns:a="http://schemas.openxmlformats.org/drawingml/2006/main">
              <a:ext uri="{FF2B5EF4-FFF2-40B4-BE49-F238E27FC236}">
                <a16:creationId xmlns:a16="http://schemas.microsoft.com/office/drawing/2014/main" id="{A542576F-477D-49F1-BFDE-D16CD22C2F37}"/>
              </a:ext>
            </a:extLst>
          </p:cNvPr>
          <p:cNvSpPr>
            <a:spLocks xmlns:a="http://schemas.openxmlformats.org/drawingml/2006/main" noGrp="1"/>
          </p:cNvSpPr>
          <p:nvPr/>
        </p:nvSpPr>
        <p:spPr>
          <a:xfrm xmlns:a="http://schemas.openxmlformats.org/drawingml/2006/main">
            <a:off x="419100" y="4410075"/>
            <a:ext cx="81724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595959"/>
                </a:solidFill>
                <a:latin typeface="Ubuntu Mono"/>
                <a:ea typeface="Ubuntu Mono"/>
                <a:cs typeface="Ubuntu Mono"/>
              </a:defRPr>
            </a:pPr>
            <a:r>
              <a:rPr sz="975" b="0">
                <a:solidFill>
                  <a:srgbClr val="595959"/>
                </a:solidFill>
                <a:latin typeface="Ubuntu Mono"/>
                <a:ea typeface="Ubuntu Mono"/>
                <a:cs typeface="Ubuntu Mono"/>
              </a:rPr>
              <a:t>NUS Registrar, 7 Sep 2025. Circles are schematic, not to scale. Revenue market size remains unvalidated.</a:t>
            </a:r>
          </a:p>
        </p:txBody>
      </p:sp>
    </p:spTree>
    <p:extLst>
      <p:ext uri="{BB962C8B-B14F-4D97-AF65-F5344CB8AC3E}">
        <p14:creationId xmlns:p14="http://schemas.microsoft.com/office/powerpoint/2010/main" val="145809986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07" name="Google Shape;307;p34">
            <a:extLst xmlns:a="http://schemas.openxmlformats.org/drawingml/2006/main">
              <a:ext uri="{FF2B5EF4-FFF2-40B4-BE49-F238E27FC236}">
                <a16:creationId xmlns:a16="http://schemas.microsoft.com/office/drawing/2014/main" id="{48483B7D-09DC-4DB9-9609-D45C7212B9A9}"/>
              </a:ext>
            </a:extLst>
          </p:cNvPr>
          <p:cNvSpPr>
            <a:spLocks xmlns:a="http://schemas.openxmlformats.org/drawingml/2006/main" noGrp="1"/>
          </p:cNvSpPr>
          <p:nvPr>
            <p:ph type="title" idx="0"/>
          </p:nvPr>
        </p:nvSpPr>
        <p:spPr>
          <a:xfrm xmlns:a="http://schemas.openxmlformats.org/drawingml/2006/main">
            <a:off x="464100" y="445025"/>
            <a:ext cx="8520600" cy="5727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lnSpc>
                <a:spcPct val="115000"/>
              </a:lnSpc>
              <a:spcBef>
                <a:spcPts val="0"/>
              </a:spcBef>
              <a:spcAft>
                <a:spcPts val="0"/>
              </a:spcAft>
              <a:buNone/>
              <a:defRPr sz="2550" b="0">
                <a:solidFill>
                  <a:srgbClr val="000000"/>
                </a:solidFill>
                <a:latin typeface="Work Sans"/>
                <a:ea typeface="Work Sans"/>
                <a:cs typeface="Work Sans"/>
              </a:defRPr>
            </a:pPr>
            <a:r>
              <a:rPr sz="2550" b="0">
                <a:solidFill>
                  <a:srgbClr val="000000"/>
                </a:solidFill>
                <a:latin typeface="Work Sans"/>
                <a:ea typeface="Work Sans"/>
                <a:cs typeface="Work Sans"/>
              </a:rPr>
              <a:t>Business model: recurring research</a:t>
            </a:r>
          </a:p>
        </p:txBody>
      </p:sp>
      <p:sp>
        <p:nvSpPr>
          <p:cNvPr id="308" name="Google Shape;308;p34">
            <a:extLst xmlns:a="http://schemas.openxmlformats.org/drawingml/2006/main">
              <a:ext uri="{FF2B5EF4-FFF2-40B4-BE49-F238E27FC236}">
                <a16:creationId xmlns:a16="http://schemas.microsoft.com/office/drawing/2014/main" id="{27B8971B-0D43-4D73-8A53-7D695945AAF0}"/>
              </a:ext>
            </a:extLst>
          </p:cNvPr>
          <p:cNvSpPr>
            <a:spLocks xmlns:a="http://schemas.openxmlformats.org/drawingml/2006/main" noGrp="1"/>
          </p:cNvSpPr>
          <p:nvPr>
            <p:ph type="body" idx="1"/>
          </p:nvPr>
        </p:nvSpPr>
        <p:spPr>
          <a:xfrm xmlns:a="http://schemas.openxmlformats.org/drawingml/2006/main">
            <a:off x="561975" y="1285875"/>
            <a:ext cx="8029575" cy="295275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nSpc>
                <a:spcPct val="115000"/>
              </a:lnSpc>
              <a:spcBef>
                <a:spcPts val="0"/>
              </a:spcBef>
              <a:spcAft>
                <a:spcPts val="0"/>
              </a:spcAft>
              <a:buNone/>
            </a:pPr>
            <a:r>
              <a:rPr sz="1650" b="0">
                <a:solidFill>
                  <a:srgbClr val="000000"/>
                </a:solidFill>
                <a:latin typeface="Ubuntu Mono"/>
                <a:ea typeface="Ubuntu Mono"/>
                <a:cs typeface="Ubuntu Mono"/>
              </a:rPr>
              <a:t/>
            </a:r>
          </a:p>
        </p:txBody>
      </p:sp>
      <p:sp>
        <p:nvSpPr>
          <p:cNvPr id="309" name="Google Shape;309;p34">
            <a:extLst xmlns:a="http://schemas.openxmlformats.org/drawingml/2006/main">
              <a:ext uri="{FF2B5EF4-FFF2-40B4-BE49-F238E27FC236}">
                <a16:creationId xmlns:a16="http://schemas.microsoft.com/office/drawing/2014/main" id="{2F93DB1E-F1B5-49D9-B1C0-B35965CE1EF0}"/>
              </a:ext>
            </a:extLst>
          </p:cNvPr>
          <p:cNvSpPr>
            <a:spLocks xmlns:a="http://schemas.openxmlformats.org/drawingml/2006/main" noGrp="1"/>
          </p:cNvSpPr>
          <p:nvPr/>
        </p:nvSpPr>
        <p:spPr>
          <a:xfrm xmlns:a="http://schemas.openxmlformats.org/drawingml/2006/main">
            <a:off x="400050" y="4686300"/>
            <a:ext cx="2952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lnSpc>
                <a:spcPct val="115000"/>
              </a:lnSpc>
              <a:spcBef>
                <a:spcPts val="0"/>
              </a:spcBef>
              <a:spcAft>
                <a:spcPts val="0"/>
              </a:spcAft>
              <a:buNone/>
              <a:defRPr sz="1050" b="0">
                <a:solidFill>
                  <a:srgbClr val="595959"/>
                </a:solidFill>
                <a:latin typeface="Ubuntu Mono"/>
                <a:ea typeface="Ubuntu Mono"/>
                <a:cs typeface="Ubuntu Mono"/>
              </a:defRPr>
            </a:pPr>
            <a:r>
              <a:rPr sz="1050" b="0">
                <a:solidFill>
                  <a:srgbClr val="595959"/>
                </a:solidFill>
                <a:latin typeface="Ubuntu Mono"/>
                <a:ea typeface="Ubuntu Mono"/>
                <a:cs typeface="Ubuntu Mono"/>
              </a:rPr>
              <a:t>Thesis   9 October 2026</a:t>
            </a:r>
          </a:p>
        </p:txBody>
      </p:sp>
      <p:sp>
        <p:nvSpPr>
          <p:cNvPr id="312" name="Google Shape;312;p34">
            <a:extLst xmlns:a="http://schemas.openxmlformats.org/drawingml/2006/main">
              <a:ext uri="{FF2B5EF4-FFF2-40B4-BE49-F238E27FC236}">
                <a16:creationId xmlns:a16="http://schemas.microsoft.com/office/drawing/2014/main" id="{246A5F5A-015D-4028-A4E7-109ECB9A85D6}"/>
              </a:ext>
            </a:extLst>
          </p:cNvPr>
          <p:cNvSpPr>
            <a:spLocks xmlns:a="http://schemas.openxmlformats.org/drawingml/2006/main" noGrp="1"/>
          </p:cNvSpPr>
          <p:nvPr>
            <p:ph type="sldNum" idx="12"/>
          </p:nvPr>
        </p:nvSpPr>
        <p:spPr>
          <a:xfrm xmlns:a="http://schemas.openxmlformats.org/drawingml/2006/main">
            <a:off x="8334375" y="4686300"/>
            <a:ext cx="428625" cy="20955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r">
              <a:lnSpc>
                <a:spcPct val="115000"/>
              </a:lnSpc>
              <a:spcBef>
                <a:spcPts val="0"/>
              </a:spcBef>
              <a:spcAft>
                <a:spcPts val="0"/>
              </a:spcAft>
              <a:buNone/>
              <a:defRPr sz="975" b="0">
                <a:solidFill>
                  <a:srgbClr val="595959"/>
                </a:solidFill>
                <a:latin typeface="Ubuntu Mono"/>
                <a:ea typeface="Ubuntu Mono"/>
                <a:cs typeface="Ubuntu Mono"/>
              </a:defRPr>
            </a:pPr>
            <a:r>
              <a:rPr sz="975" b="0">
                <a:solidFill>
                  <a:srgbClr val="595959"/>
                </a:solidFill>
                <a:latin typeface="Ubuntu Mono"/>
                <a:ea typeface="Ubuntu Mono"/>
                <a:cs typeface="Ubuntu Mono"/>
              </a:rPr>
              <a:t>10</a:t>
            </a:r>
          </a:p>
        </p:txBody>
      </p:sp>
      <p:sp>
        <p:nvSpPr>
          <p:cNvPr id="313" name="Thesis 10 Free or trial access">
            <a:extLst xmlns:a="http://schemas.openxmlformats.org/drawingml/2006/main">
              <a:ext uri="{FF2B5EF4-FFF2-40B4-BE49-F238E27FC236}">
                <a16:creationId xmlns:a16="http://schemas.microsoft.com/office/drawing/2014/main" id="{BC82FCB0-C979-4258-8CF7-60FA31B854B5}"/>
              </a:ext>
            </a:extLst>
          </p:cNvPr>
          <p:cNvSpPr>
            <a:spLocks xmlns:a="http://schemas.openxmlformats.org/drawingml/2006/main" noGrp="1"/>
          </p:cNvSpPr>
          <p:nvPr/>
        </p:nvSpPr>
        <p:spPr>
          <a:xfrm xmlns:a="http://schemas.openxmlformats.org/drawingml/2006/main">
            <a:off x="561975" y="1285875"/>
            <a:ext cx="8029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00000"/>
                </a:solidFill>
                <a:latin typeface="Work Sans"/>
                <a:ea typeface="Work Sans"/>
                <a:cs typeface="Work Sans"/>
              </a:defRPr>
            </a:pPr>
            <a:r>
              <a:rPr sz="1725" b="1">
                <a:solidFill>
                  <a:srgbClr val="000000"/>
                </a:solidFill>
                <a:latin typeface="Work Sans"/>
                <a:ea typeface="Work Sans"/>
                <a:cs typeface="Work Sans"/>
              </a:rPr>
              <a:t>Free or trial access</a:t>
            </a:r>
          </a:p>
        </p:txBody>
      </p:sp>
      <p:sp>
        <p:nvSpPr>
          <p:cNvPr id="314" name="Thesis 10 Let a new user research a compan">
            <a:extLst xmlns:a="http://schemas.openxmlformats.org/drawingml/2006/main">
              <a:ext uri="{FF2B5EF4-FFF2-40B4-BE49-F238E27FC236}">
                <a16:creationId xmlns:a16="http://schemas.microsoft.com/office/drawing/2014/main" id="{57E667A7-5097-4BCD-8D4C-BD3BB7F6DA3D}"/>
              </a:ext>
            </a:extLst>
          </p:cNvPr>
          <p:cNvSpPr>
            <a:spLocks xmlns:a="http://schemas.openxmlformats.org/drawingml/2006/main" noGrp="1"/>
          </p:cNvSpPr>
          <p:nvPr/>
        </p:nvSpPr>
        <p:spPr>
          <a:xfrm xmlns:a="http://schemas.openxmlformats.org/drawingml/2006/main">
            <a:off x="561975" y="1581150"/>
            <a:ext cx="8029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95959"/>
                </a:solidFill>
                <a:latin typeface="Ubuntu Mono"/>
                <a:ea typeface="Ubuntu Mono"/>
                <a:cs typeface="Ubuntu Mono"/>
              </a:defRPr>
            </a:pPr>
            <a:r>
              <a:rPr sz="1500" b="0">
                <a:solidFill>
                  <a:srgbClr val="595959"/>
                </a:solidFill>
                <a:latin typeface="Ubuntu Mono"/>
                <a:ea typeface="Ubuntu Mono"/>
                <a:cs typeface="Ubuntu Mono"/>
              </a:rPr>
              <a:t>Let a new user research a company and save a useful first thesis.</a:t>
            </a:r>
          </a:p>
        </p:txBody>
      </p:sp>
      <p:sp>
        <p:nvSpPr>
          <p:cNvPr id="315" name="Thesis 10 Proposed paid subscription">
            <a:extLst xmlns:a="http://schemas.openxmlformats.org/drawingml/2006/main">
              <a:ext uri="{FF2B5EF4-FFF2-40B4-BE49-F238E27FC236}">
                <a16:creationId xmlns:a16="http://schemas.microsoft.com/office/drawing/2014/main" id="{D7897ECD-ADA2-4C7A-BBA7-E6369A3CEBFB}"/>
              </a:ext>
            </a:extLst>
          </p:cNvPr>
          <p:cNvSpPr>
            <a:spLocks xmlns:a="http://schemas.openxmlformats.org/drawingml/2006/main" noGrp="1"/>
          </p:cNvSpPr>
          <p:nvPr/>
        </p:nvSpPr>
        <p:spPr>
          <a:xfrm xmlns:a="http://schemas.openxmlformats.org/drawingml/2006/main">
            <a:off x="561975" y="2000250"/>
            <a:ext cx="8029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00000"/>
                </a:solidFill>
                <a:latin typeface="Work Sans"/>
                <a:ea typeface="Work Sans"/>
                <a:cs typeface="Work Sans"/>
              </a:defRPr>
            </a:pPr>
            <a:r>
              <a:rPr sz="1725" b="1">
                <a:solidFill>
                  <a:srgbClr val="000000"/>
                </a:solidFill>
                <a:latin typeface="Work Sans"/>
                <a:ea typeface="Work Sans"/>
                <a:cs typeface="Work Sans"/>
              </a:rPr>
              <a:t>Proposed paid subscription</a:t>
            </a:r>
          </a:p>
        </p:txBody>
      </p:sp>
      <p:sp>
        <p:nvSpPr>
          <p:cNvPr id="316" name="Thesis 10 Offer greater research capacity,">
            <a:extLst xmlns:a="http://schemas.openxmlformats.org/drawingml/2006/main">
              <a:ext uri="{FF2B5EF4-FFF2-40B4-BE49-F238E27FC236}">
                <a16:creationId xmlns:a16="http://schemas.microsoft.com/office/drawing/2014/main" id="{3032656F-25C8-48C7-9CC0-33A80CFA1AAC}"/>
              </a:ext>
            </a:extLst>
          </p:cNvPr>
          <p:cNvSpPr>
            <a:spLocks xmlns:a="http://schemas.openxmlformats.org/drawingml/2006/main" noGrp="1"/>
          </p:cNvSpPr>
          <p:nvPr/>
        </p:nvSpPr>
        <p:spPr>
          <a:xfrm xmlns:a="http://schemas.openxmlformats.org/drawingml/2006/main">
            <a:off x="561975" y="2295525"/>
            <a:ext cx="8029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95959"/>
                </a:solidFill>
                <a:latin typeface="Ubuntu Mono"/>
                <a:ea typeface="Ubuntu Mono"/>
                <a:cs typeface="Ubuntu Mono"/>
              </a:defRPr>
            </a:pPr>
            <a:r>
              <a:rPr sz="1500" b="0">
                <a:solidFill>
                  <a:srgbClr val="595959"/>
                </a:solidFill>
                <a:latin typeface="Ubuntu Mono"/>
                <a:ea typeface="Ubuntu Mono"/>
                <a:cs typeface="Ubuntu Mono"/>
              </a:rPr>
              <a:t>Offer greater research capacity, more active ideas and configurable monitoring.</a:t>
            </a:r>
          </a:p>
        </p:txBody>
      </p:sp>
      <p:sp>
        <p:nvSpPr>
          <p:cNvPr id="317" name="Thesis 10 A reason to continue">
            <a:extLst xmlns:a="http://schemas.openxmlformats.org/drawingml/2006/main">
              <a:ext uri="{FF2B5EF4-FFF2-40B4-BE49-F238E27FC236}">
                <a16:creationId xmlns:a16="http://schemas.microsoft.com/office/drawing/2014/main" id="{CEC4B2EB-CF4E-48EC-B4C5-4AD7F200644F}"/>
              </a:ext>
            </a:extLst>
          </p:cNvPr>
          <p:cNvSpPr>
            <a:spLocks xmlns:a="http://schemas.openxmlformats.org/drawingml/2006/main" noGrp="1"/>
          </p:cNvSpPr>
          <p:nvPr/>
        </p:nvSpPr>
        <p:spPr>
          <a:xfrm xmlns:a="http://schemas.openxmlformats.org/drawingml/2006/main">
            <a:off x="561975" y="2714625"/>
            <a:ext cx="8029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00000"/>
                </a:solidFill>
                <a:latin typeface="Work Sans"/>
                <a:ea typeface="Work Sans"/>
                <a:cs typeface="Work Sans"/>
              </a:defRPr>
            </a:pPr>
            <a:r>
              <a:rPr sz="1725" b="1">
                <a:solidFill>
                  <a:srgbClr val="000000"/>
                </a:solidFill>
                <a:latin typeface="Work Sans"/>
                <a:ea typeface="Work Sans"/>
                <a:cs typeface="Work Sans"/>
              </a:rPr>
              <a:t>A reason to continue</a:t>
            </a:r>
          </a:p>
        </p:txBody>
      </p:sp>
      <p:sp>
        <p:nvSpPr>
          <p:cNvPr id="318" name="Thesis 10 Preserve the reasoning and evide">
            <a:extLst xmlns:a="http://schemas.openxmlformats.org/drawingml/2006/main">
              <a:ext uri="{FF2B5EF4-FFF2-40B4-BE49-F238E27FC236}">
                <a16:creationId xmlns:a16="http://schemas.microsoft.com/office/drawing/2014/main" id="{DE8BA50C-04E9-4460-8B09-98C2426CEA41}"/>
              </a:ext>
            </a:extLst>
          </p:cNvPr>
          <p:cNvSpPr>
            <a:spLocks xmlns:a="http://schemas.openxmlformats.org/drawingml/2006/main" noGrp="1"/>
          </p:cNvSpPr>
          <p:nvPr/>
        </p:nvSpPr>
        <p:spPr>
          <a:xfrm xmlns:a="http://schemas.openxmlformats.org/drawingml/2006/main">
            <a:off x="561975" y="3009900"/>
            <a:ext cx="8029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95959"/>
                </a:solidFill>
                <a:latin typeface="Ubuntu Mono"/>
                <a:ea typeface="Ubuntu Mono"/>
                <a:cs typeface="Ubuntu Mono"/>
              </a:defRPr>
            </a:pPr>
            <a:r>
              <a:rPr sz="1500" b="0">
                <a:solidFill>
                  <a:srgbClr val="595959"/>
                </a:solidFill>
                <a:latin typeface="Ubuntu Mono"/>
                <a:ea typeface="Ubuntu Mono"/>
                <a:cs typeface="Ubuntu Mono"/>
              </a:rPr>
              <a:t>Preserve the reasoning and evidence history as the investor returns.</a:t>
            </a:r>
          </a:p>
        </p:txBody>
      </p:sp>
      <p:sp>
        <p:nvSpPr>
          <p:cNvPr id="319" name="Thesis 10 Pricing decision">
            <a:extLst xmlns:a="http://schemas.openxmlformats.org/drawingml/2006/main">
              <a:ext uri="{FF2B5EF4-FFF2-40B4-BE49-F238E27FC236}">
                <a16:creationId xmlns:a16="http://schemas.microsoft.com/office/drawing/2014/main" id="{F7DF9E19-E1F2-4368-8D7A-F91C95A5E192}"/>
              </a:ext>
            </a:extLst>
          </p:cNvPr>
          <p:cNvSpPr>
            <a:spLocks xmlns:a="http://schemas.openxmlformats.org/drawingml/2006/main" noGrp="1"/>
          </p:cNvSpPr>
          <p:nvPr/>
        </p:nvSpPr>
        <p:spPr>
          <a:xfrm xmlns:a="http://schemas.openxmlformats.org/drawingml/2006/main">
            <a:off x="561975" y="3429000"/>
            <a:ext cx="8029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00000"/>
                </a:solidFill>
                <a:latin typeface="Work Sans"/>
                <a:ea typeface="Work Sans"/>
                <a:cs typeface="Work Sans"/>
              </a:defRPr>
            </a:pPr>
            <a:r>
              <a:rPr sz="1725" b="1">
                <a:solidFill>
                  <a:srgbClr val="000000"/>
                </a:solidFill>
                <a:latin typeface="Work Sans"/>
                <a:ea typeface="Work Sans"/>
                <a:cs typeface="Work Sans"/>
              </a:rPr>
              <a:t>Pricing decision</a:t>
            </a:r>
          </a:p>
        </p:txBody>
      </p:sp>
      <p:sp>
        <p:nvSpPr>
          <p:cNvPr id="320" name="Thesis 10 Test willingness to pay against ">
            <a:extLst xmlns:a="http://schemas.openxmlformats.org/drawingml/2006/main">
              <a:ext uri="{FF2B5EF4-FFF2-40B4-BE49-F238E27FC236}">
                <a16:creationId xmlns:a16="http://schemas.microsoft.com/office/drawing/2014/main" id="{4CD7C2F2-9683-4902-815E-410EEA0C8826}"/>
              </a:ext>
            </a:extLst>
          </p:cNvPr>
          <p:cNvSpPr>
            <a:spLocks xmlns:a="http://schemas.openxmlformats.org/drawingml/2006/main" noGrp="1"/>
          </p:cNvSpPr>
          <p:nvPr/>
        </p:nvSpPr>
        <p:spPr>
          <a:xfrm xmlns:a="http://schemas.openxmlformats.org/drawingml/2006/main">
            <a:off x="561975" y="3724275"/>
            <a:ext cx="8029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95959"/>
                </a:solidFill>
                <a:latin typeface="Ubuntu Mono"/>
                <a:ea typeface="Ubuntu Mono"/>
                <a:cs typeface="Ubuntu Mono"/>
              </a:defRPr>
            </a:pPr>
            <a:r>
              <a:rPr sz="1500" b="0">
                <a:solidFill>
                  <a:srgbClr val="595959"/>
                </a:solidFill>
                <a:latin typeface="Ubuntu Mono"/>
                <a:ea typeface="Ubuntu Mono"/>
                <a:cs typeface="Ubuntu Mono"/>
              </a:rPr>
              <a:t>Test willingness to pay against measured data, model and support costs.</a:t>
            </a:r>
          </a:p>
        </p:txBody>
      </p:sp>
      <p:sp>
        <p:nvSpPr>
          <p:cNvPr id="321" name="Thesis 10 Proposed model. No price, billin">
            <a:extLst xmlns:a="http://schemas.openxmlformats.org/drawingml/2006/main">
              <a:ext uri="{FF2B5EF4-FFF2-40B4-BE49-F238E27FC236}">
                <a16:creationId xmlns:a16="http://schemas.microsoft.com/office/drawing/2014/main" id="{8CB4408C-322A-4F99-B7D1-F557D9B43F01}"/>
              </a:ext>
            </a:extLst>
          </p:cNvPr>
          <p:cNvSpPr>
            <a:spLocks xmlns:a="http://schemas.openxmlformats.org/drawingml/2006/main" noGrp="1"/>
          </p:cNvSpPr>
          <p:nvPr/>
        </p:nvSpPr>
        <p:spPr>
          <a:xfrm xmlns:a="http://schemas.openxmlformats.org/drawingml/2006/main">
            <a:off x="561975" y="4314825"/>
            <a:ext cx="79343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F51F28"/>
                </a:solidFill>
                <a:latin typeface="Ubuntu Mono"/>
                <a:ea typeface="Ubuntu Mono"/>
                <a:cs typeface="Ubuntu Mono"/>
              </a:defRPr>
            </a:pPr>
            <a:r>
              <a:rPr sz="1200" b="0">
                <a:solidFill>
                  <a:srgbClr val="F51F28"/>
                </a:solidFill>
                <a:latin typeface="Ubuntu Mono"/>
                <a:ea typeface="Ubuntu Mono"/>
                <a:cs typeface="Ubuntu Mono"/>
              </a:rPr>
              <a:t>Proposed model. No price, billing system or paid conversion confirmed.</a:t>
            </a:r>
          </a:p>
        </p:txBody>
      </p:sp>
    </p:spTree>
    <p:extLst>
      <p:ext uri="{BB962C8B-B14F-4D97-AF65-F5344CB8AC3E}">
        <p14:creationId xmlns:p14="http://schemas.microsoft.com/office/powerpoint/2010/main" val="60737855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17" name="Google Shape;317;p35">
            <a:extLst xmlns:a="http://schemas.openxmlformats.org/drawingml/2006/main">
              <a:ext uri="{FF2B5EF4-FFF2-40B4-BE49-F238E27FC236}">
                <a16:creationId xmlns:a16="http://schemas.microsoft.com/office/drawing/2014/main" id="{04A5269F-AC17-4D90-BFBF-EB2039E6ADDE}"/>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lnSpc>
                <a:spcPct val="115000"/>
              </a:lnSpc>
              <a:spcBef>
                <a:spcPts val="0"/>
              </a:spcBef>
              <a:spcAft>
                <a:spcPts val="0"/>
              </a:spcAft>
              <a:buNone/>
              <a:defRPr sz="2550" b="0">
                <a:solidFill>
                  <a:srgbClr val="000000"/>
                </a:solidFill>
                <a:latin typeface="Work Sans"/>
                <a:ea typeface="Work Sans"/>
                <a:cs typeface="Work Sans"/>
              </a:defRPr>
            </a:pPr>
            <a:r>
              <a:rPr sz="2550" b="0">
                <a:solidFill>
                  <a:srgbClr val="000000"/>
                </a:solidFill>
                <a:latin typeface="Work Sans"/>
                <a:ea typeface="Work Sans"/>
                <a:cs typeface="Work Sans"/>
              </a:rPr>
              <a:t>Working MVP, customer validation next</a:t>
            </a:r>
          </a:p>
        </p:txBody>
      </p:sp>
      <p:sp>
        <p:nvSpPr>
          <p:cNvPr id="318" name="Google Shape;318;p35">
            <a:extLst xmlns:a="http://schemas.openxmlformats.org/drawingml/2006/main">
              <a:ext uri="{FF2B5EF4-FFF2-40B4-BE49-F238E27FC236}">
                <a16:creationId xmlns:a16="http://schemas.microsoft.com/office/drawing/2014/main" id="{0A1C5041-C6E2-480B-AFB3-B3CC361D7BFC}"/>
              </a:ext>
            </a:extLst>
          </p:cNvPr>
          <p:cNvSpPr>
            <a:spLocks xmlns:a="http://schemas.openxmlformats.org/drawingml/2006/main" noGrp="1"/>
          </p:cNvSpPr>
          <p:nvPr>
            <p:ph type="body" idx="1"/>
          </p:nvPr>
        </p:nvSpPr>
        <p:spPr>
          <a:xfrm xmlns:a="http://schemas.openxmlformats.org/drawingml/2006/main">
            <a:off x="409575" y="1219200"/>
            <a:ext cx="8220075" cy="314325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nSpc>
                <a:spcPct val="115000"/>
              </a:lnSpc>
              <a:spcBef>
                <a:spcPts val="0"/>
              </a:spcBef>
              <a:spcAft>
                <a:spcPts val="0"/>
              </a:spcAft>
              <a:buNone/>
            </a:pPr>
            <a:r>
              <a:rPr sz="1650" b="0">
                <a:solidFill>
                  <a:srgbClr val="000000"/>
                </a:solidFill>
                <a:latin typeface="Ubuntu Mono"/>
                <a:ea typeface="Ubuntu Mono"/>
                <a:cs typeface="Ubuntu Mono"/>
              </a:rPr>
              <a:t/>
            </a:r>
          </a:p>
        </p:txBody>
      </p:sp>
      <p:sp>
        <p:nvSpPr>
          <p:cNvPr id="319" name="Google Shape;319;p35">
            <a:extLst xmlns:a="http://schemas.openxmlformats.org/drawingml/2006/main">
              <a:ext uri="{FF2B5EF4-FFF2-40B4-BE49-F238E27FC236}">
                <a16:creationId xmlns:a16="http://schemas.microsoft.com/office/drawing/2014/main" id="{3058106F-E413-4C00-916A-AA118AD90668}"/>
              </a:ext>
            </a:extLst>
          </p:cNvPr>
          <p:cNvSpPr>
            <a:spLocks xmlns:a="http://schemas.openxmlformats.org/drawingml/2006/main" noGrp="1"/>
          </p:cNvSpPr>
          <p:nvPr/>
        </p:nvSpPr>
        <p:spPr>
          <a:xfrm xmlns:a="http://schemas.openxmlformats.org/drawingml/2006/main">
            <a:off x="400050" y="4686300"/>
            <a:ext cx="2952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lnSpc>
                <a:spcPct val="115000"/>
              </a:lnSpc>
              <a:spcBef>
                <a:spcPts val="0"/>
              </a:spcBef>
              <a:spcAft>
                <a:spcPts val="0"/>
              </a:spcAft>
              <a:buNone/>
              <a:defRPr sz="1050" b="0">
                <a:solidFill>
                  <a:srgbClr val="595959"/>
                </a:solidFill>
                <a:latin typeface="Ubuntu Mono"/>
                <a:ea typeface="Ubuntu Mono"/>
                <a:cs typeface="Ubuntu Mono"/>
              </a:defRPr>
            </a:pPr>
            <a:r>
              <a:rPr sz="1050" b="0">
                <a:solidFill>
                  <a:srgbClr val="595959"/>
                </a:solidFill>
                <a:latin typeface="Ubuntu Mono"/>
                <a:ea typeface="Ubuntu Mono"/>
                <a:cs typeface="Ubuntu Mono"/>
              </a:rPr>
              <a:t>Thesis   9 October 2026</a:t>
            </a:r>
          </a:p>
        </p:txBody>
      </p:sp>
      <p:sp>
        <p:nvSpPr>
          <p:cNvPr id="322" name="Google Shape;322;p35">
            <a:extLst xmlns:a="http://schemas.openxmlformats.org/drawingml/2006/main">
              <a:ext uri="{FF2B5EF4-FFF2-40B4-BE49-F238E27FC236}">
                <a16:creationId xmlns:a16="http://schemas.microsoft.com/office/drawing/2014/main" id="{B48652DF-31C0-4DE4-AD50-CF7A14BB0B7A}"/>
              </a:ext>
            </a:extLst>
          </p:cNvPr>
          <p:cNvSpPr>
            <a:spLocks xmlns:a="http://schemas.openxmlformats.org/drawingml/2006/main" noGrp="1"/>
          </p:cNvSpPr>
          <p:nvPr>
            <p:ph type="sldNum" idx="12"/>
          </p:nvPr>
        </p:nvSpPr>
        <p:spPr>
          <a:xfrm xmlns:a="http://schemas.openxmlformats.org/drawingml/2006/main">
            <a:off x="8334375" y="4686300"/>
            <a:ext cx="428625" cy="20955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r">
              <a:lnSpc>
                <a:spcPct val="115000"/>
              </a:lnSpc>
              <a:spcBef>
                <a:spcPts val="0"/>
              </a:spcBef>
              <a:spcAft>
                <a:spcPts val="0"/>
              </a:spcAft>
              <a:buNone/>
              <a:defRPr sz="975" b="0">
                <a:solidFill>
                  <a:srgbClr val="595959"/>
                </a:solidFill>
                <a:latin typeface="Ubuntu Mono"/>
                <a:ea typeface="Ubuntu Mono"/>
                <a:cs typeface="Ubuntu Mono"/>
              </a:defRPr>
            </a:pPr>
            <a:r>
              <a:rPr sz="975" b="0">
                <a:solidFill>
                  <a:srgbClr val="595959"/>
                </a:solidFill>
                <a:latin typeface="Ubuntu Mono"/>
                <a:ea typeface="Ubuntu Mono"/>
                <a:cs typeface="Ubuntu Mono"/>
              </a:rPr>
              <a:t>11</a:t>
            </a:r>
          </a:p>
        </p:txBody>
      </p:sp>
      <p:sp>
        <p:nvSpPr>
          <p:cNvPr id="323" name="Thesis 11 Built in the local prototype">
            <a:extLst xmlns:a="http://schemas.openxmlformats.org/drawingml/2006/main">
              <a:ext uri="{FF2B5EF4-FFF2-40B4-BE49-F238E27FC236}">
                <a16:creationId xmlns:a16="http://schemas.microsoft.com/office/drawing/2014/main" id="{BC51DF31-6A86-4098-B850-2D84C567AEBA}"/>
              </a:ext>
            </a:extLst>
          </p:cNvPr>
          <p:cNvSpPr>
            <a:spLocks xmlns:a="http://schemas.openxmlformats.org/drawingml/2006/main" noGrp="1"/>
          </p:cNvSpPr>
          <p:nvPr/>
        </p:nvSpPr>
        <p:spPr>
          <a:xfrm xmlns:a="http://schemas.openxmlformats.org/drawingml/2006/main">
            <a:off x="409575" y="1295400"/>
            <a:ext cx="38385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00000"/>
                </a:solidFill>
                <a:latin typeface="Work Sans"/>
                <a:ea typeface="Work Sans"/>
                <a:cs typeface="Work Sans"/>
              </a:defRPr>
            </a:pPr>
            <a:r>
              <a:rPr sz="1800" b="1">
                <a:solidFill>
                  <a:srgbClr val="000000"/>
                </a:solidFill>
                <a:latin typeface="Work Sans"/>
                <a:ea typeface="Work Sans"/>
                <a:cs typeface="Work Sans"/>
              </a:rPr>
              <a:t>Built in the local prototype</a:t>
            </a:r>
          </a:p>
        </p:txBody>
      </p:sp>
      <p:sp>
        <p:nvSpPr>
          <p:cNvPr id="324" name="Thesis 11 Company research with original e">
            <a:extLst xmlns:a="http://schemas.openxmlformats.org/drawingml/2006/main">
              <a:ext uri="{FF2B5EF4-FFF2-40B4-BE49-F238E27FC236}">
                <a16:creationId xmlns:a16="http://schemas.microsoft.com/office/drawing/2014/main" id="{AA6234CB-03E3-45C2-A350-16470663B438}"/>
              </a:ext>
            </a:extLst>
          </p:cNvPr>
          <p:cNvSpPr>
            <a:spLocks xmlns:a="http://schemas.openxmlformats.org/drawingml/2006/main" noGrp="1"/>
          </p:cNvSpPr>
          <p:nvPr/>
        </p:nvSpPr>
        <p:spPr>
          <a:xfrm xmlns:a="http://schemas.openxmlformats.org/drawingml/2006/main">
            <a:off x="409575" y="1819275"/>
            <a:ext cx="3857625"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000000"/>
                </a:solidFill>
                <a:latin typeface="Ubuntu Mono"/>
                <a:ea typeface="Ubuntu Mono"/>
                <a:cs typeface="Ubuntu Mono"/>
              </a:defRPr>
            </a:pPr>
            <a:r>
              <a:rPr sz="1575" b="0">
                <a:solidFill>
                  <a:srgbClr val="000000"/>
                </a:solidFill>
                <a:latin typeface="Ubuntu Mono"/>
                <a:ea typeface="Ubuntu Mono"/>
                <a:cs typeface="Ubuntu Mono"/>
              </a:rPr>
              <a:t>Company research with original evidence</a:t>
            </a:r>
          </a:p>
          <a:p xmlns:a="http://schemas.openxmlformats.org/drawingml/2006/main">
            <a:r>
              <a:t/>
            </a:r>
          </a:p>
          <a:p xmlns:a="http://schemas.openxmlformats.org/drawingml/2006/main">
            <a:pPr algn="l">
              <a:defRPr sz="1575" b="0">
                <a:solidFill>
                  <a:srgbClr val="000000"/>
                </a:solidFill>
                <a:latin typeface="Ubuntu Mono"/>
                <a:ea typeface="Ubuntu Mono"/>
                <a:cs typeface="Ubuntu Mono"/>
              </a:defRPr>
            </a:pPr>
            <a:r>
              <a:rPr sz="1575" b="0">
                <a:solidFill>
                  <a:srgbClr val="000000"/>
                </a:solidFill>
                <a:latin typeface="Ubuntu Mono"/>
                <a:ea typeface="Ubuntu Mono"/>
                <a:cs typeface="Ubuntu Mono"/>
              </a:rPr>
              <a:t>Saved reasoning and revision history</a:t>
            </a:r>
          </a:p>
          <a:p xmlns:a="http://schemas.openxmlformats.org/drawingml/2006/main">
            <a:r>
              <a:t/>
            </a:r>
          </a:p>
          <a:p xmlns:a="http://schemas.openxmlformats.org/drawingml/2006/main">
            <a:pPr algn="l">
              <a:defRPr sz="1575" b="0">
                <a:solidFill>
                  <a:srgbClr val="000000"/>
                </a:solidFill>
                <a:latin typeface="Ubuntu Mono"/>
                <a:ea typeface="Ubuntu Mono"/>
                <a:cs typeface="Ubuntu Mono"/>
              </a:defRPr>
            </a:pPr>
            <a:r>
              <a:rPr sz="1575" b="0">
                <a:solidFill>
                  <a:srgbClr val="000000"/>
                </a:solidFill>
                <a:latin typeface="Ubuntu Mono"/>
                <a:ea typeface="Ubuntu Mono"/>
                <a:cs typeface="Ubuntu Mono"/>
              </a:rPr>
              <a:t>Optional monitoring and review updates</a:t>
            </a:r>
          </a:p>
        </p:txBody>
      </p:sp>
      <p:sp>
        <p:nvSpPr>
          <p:cNvPr id="325" name="Thesis 11 What the pilot will measure">
            <a:extLst xmlns:a="http://schemas.openxmlformats.org/drawingml/2006/main">
              <a:ext uri="{FF2B5EF4-FFF2-40B4-BE49-F238E27FC236}">
                <a16:creationId xmlns:a16="http://schemas.microsoft.com/office/drawing/2014/main" id="{57F81F63-6430-44BC-9DDA-C2D035098D8C}"/>
              </a:ext>
            </a:extLst>
          </p:cNvPr>
          <p:cNvSpPr>
            <a:spLocks xmlns:a="http://schemas.openxmlformats.org/drawingml/2006/main" noGrp="1"/>
          </p:cNvSpPr>
          <p:nvPr/>
        </p:nvSpPr>
        <p:spPr>
          <a:xfrm xmlns:a="http://schemas.openxmlformats.org/drawingml/2006/main">
            <a:off x="4781550" y="1295400"/>
            <a:ext cx="3943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00000"/>
                </a:solidFill>
                <a:latin typeface="Work Sans"/>
                <a:ea typeface="Work Sans"/>
                <a:cs typeface="Work Sans"/>
              </a:defRPr>
            </a:pPr>
            <a:r>
              <a:rPr sz="1800" b="1">
                <a:solidFill>
                  <a:srgbClr val="000000"/>
                </a:solidFill>
                <a:latin typeface="Work Sans"/>
                <a:ea typeface="Work Sans"/>
                <a:cs typeface="Work Sans"/>
              </a:rPr>
              <a:t>What the pilot will measure</a:t>
            </a:r>
          </a:p>
        </p:txBody>
      </p:sp>
      <p:sp>
        <p:nvSpPr>
          <p:cNvPr id="326" name="Thesis 11 Activation: a researched, saved ">
            <a:extLst xmlns:a="http://schemas.openxmlformats.org/drawingml/2006/main">
              <a:ext uri="{FF2B5EF4-FFF2-40B4-BE49-F238E27FC236}">
                <a16:creationId xmlns:a16="http://schemas.microsoft.com/office/drawing/2014/main" id="{505CCB73-6312-4700-90B6-00C04C77DEA1}"/>
              </a:ext>
            </a:extLst>
          </p:cNvPr>
          <p:cNvSpPr>
            <a:spLocks xmlns:a="http://schemas.openxmlformats.org/drawingml/2006/main" noGrp="1"/>
          </p:cNvSpPr>
          <p:nvPr/>
        </p:nvSpPr>
        <p:spPr>
          <a:xfrm xmlns:a="http://schemas.openxmlformats.org/drawingml/2006/main">
            <a:off x="4781550" y="1809750"/>
            <a:ext cx="39433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000000"/>
                </a:solidFill>
                <a:latin typeface="Ubuntu Mono"/>
                <a:ea typeface="Ubuntu Mono"/>
                <a:cs typeface="Ubuntu Mono"/>
              </a:defRPr>
            </a:pPr>
            <a:r>
              <a:rPr sz="1575" b="0">
                <a:solidFill>
                  <a:srgbClr val="000000"/>
                </a:solidFill>
                <a:latin typeface="Ubuntu Mono"/>
                <a:ea typeface="Ubuntu Mono"/>
                <a:cs typeface="Ubuntu Mono"/>
              </a:rPr>
              <a:t>Activation: a researched, saved idea</a:t>
            </a:r>
          </a:p>
          <a:p xmlns:a="http://schemas.openxmlformats.org/drawingml/2006/main">
            <a:r>
              <a:t/>
            </a:r>
          </a:p>
          <a:p xmlns:a="http://schemas.openxmlformats.org/drawingml/2006/main">
            <a:pPr algn="l">
              <a:defRPr sz="1575" b="0">
                <a:solidFill>
                  <a:srgbClr val="000000"/>
                </a:solidFill>
                <a:latin typeface="Ubuntu Mono"/>
                <a:ea typeface="Ubuntu Mono"/>
                <a:cs typeface="Ubuntu Mono"/>
              </a:defRPr>
            </a:pPr>
            <a:r>
              <a:rPr sz="1575" b="0">
                <a:solidFill>
                  <a:srgbClr val="000000"/>
                </a:solidFill>
                <a:latin typeface="Ubuntu Mono"/>
                <a:ea typeface="Ubuntu Mono"/>
                <a:cs typeface="Ubuntu Mono"/>
              </a:rPr>
              <a:t>Week-four research activity</a:t>
            </a:r>
          </a:p>
          <a:p xmlns:a="http://schemas.openxmlformats.org/drawingml/2006/main">
            <a:r>
              <a:t/>
            </a:r>
          </a:p>
          <a:p xmlns:a="http://schemas.openxmlformats.org/drawingml/2006/main">
            <a:pPr algn="l">
              <a:defRPr sz="1575" b="0">
                <a:solidFill>
                  <a:srgbClr val="000000"/>
                </a:solidFill>
                <a:latin typeface="Ubuntu Mono"/>
                <a:ea typeface="Ubuntu Mono"/>
                <a:cs typeface="Ubuntu Mono"/>
              </a:defRPr>
            </a:pPr>
            <a:r>
              <a:rPr sz="1575" b="0">
                <a:solidFill>
                  <a:srgbClr val="000000"/>
                </a:solidFill>
                <a:latin typeface="Ubuntu Mono"/>
                <a:ea typeface="Ubuntu Mono"/>
                <a:cs typeface="Ubuntu Mono"/>
              </a:rPr>
              <a:t>Useful versus irrelevant alerts</a:t>
            </a:r>
          </a:p>
          <a:p xmlns:a="http://schemas.openxmlformats.org/drawingml/2006/main">
            <a:r>
              <a:t/>
            </a:r>
          </a:p>
          <a:p xmlns:a="http://schemas.openxmlformats.org/drawingml/2006/main">
            <a:pPr algn="l">
              <a:defRPr sz="1575" b="0">
                <a:solidFill>
                  <a:srgbClr val="000000"/>
                </a:solidFill>
                <a:latin typeface="Ubuntu Mono"/>
                <a:ea typeface="Ubuntu Mono"/>
                <a:cs typeface="Ubuntu Mono"/>
              </a:defRPr>
            </a:pPr>
            <a:r>
              <a:rPr sz="1575" b="0">
                <a:solidFill>
                  <a:srgbClr val="000000"/>
                </a:solidFill>
                <a:latin typeface="Ubuntu Mono"/>
                <a:ea typeface="Ubuntu Mono"/>
                <a:cs typeface="Ubuntu Mono"/>
              </a:rPr>
              <a:t>Paid continuation in a later trial</a:t>
            </a:r>
          </a:p>
        </p:txBody>
      </p:sp>
      <p:sp>
        <p:nvSpPr>
          <p:cNvPr id="327" name="Thesis 11 No customer traction or paid con">
            <a:extLst xmlns:a="http://schemas.openxmlformats.org/drawingml/2006/main">
              <a:ext uri="{FF2B5EF4-FFF2-40B4-BE49-F238E27FC236}">
                <a16:creationId xmlns:a16="http://schemas.microsoft.com/office/drawing/2014/main" id="{1637000E-C8C0-49DA-A588-97C559FE04AF}"/>
              </a:ext>
            </a:extLst>
          </p:cNvPr>
          <p:cNvSpPr>
            <a:spLocks xmlns:a="http://schemas.openxmlformats.org/drawingml/2006/main" noGrp="1"/>
          </p:cNvSpPr>
          <p:nvPr/>
        </p:nvSpPr>
        <p:spPr>
          <a:xfrm xmlns:a="http://schemas.openxmlformats.org/drawingml/2006/main">
            <a:off x="409575" y="4267200"/>
            <a:ext cx="8267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F51F28"/>
                </a:solidFill>
                <a:latin typeface="Ubuntu Mono"/>
                <a:ea typeface="Ubuntu Mono"/>
                <a:cs typeface="Ubuntu Mono"/>
              </a:defRPr>
            </a:pPr>
            <a:r>
              <a:rPr sz="1200" b="0">
                <a:solidFill>
                  <a:srgbClr val="F51F28"/>
                </a:solidFill>
                <a:latin typeface="Ubuntu Mono"/>
                <a:ea typeface="Ubuntu Mono"/>
                <a:cs typeface="Ubuntu Mono"/>
              </a:rPr>
              <a:t>No customer traction or paid conversion data confirmed. Research quality still needs evaluation.</a:t>
            </a:r>
          </a:p>
        </p:txBody>
      </p:sp>
    </p:spTree>
    <p:extLst>
      <p:ext uri="{BB962C8B-B14F-4D97-AF65-F5344CB8AC3E}">
        <p14:creationId xmlns:p14="http://schemas.microsoft.com/office/powerpoint/2010/main" val="38361133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28" name="Google Shape;328;p36">
            <a:extLst xmlns:a="http://schemas.openxmlformats.org/drawingml/2006/main">
              <a:ext uri="{FF2B5EF4-FFF2-40B4-BE49-F238E27FC236}">
                <a16:creationId xmlns:a16="http://schemas.microsoft.com/office/drawing/2014/main" id="{075FD262-CF63-4972-9EB9-5F570705884B}"/>
              </a:ext>
            </a:extLst>
          </p:cNvPr>
          <p:cNvSpPr>
            <a:spLocks xmlns:a="http://schemas.openxmlformats.org/drawingml/2006/main" noGrp="1"/>
          </p:cNvSpPr>
          <p:nvPr>
            <p:ph type="title" idx="0"/>
          </p:nvPr>
        </p:nvSpPr>
        <p:spPr>
          <a:xfrm xmlns:a="http://schemas.openxmlformats.org/drawingml/2006/main">
            <a:off x="409575" y="371475"/>
            <a:ext cx="8520600" cy="5727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lnSpc>
                <a:spcPct val="115000"/>
              </a:lnSpc>
              <a:spcBef>
                <a:spcPts val="0"/>
              </a:spcBef>
              <a:spcAft>
                <a:spcPts val="0"/>
              </a:spcAft>
              <a:buNone/>
              <a:defRPr sz="2550" b="0">
                <a:solidFill>
                  <a:srgbClr val="000000"/>
                </a:solidFill>
                <a:latin typeface="Work Sans"/>
                <a:ea typeface="Work Sans"/>
                <a:cs typeface="Work Sans"/>
              </a:defRPr>
            </a:pPr>
            <a:r>
              <a:rPr sz="2550" b="0">
                <a:solidFill>
                  <a:srgbClr val="000000"/>
                </a:solidFill>
                <a:latin typeface="Work Sans"/>
                <a:ea typeface="Work Sans"/>
                <a:cs typeface="Work Sans"/>
              </a:rPr>
              <a:t>Competition &amp; positioning</a:t>
            </a:r>
          </a:p>
        </p:txBody>
      </p:sp>
      <p:sp>
        <p:nvSpPr>
          <p:cNvPr id="337" name="Google Shape;337;p36">
            <a:extLst xmlns:a="http://schemas.openxmlformats.org/drawingml/2006/main">
              <a:ext uri="{FF2B5EF4-FFF2-40B4-BE49-F238E27FC236}">
                <a16:creationId xmlns:a16="http://schemas.microsoft.com/office/drawing/2014/main" id="{E1A07DEA-162D-4B4E-A1ED-F12279D71437}"/>
              </a:ext>
            </a:extLst>
          </p:cNvPr>
          <p:cNvSpPr>
            <a:spLocks xmlns:a="http://schemas.openxmlformats.org/drawingml/2006/main" noGrp="1"/>
          </p:cNvSpPr>
          <p:nvPr/>
        </p:nvSpPr>
        <p:spPr>
          <a:xfrm xmlns:a="http://schemas.openxmlformats.org/drawingml/2006/main">
            <a:off x="400050" y="4686300"/>
            <a:ext cx="2952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lnSpc>
                <a:spcPct val="115000"/>
              </a:lnSpc>
              <a:spcBef>
                <a:spcPts val="0"/>
              </a:spcBef>
              <a:spcAft>
                <a:spcPts val="0"/>
              </a:spcAft>
              <a:buNone/>
              <a:defRPr sz="1050" b="0">
                <a:solidFill>
                  <a:srgbClr val="595959"/>
                </a:solidFill>
                <a:latin typeface="Ubuntu Mono"/>
                <a:ea typeface="Ubuntu Mono"/>
                <a:cs typeface="Ubuntu Mono"/>
              </a:defRPr>
            </a:pPr>
            <a:r>
              <a:rPr sz="1050" b="0">
                <a:solidFill>
                  <a:srgbClr val="595959"/>
                </a:solidFill>
                <a:latin typeface="Ubuntu Mono"/>
                <a:ea typeface="Ubuntu Mono"/>
                <a:cs typeface="Ubuntu Mono"/>
              </a:rPr>
              <a:t>Thesis   9 October 2026</a:t>
            </a:r>
          </a:p>
        </p:txBody>
      </p:sp>
      <p:sp>
        <p:nvSpPr>
          <p:cNvPr id="340" name="Google Shape;340;p36">
            <a:extLst xmlns:a="http://schemas.openxmlformats.org/drawingml/2006/main">
              <a:ext uri="{FF2B5EF4-FFF2-40B4-BE49-F238E27FC236}">
                <a16:creationId xmlns:a16="http://schemas.microsoft.com/office/drawing/2014/main" id="{AD9D392E-E6E4-4486-B9C1-1D595C451082}"/>
              </a:ext>
            </a:extLst>
          </p:cNvPr>
          <p:cNvSpPr>
            <a:spLocks xmlns:a="http://schemas.openxmlformats.org/drawingml/2006/main" noGrp="1"/>
          </p:cNvSpPr>
          <p:nvPr>
            <p:ph type="sldNum" idx="12"/>
          </p:nvPr>
        </p:nvSpPr>
        <p:spPr>
          <a:xfrm xmlns:a="http://schemas.openxmlformats.org/drawingml/2006/main">
            <a:off x="8334375" y="4686300"/>
            <a:ext cx="428625" cy="20955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r">
              <a:lnSpc>
                <a:spcPct val="115000"/>
              </a:lnSpc>
              <a:spcBef>
                <a:spcPts val="0"/>
              </a:spcBef>
              <a:spcAft>
                <a:spcPts val="0"/>
              </a:spcAft>
              <a:buNone/>
              <a:defRPr sz="975" b="0">
                <a:solidFill>
                  <a:srgbClr val="595959"/>
                </a:solidFill>
                <a:latin typeface="Ubuntu Mono"/>
                <a:ea typeface="Ubuntu Mono"/>
                <a:cs typeface="Ubuntu Mono"/>
              </a:defRPr>
            </a:pPr>
            <a:r>
              <a:rPr sz="975" b="0">
                <a:solidFill>
                  <a:srgbClr val="595959"/>
                </a:solidFill>
                <a:latin typeface="Ubuntu Mono"/>
                <a:ea typeface="Ubuntu Mono"/>
                <a:cs typeface="Ubuntu Mono"/>
              </a:rPr>
              <a:t>12</a:t>
            </a:r>
          </a:p>
        </p:txBody>
      </p:sp>
      <p:graphicFrame>
        <p:nvGraphicFramePr>
          <p:cNvPr id="346" name=""/>
          <p:cNvGraphicFramePr/>
          <p:nvPr/>
        </p:nvGraphicFramePr>
        <p:xfrm>
          <a:off xmlns:a="http://schemas.openxmlformats.org/drawingml/2006/main" x="409575" y="1200150"/>
          <a:ext xmlns:a="http://schemas.openxmlformats.org/drawingml/2006/main" cx="8324850" cy="2476500"/>
        </p:xfrm>
        <a:graphic xmlns:a="http://schemas.openxmlformats.org/drawingml/2006/main">
          <a:graphicData uri="http://schemas.openxmlformats.org/drawingml/2006/table">
            <a:tbl>
              <a:tblPr firstRow="1" bandRow="0" bandCol="0"/>
              <a:tblGrid>
                <a:gridCol w="1819275"/>
                <a:gridCol w="3209925"/>
                <a:gridCol w="3295650"/>
              </a:tblGrid>
              <a:tr h="619125">
                <a:tc>
                  <a:txBody>
                    <a:bodyPr lIns="114300" tIns="76200" rIns="114300" bIns="76200">
                      <a:noAutofit/>
                    </a:bodyPr>
                    <a:lstStyle/>
                    <a:p>
                      <a:r>
                        <a:rPr sz="1425" b="1">
                          <a:solidFill>
                            <a:srgbClr val="FFFFFF"/>
                          </a:solidFill>
                          <a:latin typeface="Work Sans"/>
                          <a:ea typeface="Work Sans"/>
                          <a:cs typeface="Work Sans"/>
                        </a:rPr>
                        <a:t>Alternative</a:t>
                      </a:r>
                    </a:p>
                  </a:txBody>
                  <a:tcPr marL="91440" marR="91440" marT="45720" marB="45720" anchor="ctr">
                    <a:solidFill>
                      <a:srgbClr val="000000"/>
                    </a:solidFill>
                  </a:tcPr>
                </a:tc>
                <a:tc>
                  <a:txBody>
                    <a:bodyPr lIns="114300" tIns="76200" rIns="114300" bIns="76200">
                      <a:noAutofit/>
                    </a:bodyPr>
                    <a:lstStyle/>
                    <a:p>
                      <a:r>
                        <a:rPr sz="1425" b="1">
                          <a:solidFill>
                            <a:srgbClr val="FFFFFF"/>
                          </a:solidFill>
                          <a:latin typeface="Work Sans"/>
                          <a:ea typeface="Work Sans"/>
                          <a:cs typeface="Work Sans"/>
                        </a:rPr>
                        <a:t>Established focus</a:t>
                      </a:r>
                    </a:p>
                  </a:txBody>
                  <a:tcPr marL="91440" marR="91440" marT="45720" marB="45720" anchor="ctr">
                    <a:solidFill>
                      <a:srgbClr val="000000"/>
                    </a:solidFill>
                  </a:tcPr>
                </a:tc>
                <a:tc>
                  <a:txBody>
                    <a:bodyPr lIns="114300" tIns="76200" rIns="114300" bIns="76200">
                      <a:noAutofit/>
                    </a:bodyPr>
                    <a:lstStyle/>
                    <a:p>
                      <a:r>
                        <a:rPr sz="1425" b="1">
                          <a:solidFill>
                            <a:srgbClr val="FFFFFF"/>
                          </a:solidFill>
                          <a:latin typeface="Work Sans"/>
                          <a:ea typeface="Work Sans"/>
                          <a:cs typeface="Work Sans"/>
                        </a:rPr>
                        <a:t>Thesis focus</a:t>
                      </a:r>
                    </a:p>
                  </a:txBody>
                  <a:tcPr marL="91440" marR="91440" marT="45720" marB="45720" anchor="ctr">
                    <a:solidFill>
                      <a:srgbClr val="000000"/>
                    </a:solidFill>
                  </a:tcPr>
                </a:tc>
              </a:tr>
              <a:tr h="619125">
                <a:tc>
                  <a:txBody>
                    <a:bodyPr lIns="114300" tIns="76200" rIns="114300" bIns="76200">
                      <a:noAutofit/>
                    </a:bodyPr>
                    <a:lstStyle/>
                    <a:p>
                      <a:r>
                        <a:rPr sz="1425" b="0">
                          <a:solidFill>
                            <a:srgbClr val="000000"/>
                          </a:solidFill>
                          <a:latin typeface="Ubuntu Mono"/>
                          <a:ea typeface="Ubuntu Mono"/>
                          <a:cs typeface="Ubuntu Mono"/>
                        </a:rPr>
                        <a:t>Simply Wall St</a:t>
                      </a:r>
                    </a:p>
                  </a:txBody>
                  <a:tcPr marL="91440" marR="91440" marT="45720" marB="45720" anchor="ctr">
                    <a:solidFill>
                      <a:srgbClr val="FFFFFF"/>
                    </a:solidFill>
                  </a:tcPr>
                </a:tc>
                <a:tc>
                  <a:txBody>
                    <a:bodyPr lIns="114300" tIns="76200" rIns="114300" bIns="76200">
                      <a:noAutofit/>
                    </a:bodyPr>
                    <a:lstStyle/>
                    <a:p>
                      <a:r>
                        <a:rPr sz="1425" b="0">
                          <a:solidFill>
                            <a:srgbClr val="000000"/>
                          </a:solidFill>
                          <a:latin typeface="Ubuntu Mono"/>
                          <a:ea typeface="Ubuntu Mono"/>
                          <a:cs typeface="Ubuntu Mono"/>
                        </a:rPr>
                        <a:t>Visual company reports,</a:t>
                      </a:r>
                    </a:p>
                    <a:p>
                      <a:r>
                        <a:rPr sz="1425" b="0">
                          <a:solidFill>
                            <a:srgbClr val="000000"/>
                          </a:solidFill>
                          <a:latin typeface="Ubuntu Mono"/>
                          <a:ea typeface="Ubuntu Mono"/>
                          <a:cs typeface="Ubuntu Mono"/>
                        </a:rPr>
                        <a:t>portfolio tools and alerts</a:t>
                      </a:r>
                    </a:p>
                  </a:txBody>
                  <a:tcPr marL="91440" marR="91440" marT="45720" marB="45720" anchor="ctr">
                    <a:solidFill>
                      <a:srgbClr val="FFFFFF"/>
                    </a:solidFill>
                  </a:tcPr>
                </a:tc>
                <a:tc>
                  <a:txBody>
                    <a:bodyPr lIns="114300" tIns="76200" rIns="114300" bIns="76200">
                      <a:noAutofit/>
                    </a:bodyPr>
                    <a:lstStyle/>
                    <a:p>
                      <a:r>
                        <a:rPr sz="1425" b="0">
                          <a:solidFill>
                            <a:srgbClr val="000000"/>
                          </a:solidFill>
                          <a:latin typeface="Ubuntu Mono"/>
                          <a:ea typeface="Ubuntu Mono"/>
                          <a:cs typeface="Ubuntu Mono"/>
                        </a:rPr>
                        <a:t>Private reasoning linked to</a:t>
                      </a:r>
                    </a:p>
                    <a:p>
                      <a:r>
                        <a:rPr sz="1425" b="0">
                          <a:solidFill>
                            <a:srgbClr val="000000"/>
                          </a:solidFill>
                          <a:latin typeface="Ubuntu Mono"/>
                          <a:ea typeface="Ubuntu Mono"/>
                          <a:cs typeface="Ubuntu Mono"/>
                        </a:rPr>
                        <a:t>conditions and evidence</a:t>
                      </a:r>
                    </a:p>
                  </a:txBody>
                  <a:tcPr marL="91440" marR="91440" marT="45720" marB="45720" anchor="ctr">
                    <a:solidFill>
                      <a:srgbClr val="FFFFFF"/>
                    </a:solidFill>
                  </a:tcPr>
                </a:tc>
              </a:tr>
              <a:tr h="619125">
                <a:tc>
                  <a:txBody>
                    <a:bodyPr lIns="114300" tIns="76200" rIns="114300" bIns="76200">
                      <a:noAutofit/>
                    </a:bodyPr>
                    <a:lstStyle/>
                    <a:p>
                      <a:r>
                        <a:rPr sz="1425" b="0">
                          <a:solidFill>
                            <a:srgbClr val="000000"/>
                          </a:solidFill>
                          <a:latin typeface="Ubuntu Mono"/>
                          <a:ea typeface="Ubuntu Mono"/>
                          <a:cs typeface="Ubuntu Mono"/>
                        </a:rPr>
                        <a:t>TradingView</a:t>
                      </a:r>
                    </a:p>
                  </a:txBody>
                  <a:tcPr marL="91440" marR="91440" marT="45720" marB="45720" anchor="ctr">
                    <a:solidFill>
                      <a:srgbClr val="F3F3F3"/>
                    </a:solidFill>
                  </a:tcPr>
                </a:tc>
                <a:tc>
                  <a:txBody>
                    <a:bodyPr lIns="114300" tIns="76200" rIns="114300" bIns="76200">
                      <a:noAutofit/>
                    </a:bodyPr>
                    <a:lstStyle/>
                    <a:p>
                      <a:r>
                        <a:rPr sz="1425" b="0">
                          <a:solidFill>
                            <a:srgbClr val="000000"/>
                          </a:solidFill>
                          <a:latin typeface="Ubuntu Mono"/>
                          <a:ea typeface="Ubuntu Mono"/>
                          <a:cs typeface="Ubuntu Mono"/>
                        </a:rPr>
                        <a:t>Charts, market analysis</a:t>
                      </a:r>
                    </a:p>
                    <a:p>
                      <a:r>
                        <a:rPr sz="1425" b="0">
                          <a:solidFill>
                            <a:srgbClr val="000000"/>
                          </a:solidFill>
                          <a:latin typeface="Ubuntu Mono"/>
                          <a:ea typeface="Ubuntu Mono"/>
                          <a:cs typeface="Ubuntu Mono"/>
                        </a:rPr>
                        <a:t>and configurable alerts</a:t>
                      </a:r>
                    </a:p>
                  </a:txBody>
                  <a:tcPr marL="91440" marR="91440" marT="45720" marB="45720" anchor="ctr">
                    <a:solidFill>
                      <a:srgbClr val="F3F3F3"/>
                    </a:solidFill>
                  </a:tcPr>
                </a:tc>
                <a:tc>
                  <a:txBody>
                    <a:bodyPr lIns="114300" tIns="76200" rIns="114300" bIns="76200">
                      <a:noAutofit/>
                    </a:bodyPr>
                    <a:lstStyle/>
                    <a:p>
                      <a:r>
                        <a:rPr sz="1425" b="0">
                          <a:solidFill>
                            <a:srgbClr val="000000"/>
                          </a:solidFill>
                          <a:latin typeface="Ubuntu Mono"/>
                          <a:ea typeface="Ubuntu Mono"/>
                          <a:cs typeface="Ubuntu Mono"/>
                        </a:rPr>
                        <a:t>A guided company research</a:t>
                      </a:r>
                    </a:p>
                    <a:p>
                      <a:r>
                        <a:rPr sz="1425" b="0">
                          <a:solidFill>
                            <a:srgbClr val="000000"/>
                          </a:solidFill>
                          <a:latin typeface="Ubuntu Mono"/>
                          <a:ea typeface="Ubuntu Mono"/>
                          <a:cs typeface="Ubuntu Mono"/>
                        </a:rPr>
                        <a:t>and review workflow</a:t>
                      </a:r>
                    </a:p>
                  </a:txBody>
                  <a:tcPr marL="91440" marR="91440" marT="45720" marB="45720" anchor="ctr">
                    <a:solidFill>
                      <a:srgbClr val="F3F3F3"/>
                    </a:solidFill>
                  </a:tcPr>
                </a:tc>
              </a:tr>
              <a:tr h="619125">
                <a:tc>
                  <a:txBody>
                    <a:bodyPr lIns="114300" tIns="76200" rIns="114300" bIns="76200">
                      <a:noAutofit/>
                    </a:bodyPr>
                    <a:lstStyle/>
                    <a:p>
                      <a:r>
                        <a:rPr sz="1425" b="0">
                          <a:solidFill>
                            <a:srgbClr val="000000"/>
                          </a:solidFill>
                          <a:latin typeface="Ubuntu Mono"/>
                          <a:ea typeface="Ubuntu Mono"/>
                          <a:cs typeface="Ubuntu Mono"/>
                        </a:rPr>
                        <a:t>Notes &amp; spreadsheets</a:t>
                      </a:r>
                    </a:p>
                  </a:txBody>
                  <a:tcPr marL="91440" marR="91440" marT="45720" marB="45720" anchor="ctr">
                    <a:solidFill>
                      <a:srgbClr val="FFFFFF"/>
                    </a:solidFill>
                  </a:tcPr>
                </a:tc>
                <a:tc>
                  <a:txBody>
                    <a:bodyPr lIns="114300" tIns="76200" rIns="114300" bIns="76200">
                      <a:noAutofit/>
                    </a:bodyPr>
                    <a:lstStyle/>
                    <a:p>
                      <a:r>
                        <a:rPr sz="1425" b="0">
                          <a:solidFill>
                            <a:srgbClr val="000000"/>
                          </a:solidFill>
                          <a:latin typeface="Ubuntu Mono"/>
                          <a:ea typeface="Ubuntu Mono"/>
                          <a:cs typeface="Ubuntu Mono"/>
                        </a:rPr>
                        <a:t>A flexible way to record</a:t>
                      </a:r>
                    </a:p>
                    <a:p>
                      <a:r>
                        <a:rPr sz="1425" b="0">
                          <a:solidFill>
                            <a:srgbClr val="000000"/>
                          </a:solidFill>
                          <a:latin typeface="Ubuntu Mono"/>
                          <a:ea typeface="Ubuntu Mono"/>
                          <a:cs typeface="Ubuntu Mono"/>
                        </a:rPr>
                        <a:t>a personal investment view</a:t>
                      </a:r>
                    </a:p>
                  </a:txBody>
                  <a:tcPr marL="91440" marR="91440" marT="45720" marB="45720" anchor="ctr">
                    <a:solidFill>
                      <a:srgbClr val="FFFFFF"/>
                    </a:solidFill>
                  </a:tcPr>
                </a:tc>
                <a:tc>
                  <a:txBody>
                    <a:bodyPr lIns="114300" tIns="76200" rIns="114300" bIns="76200">
                      <a:noAutofit/>
                    </a:bodyPr>
                    <a:lstStyle/>
                    <a:p>
                      <a:r>
                        <a:rPr sz="1425" b="0">
                          <a:solidFill>
                            <a:srgbClr val="000000"/>
                          </a:solidFill>
                          <a:latin typeface="Ubuntu Mono"/>
                          <a:ea typeface="Ubuntu Mono"/>
                          <a:cs typeface="Ubuntu Mono"/>
                        </a:rPr>
                        <a:t>Saved evidence and updates</a:t>
                      </a:r>
                    </a:p>
                    <a:p>
                      <a:r>
                        <a:rPr sz="1425" b="0">
                          <a:solidFill>
                            <a:srgbClr val="000000"/>
                          </a:solidFill>
                          <a:latin typeface="Ubuntu Mono"/>
                          <a:ea typeface="Ubuntu Mono"/>
                          <a:cs typeface="Ubuntu Mono"/>
                        </a:rPr>
                        <a:t>alongside the original idea</a:t>
                      </a:r>
                    </a:p>
                  </a:txBody>
                  <a:tcPr marL="91440" marR="91440" marT="45720" marB="45720" anchor="ctr">
                    <a:solidFill>
                      <a:srgbClr val="FFFFFF"/>
                    </a:solidFill>
                  </a:tcPr>
                </a:tc>
              </a:tr>
            </a:tbl>
          </a:graphicData>
        </a:graphic>
      </p:graphicFrame>
      <p:sp>
        <p:nvSpPr>
          <p:cNvPr id="342" name="Thesis 12 Our proposed advantage is contin">
            <a:extLst xmlns:a="http://schemas.openxmlformats.org/drawingml/2006/main">
              <a:ext uri="{FF2B5EF4-FFF2-40B4-BE49-F238E27FC236}">
                <a16:creationId xmlns:a16="http://schemas.microsoft.com/office/drawing/2014/main" id="{8D0056EE-388E-4D29-B163-473B4B67EE87}"/>
              </a:ext>
            </a:extLst>
          </p:cNvPr>
          <p:cNvSpPr>
            <a:spLocks xmlns:a="http://schemas.openxmlformats.org/drawingml/2006/main" noGrp="1"/>
          </p:cNvSpPr>
          <p:nvPr/>
        </p:nvSpPr>
        <p:spPr>
          <a:xfrm xmlns:a="http://schemas.openxmlformats.org/drawingml/2006/main">
            <a:off x="409575" y="3905250"/>
            <a:ext cx="82581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F51F28"/>
                </a:solidFill>
                <a:latin typeface="Ubuntu Mono"/>
                <a:ea typeface="Ubuntu Mono"/>
                <a:cs typeface="Ubuntu Mono"/>
              </a:defRPr>
            </a:pPr>
            <a:r>
              <a:rPr sz="1575" b="0">
                <a:solidFill>
                  <a:srgbClr val="F51F28"/>
                </a:solidFill>
                <a:latin typeface="Ubuntu Mono"/>
                <a:ea typeface="Ubuntu Mono"/>
                <a:cs typeface="Ubuntu Mono"/>
              </a:rPr>
              <a:t>Our proposed advantage is continuity around a personal thesis.</a:t>
            </a:r>
          </a:p>
          <a:p xmlns:a="http://schemas.openxmlformats.org/drawingml/2006/main">
            <a:pPr algn="l">
              <a:defRPr sz="1575" b="0">
                <a:solidFill>
                  <a:srgbClr val="F51F28"/>
                </a:solidFill>
                <a:latin typeface="Ubuntu Mono"/>
                <a:ea typeface="Ubuntu Mono"/>
                <a:cs typeface="Ubuntu Mono"/>
              </a:defRPr>
            </a:pPr>
            <a:r>
              <a:rPr sz="1575" b="0">
                <a:solidFill>
                  <a:srgbClr val="F51F28"/>
                </a:solidFill>
                <a:latin typeface="Ubuntu Mono"/>
                <a:ea typeface="Ubuntu Mono"/>
                <a:cs typeface="Ubuntu Mono"/>
              </a:rPr>
              <a:t>We still need users to show that this makes research more useful.</a:t>
            </a:r>
          </a:p>
        </p:txBody>
      </p:sp>
    </p:spTree>
    <p:extLst>
      <p:ext uri="{BB962C8B-B14F-4D97-AF65-F5344CB8AC3E}">
        <p14:creationId xmlns:p14="http://schemas.microsoft.com/office/powerpoint/2010/main" val="76496031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45" name="Google Shape;345;p37">
            <a:extLst xmlns:a="http://schemas.openxmlformats.org/drawingml/2006/main">
              <a:ext uri="{FF2B5EF4-FFF2-40B4-BE49-F238E27FC236}">
                <a16:creationId xmlns:a16="http://schemas.microsoft.com/office/drawing/2014/main" id="{EEC2E801-DCAD-4814-BC66-013671B70826}"/>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lnSpc>
                <a:spcPct val="115000"/>
              </a:lnSpc>
              <a:spcBef>
                <a:spcPts val="0"/>
              </a:spcBef>
              <a:spcAft>
                <a:spcPts val="0"/>
              </a:spcAft>
              <a:buNone/>
              <a:defRPr sz="2550" b="0">
                <a:solidFill>
                  <a:srgbClr val="000000"/>
                </a:solidFill>
                <a:latin typeface="Work Sans"/>
                <a:ea typeface="Work Sans"/>
                <a:cs typeface="Work Sans"/>
              </a:defRPr>
            </a:pPr>
            <a:r>
              <a:rPr sz="2550" b="0">
                <a:solidFill>
                  <a:srgbClr val="000000"/>
                </a:solidFill>
                <a:latin typeface="Work Sans"/>
                <a:ea typeface="Work Sans"/>
                <a:cs typeface="Work Sans"/>
              </a:rPr>
              <a:t>Go to market: a focused campus pilot</a:t>
            </a:r>
          </a:p>
        </p:txBody>
      </p:sp>
      <p:sp>
        <p:nvSpPr>
          <p:cNvPr id="346" name="Google Shape;346;p37">
            <a:extLst xmlns:a="http://schemas.openxmlformats.org/drawingml/2006/main">
              <a:ext uri="{FF2B5EF4-FFF2-40B4-BE49-F238E27FC236}">
                <a16:creationId xmlns:a16="http://schemas.microsoft.com/office/drawing/2014/main" id="{E4A2ADF2-382E-434C-ABAE-591ECD7A117B}"/>
              </a:ext>
            </a:extLst>
          </p:cNvPr>
          <p:cNvSpPr>
            <a:spLocks xmlns:a="http://schemas.openxmlformats.org/drawingml/2006/main" noGrp="1"/>
          </p:cNvSpPr>
          <p:nvPr>
            <p:ph type="body" idx="1"/>
          </p:nvPr>
        </p:nvSpPr>
        <p:spPr>
          <a:xfrm xmlns:a="http://schemas.openxmlformats.org/drawingml/2006/main">
            <a:off x="409575" y="1276350"/>
            <a:ext cx="8229600" cy="295275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nSpc>
                <a:spcPct val="115000"/>
              </a:lnSpc>
              <a:spcBef>
                <a:spcPts val="0"/>
              </a:spcBef>
              <a:spcAft>
                <a:spcPts val="0"/>
              </a:spcAft>
              <a:buNone/>
            </a:pPr>
            <a:r>
              <a:rPr sz="1650" b="0">
                <a:solidFill>
                  <a:srgbClr val="000000"/>
                </a:solidFill>
                <a:latin typeface="Ubuntu Mono"/>
                <a:ea typeface="Ubuntu Mono"/>
                <a:cs typeface="Ubuntu Mono"/>
              </a:rPr>
              <a:t/>
            </a:r>
          </a:p>
        </p:txBody>
      </p:sp>
      <p:sp>
        <p:nvSpPr>
          <p:cNvPr id="347" name="Google Shape;347;p37">
            <a:extLst xmlns:a="http://schemas.openxmlformats.org/drawingml/2006/main">
              <a:ext uri="{FF2B5EF4-FFF2-40B4-BE49-F238E27FC236}">
                <a16:creationId xmlns:a16="http://schemas.microsoft.com/office/drawing/2014/main" id="{2E5B7CC1-8925-47B1-930E-6FE5570774D5}"/>
              </a:ext>
            </a:extLst>
          </p:cNvPr>
          <p:cNvSpPr>
            <a:spLocks xmlns:a="http://schemas.openxmlformats.org/drawingml/2006/main" noGrp="1"/>
          </p:cNvSpPr>
          <p:nvPr/>
        </p:nvSpPr>
        <p:spPr>
          <a:xfrm xmlns:a="http://schemas.openxmlformats.org/drawingml/2006/main">
            <a:off x="400050" y="4686300"/>
            <a:ext cx="2952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lnSpc>
                <a:spcPct val="115000"/>
              </a:lnSpc>
              <a:spcBef>
                <a:spcPts val="0"/>
              </a:spcBef>
              <a:spcAft>
                <a:spcPts val="0"/>
              </a:spcAft>
              <a:buNone/>
              <a:defRPr sz="1050" b="0">
                <a:solidFill>
                  <a:srgbClr val="595959"/>
                </a:solidFill>
                <a:latin typeface="Ubuntu Mono"/>
                <a:ea typeface="Ubuntu Mono"/>
                <a:cs typeface="Ubuntu Mono"/>
              </a:defRPr>
            </a:pPr>
            <a:r>
              <a:rPr sz="1050" b="0">
                <a:solidFill>
                  <a:srgbClr val="595959"/>
                </a:solidFill>
                <a:latin typeface="Ubuntu Mono"/>
                <a:ea typeface="Ubuntu Mono"/>
                <a:cs typeface="Ubuntu Mono"/>
              </a:rPr>
              <a:t>Thesis   9 October 2026</a:t>
            </a:r>
          </a:p>
        </p:txBody>
      </p:sp>
      <p:sp>
        <p:nvSpPr>
          <p:cNvPr id="350" name="Google Shape;350;p37">
            <a:extLst xmlns:a="http://schemas.openxmlformats.org/drawingml/2006/main">
              <a:ext uri="{FF2B5EF4-FFF2-40B4-BE49-F238E27FC236}">
                <a16:creationId xmlns:a16="http://schemas.microsoft.com/office/drawing/2014/main" id="{5D9AF7B5-B9B7-49F9-AF25-B57D537D97A4}"/>
              </a:ext>
            </a:extLst>
          </p:cNvPr>
          <p:cNvSpPr>
            <a:spLocks xmlns:a="http://schemas.openxmlformats.org/drawingml/2006/main" noGrp="1"/>
          </p:cNvSpPr>
          <p:nvPr>
            <p:ph type="sldNum" idx="12"/>
          </p:nvPr>
        </p:nvSpPr>
        <p:spPr>
          <a:xfrm xmlns:a="http://schemas.openxmlformats.org/drawingml/2006/main">
            <a:off x="8334375" y="4686300"/>
            <a:ext cx="428625" cy="20955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r">
              <a:lnSpc>
                <a:spcPct val="115000"/>
              </a:lnSpc>
              <a:spcBef>
                <a:spcPts val="0"/>
              </a:spcBef>
              <a:spcAft>
                <a:spcPts val="0"/>
              </a:spcAft>
              <a:buNone/>
              <a:defRPr sz="975" b="0">
                <a:solidFill>
                  <a:srgbClr val="595959"/>
                </a:solidFill>
                <a:latin typeface="Ubuntu Mono"/>
                <a:ea typeface="Ubuntu Mono"/>
                <a:cs typeface="Ubuntu Mono"/>
              </a:defRPr>
            </a:pPr>
            <a:r>
              <a:rPr sz="975" b="0">
                <a:solidFill>
                  <a:srgbClr val="595959"/>
                </a:solidFill>
                <a:latin typeface="Ubuntu Mono"/>
                <a:ea typeface="Ubuntu Mono"/>
                <a:cs typeface="Ubuntu Mono"/>
              </a:rPr>
              <a:t>13</a:t>
            </a:r>
          </a:p>
        </p:txBody>
      </p:sp>
      <p:sp>
        <p:nvSpPr>
          <p:cNvPr id="351" name="Thesis 13 Recruit around a real research t">
            <a:extLst xmlns:a="http://schemas.openxmlformats.org/drawingml/2006/main">
              <a:ext uri="{FF2B5EF4-FFF2-40B4-BE49-F238E27FC236}">
                <a16:creationId xmlns:a16="http://schemas.microsoft.com/office/drawing/2014/main" id="{9C66200D-341A-4BF4-84A3-3044DCA298BF}"/>
              </a:ext>
            </a:extLst>
          </p:cNvPr>
          <p:cNvSpPr>
            <a:spLocks xmlns:a="http://schemas.openxmlformats.org/drawingml/2006/main" noGrp="1"/>
          </p:cNvSpPr>
          <p:nvPr/>
        </p:nvSpPr>
        <p:spPr>
          <a:xfrm xmlns:a="http://schemas.openxmlformats.org/drawingml/2006/main">
            <a:off x="409575" y="1276350"/>
            <a:ext cx="822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00000"/>
                </a:solidFill>
                <a:latin typeface="Work Sans"/>
                <a:ea typeface="Work Sans"/>
                <a:cs typeface="Work Sans"/>
              </a:defRPr>
            </a:pPr>
            <a:r>
              <a:rPr sz="1725" b="1">
                <a:solidFill>
                  <a:srgbClr val="000000"/>
                </a:solidFill>
                <a:latin typeface="Work Sans"/>
                <a:ea typeface="Work Sans"/>
                <a:cs typeface="Work Sans"/>
              </a:rPr>
              <a:t>Recruit around a real research task</a:t>
            </a:r>
          </a:p>
        </p:txBody>
      </p:sp>
      <p:sp>
        <p:nvSpPr>
          <p:cNvPr id="352" name="Thesis 13 Demonstrate one company idea thr">
            <a:extLst xmlns:a="http://schemas.openxmlformats.org/drawingml/2006/main">
              <a:ext uri="{FF2B5EF4-FFF2-40B4-BE49-F238E27FC236}">
                <a16:creationId xmlns:a16="http://schemas.microsoft.com/office/drawing/2014/main" id="{B75726CB-A50C-43E3-BE65-4A93FFEDFD67}"/>
              </a:ext>
            </a:extLst>
          </p:cNvPr>
          <p:cNvSpPr>
            <a:spLocks xmlns:a="http://schemas.openxmlformats.org/drawingml/2006/main" noGrp="1"/>
          </p:cNvSpPr>
          <p:nvPr/>
        </p:nvSpPr>
        <p:spPr>
          <a:xfrm xmlns:a="http://schemas.openxmlformats.org/drawingml/2006/main">
            <a:off x="409575" y="1571625"/>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95959"/>
                </a:solidFill>
                <a:latin typeface="Ubuntu Mono"/>
                <a:ea typeface="Ubuntu Mono"/>
                <a:cs typeface="Ubuntu Mono"/>
              </a:defRPr>
            </a:pPr>
            <a:r>
              <a:rPr sz="1500" b="0">
                <a:solidFill>
                  <a:srgbClr val="595959"/>
                </a:solidFill>
                <a:latin typeface="Ubuntu Mono"/>
                <a:ea typeface="Ubuntu Mono"/>
                <a:cs typeface="Ubuntu Mono"/>
              </a:rPr>
              <a:t>Demonstrate one company idea through campus networks and investing clubs.</a:t>
            </a:r>
          </a:p>
        </p:txBody>
      </p:sp>
      <p:sp>
        <p:nvSpPr>
          <p:cNvPr id="353" name="Thesis 13 Run a proposed four-week cohort">
            <a:extLst xmlns:a="http://schemas.openxmlformats.org/drawingml/2006/main">
              <a:ext uri="{FF2B5EF4-FFF2-40B4-BE49-F238E27FC236}">
                <a16:creationId xmlns:a16="http://schemas.microsoft.com/office/drawing/2014/main" id="{E814C67E-A14D-4ADD-9D3F-3B6B0BA967FE}"/>
              </a:ext>
            </a:extLst>
          </p:cNvPr>
          <p:cNvSpPr>
            <a:spLocks xmlns:a="http://schemas.openxmlformats.org/drawingml/2006/main" noGrp="1"/>
          </p:cNvSpPr>
          <p:nvPr/>
        </p:nvSpPr>
        <p:spPr>
          <a:xfrm xmlns:a="http://schemas.openxmlformats.org/drawingml/2006/main">
            <a:off x="409575" y="1990725"/>
            <a:ext cx="822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00000"/>
                </a:solidFill>
                <a:latin typeface="Work Sans"/>
                <a:ea typeface="Work Sans"/>
                <a:cs typeface="Work Sans"/>
              </a:defRPr>
            </a:pPr>
            <a:r>
              <a:rPr sz="1725" b="1">
                <a:solidFill>
                  <a:srgbClr val="000000"/>
                </a:solidFill>
                <a:latin typeface="Work Sans"/>
                <a:ea typeface="Work Sans"/>
                <a:cs typeface="Work Sans"/>
              </a:rPr>
              <a:t>Run a proposed four-week cohort</a:t>
            </a:r>
          </a:p>
        </p:txBody>
      </p:sp>
      <p:sp>
        <p:nvSpPr>
          <p:cNvPr id="354" name="Thesis 13 Invite 20–30 students, including">
            <a:extLst xmlns:a="http://schemas.openxmlformats.org/drawingml/2006/main">
              <a:ext uri="{FF2B5EF4-FFF2-40B4-BE49-F238E27FC236}">
                <a16:creationId xmlns:a16="http://schemas.microsoft.com/office/drawing/2014/main" id="{6BFBE277-356D-4FAC-B1CC-994F2E35153E}"/>
              </a:ext>
            </a:extLst>
          </p:cNvPr>
          <p:cNvSpPr>
            <a:spLocks xmlns:a="http://schemas.openxmlformats.org/drawingml/2006/main" noGrp="1"/>
          </p:cNvSpPr>
          <p:nvPr/>
        </p:nvSpPr>
        <p:spPr>
          <a:xfrm xmlns:a="http://schemas.openxmlformats.org/drawingml/2006/main">
            <a:off x="409575" y="2286000"/>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95959"/>
                </a:solidFill>
                <a:latin typeface="Ubuntu Mono"/>
                <a:ea typeface="Ubuntu Mono"/>
                <a:cs typeface="Ubuntu Mono"/>
              </a:defRPr>
            </a:pPr>
            <a:r>
              <a:rPr sz="1500" b="0">
                <a:solidFill>
                  <a:srgbClr val="595959"/>
                </a:solidFill>
                <a:latin typeface="Ubuntu Mono"/>
                <a:ea typeface="Ubuntu Mono"/>
                <a:cs typeface="Ubuntu Mono"/>
              </a:rPr>
              <a:t>Invite 20–30 students, including people who do not know the team.</a:t>
            </a:r>
          </a:p>
        </p:txBody>
      </p:sp>
      <p:sp>
        <p:nvSpPr>
          <p:cNvPr id="355" name="Thesis 13 Observe the full research loop">
            <a:extLst xmlns:a="http://schemas.openxmlformats.org/drawingml/2006/main">
              <a:ext uri="{FF2B5EF4-FFF2-40B4-BE49-F238E27FC236}">
                <a16:creationId xmlns:a16="http://schemas.microsoft.com/office/drawing/2014/main" id="{974C4505-8D2D-4427-A59A-EB9045A62828}"/>
              </a:ext>
            </a:extLst>
          </p:cNvPr>
          <p:cNvSpPr>
            <a:spLocks xmlns:a="http://schemas.openxmlformats.org/drawingml/2006/main" noGrp="1"/>
          </p:cNvSpPr>
          <p:nvPr/>
        </p:nvSpPr>
        <p:spPr>
          <a:xfrm xmlns:a="http://schemas.openxmlformats.org/drawingml/2006/main">
            <a:off x="409575" y="2705100"/>
            <a:ext cx="822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00000"/>
                </a:solidFill>
                <a:latin typeface="Work Sans"/>
                <a:ea typeface="Work Sans"/>
                <a:cs typeface="Work Sans"/>
              </a:defRPr>
            </a:pPr>
            <a:r>
              <a:rPr sz="1725" b="1">
                <a:solidFill>
                  <a:srgbClr val="000000"/>
                </a:solidFill>
                <a:latin typeface="Work Sans"/>
                <a:ea typeface="Work Sans"/>
                <a:cs typeface="Work Sans"/>
              </a:rPr>
              <a:t>Observe the full research loop</a:t>
            </a:r>
          </a:p>
        </p:txBody>
      </p:sp>
      <p:sp>
        <p:nvSpPr>
          <p:cNvPr id="356" name="Thesis 13 Track source comprehension, save">
            <a:extLst xmlns:a="http://schemas.openxmlformats.org/drawingml/2006/main">
              <a:ext uri="{FF2B5EF4-FFF2-40B4-BE49-F238E27FC236}">
                <a16:creationId xmlns:a16="http://schemas.microsoft.com/office/drawing/2014/main" id="{A98D62A7-4A02-4B9B-97F9-86A62A11E863}"/>
              </a:ext>
            </a:extLst>
          </p:cNvPr>
          <p:cNvSpPr>
            <a:spLocks xmlns:a="http://schemas.openxmlformats.org/drawingml/2006/main" noGrp="1"/>
          </p:cNvSpPr>
          <p:nvPr/>
        </p:nvSpPr>
        <p:spPr>
          <a:xfrm xmlns:a="http://schemas.openxmlformats.org/drawingml/2006/main">
            <a:off x="409575" y="3000375"/>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95959"/>
                </a:solidFill>
                <a:latin typeface="Ubuntu Mono"/>
                <a:ea typeface="Ubuntu Mono"/>
                <a:cs typeface="Ubuntu Mono"/>
              </a:defRPr>
            </a:pPr>
            <a:r>
              <a:rPr sz="1500" b="0">
                <a:solidFill>
                  <a:srgbClr val="595959"/>
                </a:solidFill>
                <a:latin typeface="Ubuntu Mono"/>
                <a:ea typeface="Ubuntu Mono"/>
                <a:cs typeface="Ubuntu Mono"/>
              </a:rPr>
              <a:t>Track source comprehension, saved ideas, return visits and useful updates.</a:t>
            </a:r>
          </a:p>
        </p:txBody>
      </p:sp>
      <p:sp>
        <p:nvSpPr>
          <p:cNvPr id="357" name="Thesis 13 Expand only after repeat value">
            <a:extLst xmlns:a="http://schemas.openxmlformats.org/drawingml/2006/main">
              <a:ext uri="{FF2B5EF4-FFF2-40B4-BE49-F238E27FC236}">
                <a16:creationId xmlns:a16="http://schemas.microsoft.com/office/drawing/2014/main" id="{904D85DF-B90F-42B7-A1A5-4ECA438EA832}"/>
              </a:ext>
            </a:extLst>
          </p:cNvPr>
          <p:cNvSpPr>
            <a:spLocks xmlns:a="http://schemas.openxmlformats.org/drawingml/2006/main" noGrp="1"/>
          </p:cNvSpPr>
          <p:nvPr/>
        </p:nvSpPr>
        <p:spPr>
          <a:xfrm xmlns:a="http://schemas.openxmlformats.org/drawingml/2006/main">
            <a:off x="409575" y="3419475"/>
            <a:ext cx="822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00000"/>
                </a:solidFill>
                <a:latin typeface="Work Sans"/>
                <a:ea typeface="Work Sans"/>
                <a:cs typeface="Work Sans"/>
              </a:defRPr>
            </a:pPr>
            <a:r>
              <a:rPr sz="1725" b="1">
                <a:solidFill>
                  <a:srgbClr val="000000"/>
                </a:solidFill>
                <a:latin typeface="Work Sans"/>
                <a:ea typeface="Work Sans"/>
                <a:cs typeface="Work Sans"/>
              </a:rPr>
              <a:t>Expand only after repeat value</a:t>
            </a:r>
          </a:p>
        </p:txBody>
      </p:sp>
      <p:sp>
        <p:nvSpPr>
          <p:cNvPr id="358" name="Thesis 13 Improve the workflow, then test ">
            <a:extLst xmlns:a="http://schemas.openxmlformats.org/drawingml/2006/main">
              <a:ext uri="{FF2B5EF4-FFF2-40B4-BE49-F238E27FC236}">
                <a16:creationId xmlns:a16="http://schemas.microsoft.com/office/drawing/2014/main" id="{685401D9-63C2-493D-877F-A3EC8BFAE339}"/>
              </a:ext>
            </a:extLst>
          </p:cNvPr>
          <p:cNvSpPr>
            <a:spLocks xmlns:a="http://schemas.openxmlformats.org/drawingml/2006/main" noGrp="1"/>
          </p:cNvSpPr>
          <p:nvPr/>
        </p:nvSpPr>
        <p:spPr>
          <a:xfrm xmlns:a="http://schemas.openxmlformats.org/drawingml/2006/main">
            <a:off x="409575" y="3714750"/>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95959"/>
                </a:solidFill>
                <a:latin typeface="Ubuntu Mono"/>
                <a:ea typeface="Ubuntu Mono"/>
                <a:cs typeface="Ubuntu Mono"/>
              </a:defRPr>
            </a:pPr>
            <a:r>
              <a:rPr sz="1500" b="0">
                <a:solidFill>
                  <a:srgbClr val="595959"/>
                </a:solidFill>
                <a:latin typeface="Ubuntu Mono"/>
                <a:ea typeface="Ubuntu Mono"/>
                <a:cs typeface="Ubuntu Mono"/>
              </a:rPr>
              <a:t>Improve the workflow, then test a defined paid offer and referrals.</a:t>
            </a:r>
          </a:p>
        </p:txBody>
      </p:sp>
    </p:spTree>
    <p:extLst>
      <p:ext uri="{BB962C8B-B14F-4D97-AF65-F5344CB8AC3E}">
        <p14:creationId xmlns:p14="http://schemas.microsoft.com/office/powerpoint/2010/main" val="1244841698"/>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355" name="Google Shape;355;p38">
            <a:extLst xmlns:a="http://schemas.openxmlformats.org/drawingml/2006/main">
              <a:ext uri="{FF2B5EF4-FFF2-40B4-BE49-F238E27FC236}">
                <a16:creationId xmlns:a16="http://schemas.microsoft.com/office/drawing/2014/main" id="{4409D75F-F220-4D6A-A58B-70CA5C300B7A}"/>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lnSpc>
                <a:spcPct val="115000"/>
              </a:lnSpc>
              <a:spcBef>
                <a:spcPts val="0"/>
              </a:spcBef>
              <a:spcAft>
                <a:spcPts val="0"/>
              </a:spcAft>
              <a:buNone/>
              <a:defRPr sz="2550" b="0">
                <a:solidFill>
                  <a:srgbClr val="000000"/>
                </a:solidFill>
                <a:latin typeface="Work Sans"/>
                <a:ea typeface="Work Sans"/>
                <a:cs typeface="Work Sans"/>
              </a:defRPr>
            </a:pPr>
            <a:r>
              <a:rPr sz="2550" b="0">
                <a:solidFill>
                  <a:srgbClr val="000000"/>
                </a:solidFill>
                <a:latin typeface="Work Sans"/>
                <a:ea typeface="Work Sans"/>
                <a:cs typeface="Work Sans"/>
              </a:rPr>
              <a:t>Roadmap: evidence before expansion</a:t>
            </a:r>
          </a:p>
        </p:txBody>
      </p:sp>
      <p:sp>
        <p:nvSpPr>
          <p:cNvPr id="356" name="Google Shape;356;p38">
            <a:extLst xmlns:a="http://schemas.openxmlformats.org/drawingml/2006/main">
              <a:ext uri="{FF2B5EF4-FFF2-40B4-BE49-F238E27FC236}">
                <a16:creationId xmlns:a16="http://schemas.microsoft.com/office/drawing/2014/main" id="{9CDB14E5-732E-4E97-98E6-8B98618F8D8F}"/>
              </a:ext>
            </a:extLst>
          </p:cNvPr>
          <p:cNvSpPr>
            <a:spLocks xmlns:a="http://schemas.openxmlformats.org/drawingml/2006/main" noGrp="1"/>
          </p:cNvSpPr>
          <p:nvPr>
            <p:ph type="body" idx="1"/>
          </p:nvPr>
        </p:nvSpPr>
        <p:spPr>
          <a:xfrm xmlns:a="http://schemas.openxmlformats.org/drawingml/2006/main">
            <a:off x="409575" y="1190625"/>
            <a:ext cx="8305800" cy="85725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lnSpc>
                <a:spcPct val="115000"/>
              </a:lnSpc>
              <a:spcBef>
                <a:spcPts val="0"/>
              </a:spcBef>
              <a:spcAft>
                <a:spcPts val="0"/>
              </a:spcAft>
              <a:buNone/>
              <a:defRPr sz="1650" b="0">
                <a:solidFill>
                  <a:srgbClr val="000000"/>
                </a:solidFill>
                <a:latin typeface="Ubuntu Mono"/>
                <a:ea typeface="Ubuntu Mono"/>
                <a:cs typeface="Ubuntu Mono"/>
              </a:defRPr>
            </a:pPr>
            <a:r>
              <a:rPr sz="1650" b="0">
                <a:solidFill>
                  <a:srgbClr val="000000"/>
                </a:solidFill>
                <a:latin typeface="Ubuntu Mono"/>
                <a:ea typeface="Ubuntu Mono"/>
                <a:cs typeface="Ubuntu Mono"/>
              </a:rPr>
              <a:t>A proposed sequence after pilot preparation.</a:t>
            </a:r>
          </a:p>
          <a:p xmlns:a="http://schemas.openxmlformats.org/drawingml/2006/main">
            <a:pPr marL="0" indent="0" algn="l">
              <a:lnSpc>
                <a:spcPct val="115000"/>
              </a:lnSpc>
              <a:spcBef>
                <a:spcPts val="0"/>
              </a:spcBef>
              <a:spcAft>
                <a:spcPts val="0"/>
              </a:spcAft>
              <a:buNone/>
              <a:defRPr sz="1650" b="0">
                <a:solidFill>
                  <a:srgbClr val="000000"/>
                </a:solidFill>
                <a:latin typeface="Ubuntu Mono"/>
                <a:ea typeface="Ubuntu Mono"/>
                <a:cs typeface="Ubuntu Mono"/>
              </a:defRPr>
            </a:pPr>
            <a:r>
              <a:rPr sz="1650" b="0">
                <a:solidFill>
                  <a:srgbClr val="000000"/>
                </a:solidFill>
                <a:latin typeface="Ubuntu Mono"/>
                <a:ea typeface="Ubuntu Mono"/>
                <a:cs typeface="Ubuntu Mono"/>
              </a:rPr>
              <a:t>Later stages depend on user results and launch readiness.</a:t>
            </a:r>
          </a:p>
        </p:txBody>
      </p:sp>
      <p:cxnSp>
        <p:nvCxnSpPr>
          <p:cNvPr id="377" name="Google Shape;357;p38"/>
          <p:cNvCxnSpPr/>
          <p:nvPr/>
        </p:nvCxnSpPr>
        <p:spPr>
          <a:xfrm xmlns:a="http://schemas.openxmlformats.org/drawingml/2006/main">
            <a:off x="409575" y="3314700"/>
            <a:ext cx="8315325" cy="0"/>
          </a:xfrm>
          <a:prstGeom xmlns:a="http://schemas.openxmlformats.org/drawingml/2006/main" prst="straightConnector1">
            <a:avLst/>
          </a:prstGeom>
          <a:ln xmlns:a="http://schemas.openxmlformats.org/drawingml/2006/main" w="28575" cap="flat">
            <a:solidFill>
              <a:srgbClr val="D31E1E"/>
            </a:solidFill>
            <a:prstDash val="solid"/>
            <a:round/>
            <a:headEnd type="none" w="med" len="med"/>
            <a:tailEnd type="none" w="med" len="med"/>
          </a:ln>
        </p:spPr>
      </p:cxnSp>
      <p:cxnSp>
        <p:nvCxnSpPr>
          <p:cNvPr id="378" name="Google Shape;358;p38"/>
          <p:cNvCxnSpPr/>
          <p:nvPr/>
        </p:nvCxnSpPr>
        <p:spPr>
          <a:xfrm xmlns:a="http://schemas.openxmlformats.org/drawingml/2006/main">
            <a:off x="838200" y="3028950"/>
            <a:ext cx="0" cy="352425"/>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cxnSp>
        <p:nvCxnSpPr>
          <p:cNvPr id="379" name="Google Shape;359;p38"/>
          <p:cNvCxnSpPr/>
          <p:nvPr/>
        </p:nvCxnSpPr>
        <p:spPr>
          <a:xfrm xmlns:a="http://schemas.openxmlformats.org/drawingml/2006/main">
            <a:off x="2295525" y="3314700"/>
            <a:ext cx="0" cy="352425"/>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cxnSp>
        <p:nvCxnSpPr>
          <p:cNvPr id="380" name="Google Shape;360;p38"/>
          <p:cNvCxnSpPr/>
          <p:nvPr/>
        </p:nvCxnSpPr>
        <p:spPr>
          <a:xfrm xmlns:a="http://schemas.openxmlformats.org/drawingml/2006/main">
            <a:off x="3752850" y="3028950"/>
            <a:ext cx="0" cy="352425"/>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cxnSp>
        <p:nvCxnSpPr>
          <p:cNvPr id="381" name="Google Shape;362;p38"/>
          <p:cNvCxnSpPr/>
          <p:nvPr/>
        </p:nvCxnSpPr>
        <p:spPr>
          <a:xfrm xmlns:a="http://schemas.openxmlformats.org/drawingml/2006/main">
            <a:off x="5210175" y="3314700"/>
            <a:ext cx="0" cy="352425"/>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cxnSp>
        <p:nvCxnSpPr>
          <p:cNvPr id="382" name="Google Shape;363;p38"/>
          <p:cNvCxnSpPr/>
          <p:nvPr/>
        </p:nvCxnSpPr>
        <p:spPr>
          <a:xfrm xmlns:a="http://schemas.openxmlformats.org/drawingml/2006/main">
            <a:off x="6667500" y="3028950"/>
            <a:ext cx="0" cy="352425"/>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cxnSp>
        <p:nvCxnSpPr>
          <p:cNvPr id="383" name="Google Shape;364;p38"/>
          <p:cNvCxnSpPr/>
          <p:nvPr/>
        </p:nvCxnSpPr>
        <p:spPr>
          <a:xfrm xmlns:a="http://schemas.openxmlformats.org/drawingml/2006/main">
            <a:off x="8124825" y="3314700"/>
            <a:ext cx="0" cy="352425"/>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365" name="Google Shape;365;p38">
            <a:extLst xmlns:a="http://schemas.openxmlformats.org/drawingml/2006/main">
              <a:ext uri="{FF2B5EF4-FFF2-40B4-BE49-F238E27FC236}">
                <a16:creationId xmlns:a16="http://schemas.microsoft.com/office/drawing/2014/main" id="{086F09A0-B1A3-42F7-9457-0B432F1277EA}"/>
              </a:ext>
            </a:extLst>
          </p:cNvPr>
          <p:cNvSpPr>
            <a:spLocks xmlns:a="http://schemas.openxmlformats.org/drawingml/2006/main" noGrp="1"/>
          </p:cNvSpPr>
          <p:nvPr/>
        </p:nvSpPr>
        <p:spPr>
          <a:xfrm xmlns:a="http://schemas.openxmlformats.org/drawingml/2006/main">
            <a:off x="190500" y="2447925"/>
            <a:ext cx="1295400" cy="600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ctr">
              <a:lnSpc>
                <a:spcPct val="115000"/>
              </a:lnSpc>
              <a:spcBef>
                <a:spcPts val="0"/>
              </a:spcBef>
              <a:spcAft>
                <a:spcPts val="0"/>
              </a:spcAft>
              <a:buNone/>
              <a:defRPr sz="1350" b="0">
                <a:solidFill>
                  <a:srgbClr val="000000"/>
                </a:solidFill>
                <a:latin typeface="Ubuntu Mono"/>
                <a:ea typeface="Ubuntu Mono"/>
                <a:cs typeface="Ubuntu Mono"/>
              </a:defRPr>
            </a:pPr>
            <a:r>
              <a:rPr sz="1350" b="0">
                <a:solidFill>
                  <a:srgbClr val="000000"/>
                </a:solidFill>
                <a:latin typeface="Ubuntu Mono"/>
                <a:ea typeface="Ubuntu Mono"/>
                <a:cs typeface="Ubuntu Mono"/>
              </a:rPr>
              <a:t>Now</a:t>
            </a:r>
          </a:p>
          <a:p xmlns:a="http://schemas.openxmlformats.org/drawingml/2006/main">
            <a:pPr marL="0" indent="0" algn="ctr">
              <a:lnSpc>
                <a:spcPct val="115000"/>
              </a:lnSpc>
              <a:spcBef>
                <a:spcPts val="0"/>
              </a:spcBef>
              <a:spcAft>
                <a:spcPts val="0"/>
              </a:spcAft>
              <a:buNone/>
              <a:defRPr sz="1350" b="0">
                <a:solidFill>
                  <a:srgbClr val="000000"/>
                </a:solidFill>
                <a:latin typeface="Ubuntu Mono"/>
                <a:ea typeface="Ubuntu Mono"/>
                <a:cs typeface="Ubuntu Mono"/>
              </a:defRPr>
            </a:pPr>
            <a:r>
              <a:rPr sz="1350" b="0">
                <a:solidFill>
                  <a:srgbClr val="000000"/>
                </a:solidFill>
                <a:latin typeface="Ubuntu Mono"/>
                <a:ea typeface="Ubuntu Mono"/>
                <a:cs typeface="Ubuntu Mono"/>
              </a:rPr>
              <a:t>Local MVP</a:t>
            </a:r>
          </a:p>
        </p:txBody>
      </p:sp>
      <p:sp>
        <p:nvSpPr>
          <p:cNvPr id="366" name="Google Shape;366;p38">
            <a:extLst xmlns:a="http://schemas.openxmlformats.org/drawingml/2006/main">
              <a:ext uri="{FF2B5EF4-FFF2-40B4-BE49-F238E27FC236}">
                <a16:creationId xmlns:a16="http://schemas.microsoft.com/office/drawing/2014/main" id="{2B8051F6-22BE-42AB-8DDA-2DB02EA09ADC}"/>
              </a:ext>
            </a:extLst>
          </p:cNvPr>
          <p:cNvSpPr>
            <a:spLocks xmlns:a="http://schemas.openxmlformats.org/drawingml/2006/main" noGrp="1"/>
          </p:cNvSpPr>
          <p:nvPr/>
        </p:nvSpPr>
        <p:spPr>
          <a:xfrm xmlns:a="http://schemas.openxmlformats.org/drawingml/2006/main">
            <a:off x="1647825" y="3743325"/>
            <a:ext cx="1295400" cy="600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ctr">
              <a:lnSpc>
                <a:spcPct val="115000"/>
              </a:lnSpc>
              <a:spcBef>
                <a:spcPts val="0"/>
              </a:spcBef>
              <a:spcAft>
                <a:spcPts val="0"/>
              </a:spcAft>
              <a:buNone/>
              <a:defRPr sz="1350" b="0">
                <a:solidFill>
                  <a:srgbClr val="F51F28"/>
                </a:solidFill>
                <a:latin typeface="Ubuntu Mono"/>
                <a:ea typeface="Ubuntu Mono"/>
                <a:cs typeface="Ubuntu Mono"/>
              </a:defRPr>
            </a:pPr>
            <a:r>
              <a:rPr sz="1350" b="0">
                <a:solidFill>
                  <a:srgbClr val="F51F28"/>
                </a:solidFill>
                <a:latin typeface="Ubuntu Mono"/>
                <a:ea typeface="Ubuntu Mono"/>
                <a:cs typeface="Ubuntu Mono"/>
              </a:rPr>
              <a:t>Next</a:t>
            </a:r>
          </a:p>
          <a:p xmlns:a="http://schemas.openxmlformats.org/drawingml/2006/main">
            <a:pPr marL="0" indent="0" algn="ctr">
              <a:lnSpc>
                <a:spcPct val="115000"/>
              </a:lnSpc>
              <a:spcBef>
                <a:spcPts val="0"/>
              </a:spcBef>
              <a:spcAft>
                <a:spcPts val="0"/>
              </a:spcAft>
              <a:buNone/>
              <a:defRPr sz="1350" b="0">
                <a:solidFill>
                  <a:srgbClr val="F51F28"/>
                </a:solidFill>
                <a:latin typeface="Ubuntu Mono"/>
                <a:ea typeface="Ubuntu Mono"/>
                <a:cs typeface="Ubuntu Mono"/>
              </a:defRPr>
            </a:pPr>
            <a:r>
              <a:rPr sz="1350" b="0">
                <a:solidFill>
                  <a:srgbClr val="F51F28"/>
                </a:solidFill>
                <a:latin typeface="Ubuntu Mono"/>
                <a:ea typeface="Ubuntu Mono"/>
                <a:cs typeface="Ubuntu Mono"/>
              </a:rPr>
              <a:t>Quality review</a:t>
            </a:r>
          </a:p>
        </p:txBody>
      </p:sp>
      <p:sp>
        <p:nvSpPr>
          <p:cNvPr id="367" name="Google Shape;367;p38">
            <a:extLst xmlns:a="http://schemas.openxmlformats.org/drawingml/2006/main">
              <a:ext uri="{FF2B5EF4-FFF2-40B4-BE49-F238E27FC236}">
                <a16:creationId xmlns:a16="http://schemas.microsoft.com/office/drawing/2014/main" id="{F34CE60F-4059-4905-B2CD-66BA3D42208F}"/>
              </a:ext>
            </a:extLst>
          </p:cNvPr>
          <p:cNvSpPr>
            <a:spLocks xmlns:a="http://schemas.openxmlformats.org/drawingml/2006/main" noGrp="1"/>
          </p:cNvSpPr>
          <p:nvPr/>
        </p:nvSpPr>
        <p:spPr>
          <a:xfrm xmlns:a="http://schemas.openxmlformats.org/drawingml/2006/main">
            <a:off x="3105150" y="2447925"/>
            <a:ext cx="1295400" cy="600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ctr">
              <a:lnSpc>
                <a:spcPct val="115000"/>
              </a:lnSpc>
              <a:spcBef>
                <a:spcPts val="0"/>
              </a:spcBef>
              <a:spcAft>
                <a:spcPts val="0"/>
              </a:spcAft>
              <a:buNone/>
              <a:defRPr sz="1350" b="0">
                <a:solidFill>
                  <a:srgbClr val="F51F28"/>
                </a:solidFill>
                <a:latin typeface="Ubuntu Mono"/>
                <a:ea typeface="Ubuntu Mono"/>
                <a:cs typeface="Ubuntu Mono"/>
              </a:defRPr>
            </a:pPr>
            <a:r>
              <a:rPr sz="1350" b="0">
                <a:solidFill>
                  <a:srgbClr val="F51F28"/>
                </a:solidFill>
                <a:latin typeface="Ubuntu Mono"/>
                <a:ea typeface="Ubuntu Mono"/>
                <a:cs typeface="Ubuntu Mono"/>
              </a:rPr>
              <a:t>Pilot</a:t>
            </a:r>
          </a:p>
          <a:p xmlns:a="http://schemas.openxmlformats.org/drawingml/2006/main">
            <a:pPr marL="0" indent="0" algn="ctr">
              <a:lnSpc>
                <a:spcPct val="115000"/>
              </a:lnSpc>
              <a:spcBef>
                <a:spcPts val="0"/>
              </a:spcBef>
              <a:spcAft>
                <a:spcPts val="0"/>
              </a:spcAft>
              <a:buNone/>
              <a:defRPr sz="1350" b="0">
                <a:solidFill>
                  <a:srgbClr val="F51F28"/>
                </a:solidFill>
                <a:latin typeface="Ubuntu Mono"/>
                <a:ea typeface="Ubuntu Mono"/>
                <a:cs typeface="Ubuntu Mono"/>
              </a:defRPr>
            </a:pPr>
            <a:r>
              <a:rPr sz="1350" b="0">
                <a:solidFill>
                  <a:srgbClr val="F51F28"/>
                </a:solidFill>
                <a:latin typeface="Ubuntu Mono"/>
                <a:ea typeface="Ubuntu Mono"/>
                <a:cs typeface="Ubuntu Mono"/>
              </a:rPr>
              <a:t>Four weeks</a:t>
            </a:r>
          </a:p>
        </p:txBody>
      </p:sp>
      <p:sp>
        <p:nvSpPr>
          <p:cNvPr id="368" name="Google Shape;368;p38">
            <a:extLst xmlns:a="http://schemas.openxmlformats.org/drawingml/2006/main">
              <a:ext uri="{FF2B5EF4-FFF2-40B4-BE49-F238E27FC236}">
                <a16:creationId xmlns:a16="http://schemas.microsoft.com/office/drawing/2014/main" id="{75A66B08-F963-44ED-9754-16AF567F6ABE}"/>
              </a:ext>
            </a:extLst>
          </p:cNvPr>
          <p:cNvSpPr>
            <a:spLocks xmlns:a="http://schemas.openxmlformats.org/drawingml/2006/main" noGrp="1"/>
          </p:cNvSpPr>
          <p:nvPr/>
        </p:nvSpPr>
        <p:spPr>
          <a:xfrm xmlns:a="http://schemas.openxmlformats.org/drawingml/2006/main">
            <a:off x="4562475" y="3743325"/>
            <a:ext cx="1295400" cy="600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ctr">
              <a:lnSpc>
                <a:spcPct val="115000"/>
              </a:lnSpc>
              <a:spcBef>
                <a:spcPts val="0"/>
              </a:spcBef>
              <a:spcAft>
                <a:spcPts val="0"/>
              </a:spcAft>
              <a:buNone/>
              <a:defRPr sz="1350" b="0">
                <a:solidFill>
                  <a:srgbClr val="F51F28"/>
                </a:solidFill>
                <a:latin typeface="Ubuntu Mono"/>
                <a:ea typeface="Ubuntu Mono"/>
                <a:cs typeface="Ubuntu Mono"/>
              </a:defRPr>
            </a:pPr>
            <a:r>
              <a:rPr sz="1350" b="0">
                <a:solidFill>
                  <a:srgbClr val="F51F28"/>
                </a:solidFill>
                <a:latin typeface="Ubuntu Mono"/>
                <a:ea typeface="Ubuntu Mono"/>
                <a:cs typeface="Ubuntu Mono"/>
              </a:rPr>
              <a:t>Then</a:t>
            </a:r>
          </a:p>
          <a:p xmlns:a="http://schemas.openxmlformats.org/drawingml/2006/main">
            <a:pPr marL="0" indent="0" algn="ctr">
              <a:lnSpc>
                <a:spcPct val="115000"/>
              </a:lnSpc>
              <a:spcBef>
                <a:spcPts val="0"/>
              </a:spcBef>
              <a:spcAft>
                <a:spcPts val="0"/>
              </a:spcAft>
              <a:buNone/>
              <a:defRPr sz="1350" b="0">
                <a:solidFill>
                  <a:srgbClr val="F51F28"/>
                </a:solidFill>
                <a:latin typeface="Ubuntu Mono"/>
                <a:ea typeface="Ubuntu Mono"/>
                <a:cs typeface="Ubuntu Mono"/>
              </a:defRPr>
            </a:pPr>
            <a:r>
              <a:rPr sz="1350" b="0">
                <a:solidFill>
                  <a:srgbClr val="F51F28"/>
                </a:solidFill>
                <a:latin typeface="Ubuntu Mono"/>
                <a:ea typeface="Ubuntu Mono"/>
                <a:cs typeface="Ubuntu Mono"/>
              </a:rPr>
              <a:t>Paid trial</a:t>
            </a:r>
          </a:p>
        </p:txBody>
      </p:sp>
      <p:sp>
        <p:nvSpPr>
          <p:cNvPr id="369" name="Google Shape;369;p38">
            <a:extLst xmlns:a="http://schemas.openxmlformats.org/drawingml/2006/main">
              <a:ext uri="{FF2B5EF4-FFF2-40B4-BE49-F238E27FC236}">
                <a16:creationId xmlns:a16="http://schemas.microsoft.com/office/drawing/2014/main" id="{CD4A149B-0C7B-455E-9867-5F3B8F3EA097}"/>
              </a:ext>
            </a:extLst>
          </p:cNvPr>
          <p:cNvSpPr>
            <a:spLocks xmlns:a="http://schemas.openxmlformats.org/drawingml/2006/main" noGrp="1"/>
          </p:cNvSpPr>
          <p:nvPr/>
        </p:nvSpPr>
        <p:spPr>
          <a:xfrm xmlns:a="http://schemas.openxmlformats.org/drawingml/2006/main">
            <a:off x="6019800" y="2447925"/>
            <a:ext cx="1295400" cy="600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ctr">
              <a:lnSpc>
                <a:spcPct val="115000"/>
              </a:lnSpc>
              <a:spcBef>
                <a:spcPts val="0"/>
              </a:spcBef>
              <a:spcAft>
                <a:spcPts val="0"/>
              </a:spcAft>
              <a:buNone/>
              <a:defRPr sz="1350" b="0">
                <a:solidFill>
                  <a:srgbClr val="F51F28"/>
                </a:solidFill>
                <a:latin typeface="Ubuntu Mono"/>
                <a:ea typeface="Ubuntu Mono"/>
                <a:cs typeface="Ubuntu Mono"/>
              </a:defRPr>
            </a:pPr>
            <a:r>
              <a:rPr sz="1350" b="0">
                <a:solidFill>
                  <a:srgbClr val="F51F28"/>
                </a:solidFill>
                <a:latin typeface="Ubuntu Mono"/>
                <a:ea typeface="Ubuntu Mono"/>
                <a:cs typeface="Ubuntu Mono"/>
              </a:rPr>
              <a:t>Later</a:t>
            </a:r>
          </a:p>
          <a:p xmlns:a="http://schemas.openxmlformats.org/drawingml/2006/main">
            <a:pPr marL="0" indent="0" algn="ctr">
              <a:lnSpc>
                <a:spcPct val="115000"/>
              </a:lnSpc>
              <a:spcBef>
                <a:spcPts val="0"/>
              </a:spcBef>
              <a:spcAft>
                <a:spcPts val="0"/>
              </a:spcAft>
              <a:buNone/>
              <a:defRPr sz="1350" b="0">
                <a:solidFill>
                  <a:srgbClr val="F51F28"/>
                </a:solidFill>
                <a:latin typeface="Ubuntu Mono"/>
                <a:ea typeface="Ubuntu Mono"/>
                <a:cs typeface="Ubuntu Mono"/>
              </a:defRPr>
            </a:pPr>
            <a:r>
              <a:rPr sz="1350" b="0">
                <a:solidFill>
                  <a:srgbClr val="F51F28"/>
                </a:solidFill>
                <a:latin typeface="Ubuntu Mono"/>
                <a:ea typeface="Ubuntu Mono"/>
                <a:cs typeface="Ubuntu Mono"/>
              </a:rPr>
              <a:t>Hosted beta</a:t>
            </a:r>
          </a:p>
        </p:txBody>
      </p:sp>
      <p:sp>
        <p:nvSpPr>
          <p:cNvPr id="370" name="Google Shape;370;p38">
            <a:extLst xmlns:a="http://schemas.openxmlformats.org/drawingml/2006/main">
              <a:ext uri="{FF2B5EF4-FFF2-40B4-BE49-F238E27FC236}">
                <a16:creationId xmlns:a16="http://schemas.microsoft.com/office/drawing/2014/main" id="{4B19A881-7C9A-4DEC-BE95-1E0BC70E7E1B}"/>
              </a:ext>
            </a:extLst>
          </p:cNvPr>
          <p:cNvSpPr>
            <a:spLocks xmlns:a="http://schemas.openxmlformats.org/drawingml/2006/main" noGrp="1"/>
          </p:cNvSpPr>
          <p:nvPr/>
        </p:nvSpPr>
        <p:spPr>
          <a:xfrm xmlns:a="http://schemas.openxmlformats.org/drawingml/2006/main">
            <a:off x="7477125" y="3743325"/>
            <a:ext cx="1295400" cy="600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ctr">
              <a:lnSpc>
                <a:spcPct val="115000"/>
              </a:lnSpc>
              <a:spcBef>
                <a:spcPts val="0"/>
              </a:spcBef>
              <a:spcAft>
                <a:spcPts val="0"/>
              </a:spcAft>
              <a:buNone/>
              <a:defRPr sz="1350" b="0">
                <a:solidFill>
                  <a:srgbClr val="F51F28"/>
                </a:solidFill>
                <a:latin typeface="Ubuntu Mono"/>
                <a:ea typeface="Ubuntu Mono"/>
                <a:cs typeface="Ubuntu Mono"/>
              </a:defRPr>
            </a:pPr>
            <a:r>
              <a:rPr sz="1350" b="0">
                <a:solidFill>
                  <a:srgbClr val="F51F28"/>
                </a:solidFill>
                <a:latin typeface="Ubuntu Mono"/>
                <a:ea typeface="Ubuntu Mono"/>
                <a:cs typeface="Ubuntu Mono"/>
              </a:rPr>
              <a:t>If validated</a:t>
            </a:r>
          </a:p>
          <a:p xmlns:a="http://schemas.openxmlformats.org/drawingml/2006/main">
            <a:pPr marL="0" indent="0" algn="ctr">
              <a:lnSpc>
                <a:spcPct val="115000"/>
              </a:lnSpc>
              <a:spcBef>
                <a:spcPts val="0"/>
              </a:spcBef>
              <a:spcAft>
                <a:spcPts val="0"/>
              </a:spcAft>
              <a:buNone/>
              <a:defRPr sz="1350" b="0">
                <a:solidFill>
                  <a:srgbClr val="F51F28"/>
                </a:solidFill>
                <a:latin typeface="Ubuntu Mono"/>
                <a:ea typeface="Ubuntu Mono"/>
                <a:cs typeface="Ubuntu Mono"/>
              </a:defRPr>
            </a:pPr>
            <a:r>
              <a:rPr sz="1350" b="0">
                <a:solidFill>
                  <a:srgbClr val="F51F28"/>
                </a:solidFill>
                <a:latin typeface="Ubuntu Mono"/>
                <a:ea typeface="Ubuntu Mono"/>
                <a:cs typeface="Ubuntu Mono"/>
              </a:rPr>
              <a:t>Campus growth</a:t>
            </a:r>
          </a:p>
        </p:txBody>
      </p:sp>
      <p:sp>
        <p:nvSpPr>
          <p:cNvPr id="371" name="Google Shape;371;p38">
            <a:extLst xmlns:a="http://schemas.openxmlformats.org/drawingml/2006/main">
              <a:ext uri="{FF2B5EF4-FFF2-40B4-BE49-F238E27FC236}">
                <a16:creationId xmlns:a16="http://schemas.microsoft.com/office/drawing/2014/main" id="{A9704948-58A2-4E34-8E8B-1C8A87CDF887}"/>
              </a:ext>
            </a:extLst>
          </p:cNvPr>
          <p:cNvSpPr>
            <a:spLocks xmlns:a="http://schemas.openxmlformats.org/drawingml/2006/main" noGrp="1"/>
          </p:cNvSpPr>
          <p:nvPr/>
        </p:nvSpPr>
        <p:spPr>
          <a:xfrm xmlns:a="http://schemas.openxmlformats.org/drawingml/2006/main">
            <a:off x="400050" y="4686300"/>
            <a:ext cx="2952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lnSpc>
                <a:spcPct val="115000"/>
              </a:lnSpc>
              <a:spcBef>
                <a:spcPts val="0"/>
              </a:spcBef>
              <a:spcAft>
                <a:spcPts val="0"/>
              </a:spcAft>
              <a:buNone/>
              <a:defRPr sz="1050" b="0">
                <a:solidFill>
                  <a:srgbClr val="595959"/>
                </a:solidFill>
                <a:latin typeface="Ubuntu Mono"/>
                <a:ea typeface="Ubuntu Mono"/>
                <a:cs typeface="Ubuntu Mono"/>
              </a:defRPr>
            </a:pPr>
            <a:r>
              <a:rPr sz="1050" b="0">
                <a:solidFill>
                  <a:srgbClr val="595959"/>
                </a:solidFill>
                <a:latin typeface="Ubuntu Mono"/>
                <a:ea typeface="Ubuntu Mono"/>
                <a:cs typeface="Ubuntu Mono"/>
              </a:rPr>
              <a:t>Thesis   9 October 2026</a:t>
            </a:r>
          </a:p>
        </p:txBody>
      </p:sp>
      <p:sp>
        <p:nvSpPr>
          <p:cNvPr id="374" name="Google Shape;374;p38">
            <a:extLst xmlns:a="http://schemas.openxmlformats.org/drawingml/2006/main">
              <a:ext uri="{FF2B5EF4-FFF2-40B4-BE49-F238E27FC236}">
                <a16:creationId xmlns:a16="http://schemas.microsoft.com/office/drawing/2014/main" id="{F7753EFA-7049-4CC4-B593-F896862AF9EF}"/>
              </a:ext>
            </a:extLst>
          </p:cNvPr>
          <p:cNvSpPr>
            <a:spLocks xmlns:a="http://schemas.openxmlformats.org/drawingml/2006/main" noGrp="1"/>
          </p:cNvSpPr>
          <p:nvPr>
            <p:ph type="sldNum" idx="12"/>
          </p:nvPr>
        </p:nvSpPr>
        <p:spPr>
          <a:xfrm xmlns:a="http://schemas.openxmlformats.org/drawingml/2006/main">
            <a:off x="8334375" y="4686300"/>
            <a:ext cx="428625" cy="20955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r">
              <a:lnSpc>
                <a:spcPct val="115000"/>
              </a:lnSpc>
              <a:spcBef>
                <a:spcPts val="0"/>
              </a:spcBef>
              <a:spcAft>
                <a:spcPts val="0"/>
              </a:spcAft>
              <a:buNone/>
              <a:defRPr sz="975" b="0">
                <a:solidFill>
                  <a:srgbClr val="595959"/>
                </a:solidFill>
                <a:latin typeface="Ubuntu Mono"/>
                <a:ea typeface="Ubuntu Mono"/>
                <a:cs typeface="Ubuntu Mono"/>
              </a:defRPr>
            </a:pPr>
            <a:r>
              <a:rPr sz="975" b="0">
                <a:solidFill>
                  <a:srgbClr val="595959"/>
                </a:solidFill>
                <a:latin typeface="Ubuntu Mono"/>
                <a:ea typeface="Ubuntu Mono"/>
                <a:cs typeface="Ubuntu Mono"/>
              </a:rPr>
              <a:t>14</a:t>
            </a:r>
          </a:p>
        </p:txBody>
      </p:sp>
    </p:spTree>
    <p:extLst>
      <p:ext uri="{BB962C8B-B14F-4D97-AF65-F5344CB8AC3E}">
        <p14:creationId xmlns:p14="http://schemas.microsoft.com/office/powerpoint/2010/main" val="148804697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379" name="Google Shape;379;p39">
            <a:extLst xmlns:a="http://schemas.openxmlformats.org/drawingml/2006/main">
              <a:ext uri="{FF2B5EF4-FFF2-40B4-BE49-F238E27FC236}">
                <a16:creationId xmlns:a16="http://schemas.microsoft.com/office/drawing/2014/main" id="{82008DEF-3D29-4ED9-9A43-1BFFDED78DCB}"/>
              </a:ext>
            </a:extLst>
          </p:cNvPr>
          <p:cNvSpPr>
            <a:spLocks xmlns:a="http://schemas.openxmlformats.org/drawingml/2006/main" noGrp="1"/>
          </p:cNvSpPr>
          <p:nvPr>
            <p:ph type="title" idx="0"/>
          </p:nvPr>
        </p:nvSpPr>
        <p:spPr>
          <a:xfrm xmlns:a="http://schemas.openxmlformats.org/drawingml/2006/main">
            <a:off x="409575" y="342900"/>
            <a:ext cx="8286750" cy="4572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lnSpc>
                <a:spcPct val="115000"/>
              </a:lnSpc>
              <a:spcBef>
                <a:spcPts val="0"/>
              </a:spcBef>
              <a:spcAft>
                <a:spcPts val="0"/>
              </a:spcAft>
              <a:buNone/>
              <a:defRPr sz="2400" b="0">
                <a:solidFill>
                  <a:srgbClr val="000000"/>
                </a:solidFill>
                <a:latin typeface="Work Sans"/>
                <a:ea typeface="Work Sans"/>
                <a:cs typeface="Work Sans"/>
              </a:defRPr>
            </a:pPr>
            <a:r>
              <a:rPr sz="2400" b="0">
                <a:solidFill>
                  <a:srgbClr val="000000"/>
                </a:solidFill>
                <a:latin typeface="Work Sans"/>
                <a:ea typeface="Work Sans"/>
                <a:cs typeface="Work Sans"/>
              </a:rPr>
              <a:t>Financials: revenue sensitivity</a:t>
            </a:r>
          </a:p>
        </p:txBody>
      </p:sp>
      <p:sp>
        <p:nvSpPr>
          <p:cNvPr id="381" name="Google Shape;381;p39">
            <a:extLst xmlns:a="http://schemas.openxmlformats.org/drawingml/2006/main">
              <a:ext uri="{FF2B5EF4-FFF2-40B4-BE49-F238E27FC236}">
                <a16:creationId xmlns:a16="http://schemas.microsoft.com/office/drawing/2014/main" id="{51B13450-0B49-4103-80B1-D7F06B41D3CB}"/>
              </a:ext>
            </a:extLst>
          </p:cNvPr>
          <p:cNvSpPr>
            <a:spLocks xmlns:a="http://schemas.openxmlformats.org/drawingml/2006/main" noGrp="1"/>
          </p:cNvSpPr>
          <p:nvPr/>
        </p:nvSpPr>
        <p:spPr>
          <a:xfrm xmlns:a="http://schemas.openxmlformats.org/drawingml/2006/main">
            <a:off x="409575" y="914400"/>
            <a:ext cx="8315325" cy="295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lnSpc>
                <a:spcPct val="115000"/>
              </a:lnSpc>
              <a:spcBef>
                <a:spcPts val="0"/>
              </a:spcBef>
              <a:spcAft>
                <a:spcPts val="0"/>
              </a:spcAft>
              <a:buNone/>
              <a:defRPr sz="1500" b="0">
                <a:solidFill>
                  <a:srgbClr val="000000"/>
                </a:solidFill>
                <a:latin typeface="Ubuntu Mono"/>
                <a:ea typeface="Ubuntu Mono"/>
                <a:cs typeface="Ubuntu Mono"/>
              </a:defRPr>
            </a:pPr>
            <a:r>
              <a:rPr sz="1500" b="0">
                <a:solidFill>
                  <a:srgbClr val="000000"/>
                </a:solidFill>
                <a:latin typeface="Ubuntu Mono"/>
                <a:ea typeface="Ubuntu Mono"/>
                <a:cs typeface="Ubuntu Mono"/>
              </a:rPr>
              <a:t>Illustrative monthly subscription revenue in SGD</a:t>
            </a:r>
          </a:p>
        </p:txBody>
      </p:sp>
      <p:sp>
        <p:nvSpPr>
          <p:cNvPr id="382" name="Google Shape;382;p39">
            <a:extLst xmlns:a="http://schemas.openxmlformats.org/drawingml/2006/main">
              <a:ext uri="{FF2B5EF4-FFF2-40B4-BE49-F238E27FC236}">
                <a16:creationId xmlns:a16="http://schemas.microsoft.com/office/drawing/2014/main" id="{A63C23D8-819A-4B9A-9312-0937169E6B09}"/>
              </a:ext>
            </a:extLst>
          </p:cNvPr>
          <p:cNvSpPr>
            <a:spLocks xmlns:a="http://schemas.openxmlformats.org/drawingml/2006/main" noGrp="1"/>
          </p:cNvSpPr>
          <p:nvPr/>
        </p:nvSpPr>
        <p:spPr>
          <a:xfrm xmlns:a="http://schemas.openxmlformats.org/drawingml/2006/main">
            <a:off x="400050" y="4686300"/>
            <a:ext cx="2952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lnSpc>
                <a:spcPct val="115000"/>
              </a:lnSpc>
              <a:spcBef>
                <a:spcPts val="0"/>
              </a:spcBef>
              <a:spcAft>
                <a:spcPts val="0"/>
              </a:spcAft>
              <a:buNone/>
              <a:defRPr sz="1050" b="0">
                <a:solidFill>
                  <a:srgbClr val="595959"/>
                </a:solidFill>
                <a:latin typeface="Ubuntu Mono"/>
                <a:ea typeface="Ubuntu Mono"/>
                <a:cs typeface="Ubuntu Mono"/>
              </a:defRPr>
            </a:pPr>
            <a:r>
              <a:rPr sz="1050" b="0">
                <a:solidFill>
                  <a:srgbClr val="595959"/>
                </a:solidFill>
                <a:latin typeface="Ubuntu Mono"/>
                <a:ea typeface="Ubuntu Mono"/>
                <a:cs typeface="Ubuntu Mono"/>
              </a:rPr>
              <a:t>Thesis   9 October 2026</a:t>
            </a:r>
          </a:p>
        </p:txBody>
      </p:sp>
      <p:sp>
        <p:nvSpPr>
          <p:cNvPr id="385" name="Google Shape;385;p39">
            <a:extLst xmlns:a="http://schemas.openxmlformats.org/drawingml/2006/main">
              <a:ext uri="{FF2B5EF4-FFF2-40B4-BE49-F238E27FC236}">
                <a16:creationId xmlns:a16="http://schemas.microsoft.com/office/drawing/2014/main" id="{703E7C7C-1405-4D7A-8427-55F91228B9D2}"/>
              </a:ext>
            </a:extLst>
          </p:cNvPr>
          <p:cNvSpPr>
            <a:spLocks xmlns:a="http://schemas.openxmlformats.org/drawingml/2006/main" noGrp="1"/>
          </p:cNvSpPr>
          <p:nvPr>
            <p:ph type="sldNum" idx="12"/>
          </p:nvPr>
        </p:nvSpPr>
        <p:spPr>
          <a:xfrm xmlns:a="http://schemas.openxmlformats.org/drawingml/2006/main">
            <a:off x="8334375" y="4686300"/>
            <a:ext cx="428625" cy="20955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r">
              <a:lnSpc>
                <a:spcPct val="115000"/>
              </a:lnSpc>
              <a:spcBef>
                <a:spcPts val="0"/>
              </a:spcBef>
              <a:spcAft>
                <a:spcPts val="0"/>
              </a:spcAft>
              <a:buNone/>
              <a:defRPr sz="975" b="0">
                <a:solidFill>
                  <a:srgbClr val="595959"/>
                </a:solidFill>
                <a:latin typeface="Ubuntu Mono"/>
                <a:ea typeface="Ubuntu Mono"/>
                <a:cs typeface="Ubuntu Mono"/>
              </a:defRPr>
            </a:pPr>
            <a:r>
              <a:rPr sz="975" b="0">
                <a:solidFill>
                  <a:srgbClr val="595959"/>
                </a:solidFill>
                <a:latin typeface="Ubuntu Mono"/>
                <a:ea typeface="Ubuntu Mono"/>
                <a:cs typeface="Ubuntu Mono"/>
              </a:rPr>
              <a:t>15</a:t>
            </a:r>
          </a:p>
        </p:txBody>
      </p:sp>
      <p:graphicFrame>
        <p:nvGraphicFramePr>
          <p:cNvPr id="393" name=""/>
          <p:cNvGraphicFramePr/>
          <p:nvPr/>
        </p:nvGraphicFramePr>
        <p:xfrm>
          <a:off xmlns:a="http://schemas.openxmlformats.org/drawingml/2006/main" x="409575" y="1438275"/>
          <a:ext xmlns:a="http://schemas.openxmlformats.org/drawingml/2006/main" cx="8324850" cy="2085975"/>
        </p:xfrm>
        <a:graphic xmlns:a="http://schemas.openxmlformats.org/drawingml/2006/main">
          <a:graphicData uri="http://schemas.openxmlformats.org/drawingml/2006/table">
            <a:tbl>
              <a:tblPr firstRow="1" bandRow="0" bandCol="0"/>
              <a:tblGrid>
                <a:gridCol w="2095500"/>
                <a:gridCol w="2076450"/>
                <a:gridCol w="2076450"/>
                <a:gridCol w="2076450"/>
              </a:tblGrid>
              <a:tr h="521494">
                <a:tc>
                  <a:txBody>
                    <a:bodyPr lIns="114300" tIns="76200" rIns="114300" bIns="76200">
                      <a:noAutofit/>
                    </a:bodyPr>
                    <a:lstStyle/>
                    <a:p>
                      <a:r>
                        <a:rPr sz="1650" b="1">
                          <a:solidFill>
                            <a:srgbClr val="FFFFFF"/>
                          </a:solidFill>
                          <a:latin typeface="Work Sans"/>
                          <a:ea typeface="Work Sans"/>
                          <a:cs typeface="Work Sans"/>
                        </a:rPr>
                        <a:t>Paying users</a:t>
                      </a:r>
                    </a:p>
                  </a:txBody>
                  <a:tcPr marL="91440" marR="91440" marT="45720" marB="45720" anchor="ctr">
                    <a:solidFill>
                      <a:srgbClr val="000000"/>
                    </a:solidFill>
                  </a:tcPr>
                </a:tc>
                <a:tc>
                  <a:txBody>
                    <a:bodyPr lIns="114300" tIns="76200" rIns="114300" bIns="76200">
                      <a:noAutofit/>
                    </a:bodyPr>
                    <a:lstStyle/>
                    <a:p>
                      <a:r>
                        <a:rPr sz="1650" b="1">
                          <a:solidFill>
                            <a:srgbClr val="FFFFFF"/>
                          </a:solidFill>
                          <a:latin typeface="Work Sans"/>
                          <a:ea typeface="Work Sans"/>
                          <a:cs typeface="Work Sans"/>
                        </a:rPr>
                        <a:t>S$5 / month</a:t>
                      </a:r>
                    </a:p>
                  </a:txBody>
                  <a:tcPr marL="91440" marR="91440" marT="45720" marB="45720" anchor="ctr">
                    <a:solidFill>
                      <a:srgbClr val="000000"/>
                    </a:solidFill>
                  </a:tcPr>
                </a:tc>
                <a:tc>
                  <a:txBody>
                    <a:bodyPr lIns="114300" tIns="76200" rIns="114300" bIns="76200">
                      <a:noAutofit/>
                    </a:bodyPr>
                    <a:lstStyle/>
                    <a:p>
                      <a:r>
                        <a:rPr sz="1650" b="1">
                          <a:solidFill>
                            <a:srgbClr val="FFFFFF"/>
                          </a:solidFill>
                          <a:latin typeface="Work Sans"/>
                          <a:ea typeface="Work Sans"/>
                          <a:cs typeface="Work Sans"/>
                        </a:rPr>
                        <a:t>S$10 / month</a:t>
                      </a:r>
                    </a:p>
                  </a:txBody>
                  <a:tcPr marL="91440" marR="91440" marT="45720" marB="45720" anchor="ctr">
                    <a:solidFill>
                      <a:srgbClr val="000000"/>
                    </a:solidFill>
                  </a:tcPr>
                </a:tc>
                <a:tc>
                  <a:txBody>
                    <a:bodyPr lIns="114300" tIns="76200" rIns="114300" bIns="76200">
                      <a:noAutofit/>
                    </a:bodyPr>
                    <a:lstStyle/>
                    <a:p>
                      <a:r>
                        <a:rPr sz="1650" b="1">
                          <a:solidFill>
                            <a:srgbClr val="FFFFFF"/>
                          </a:solidFill>
                          <a:latin typeface="Work Sans"/>
                          <a:ea typeface="Work Sans"/>
                          <a:cs typeface="Work Sans"/>
                        </a:rPr>
                        <a:t>S$15 / month</a:t>
                      </a:r>
                    </a:p>
                  </a:txBody>
                  <a:tcPr marL="91440" marR="91440" marT="45720" marB="45720" anchor="ctr">
                    <a:solidFill>
                      <a:srgbClr val="000000"/>
                    </a:solidFill>
                  </a:tcPr>
                </a:tc>
              </a:tr>
              <a:tr h="521494">
                <a:tc>
                  <a:txBody>
                    <a:bodyPr lIns="114300" tIns="76200" rIns="114300" bIns="76200">
                      <a:noAutofit/>
                    </a:bodyPr>
                    <a:lstStyle/>
                    <a:p>
                      <a:r>
                        <a:rPr sz="1650" b="0">
                          <a:solidFill>
                            <a:srgbClr val="000000"/>
                          </a:solidFill>
                          <a:latin typeface="Ubuntu Mono"/>
                          <a:ea typeface="Ubuntu Mono"/>
                          <a:cs typeface="Ubuntu Mono"/>
                        </a:rPr>
                        <a:t>100</a:t>
                      </a:r>
                    </a:p>
                  </a:txBody>
                  <a:tcPr marL="91440" marR="91440" marT="45720" marB="45720" anchor="ctr">
                    <a:solidFill>
                      <a:srgbClr val="FFFFFF"/>
                    </a:solidFill>
                  </a:tcPr>
                </a:tc>
                <a:tc>
                  <a:txBody>
                    <a:bodyPr lIns="114300" tIns="76200" rIns="114300" bIns="76200">
                      <a:noAutofit/>
                    </a:bodyPr>
                    <a:lstStyle/>
                    <a:p>
                      <a:r>
                        <a:rPr sz="1650" b="0">
                          <a:solidFill>
                            <a:srgbClr val="000000"/>
                          </a:solidFill>
                          <a:latin typeface="Ubuntu Mono"/>
                          <a:ea typeface="Ubuntu Mono"/>
                          <a:cs typeface="Ubuntu Mono"/>
                        </a:rPr>
                        <a:t>S$500</a:t>
                      </a:r>
                    </a:p>
                  </a:txBody>
                  <a:tcPr marL="91440" marR="91440" marT="45720" marB="45720" anchor="ctr">
                    <a:solidFill>
                      <a:srgbClr val="FFFFFF"/>
                    </a:solidFill>
                  </a:tcPr>
                </a:tc>
                <a:tc>
                  <a:txBody>
                    <a:bodyPr lIns="114300" tIns="76200" rIns="114300" bIns="76200">
                      <a:noAutofit/>
                    </a:bodyPr>
                    <a:lstStyle/>
                    <a:p>
                      <a:r>
                        <a:rPr sz="1650" b="0">
                          <a:solidFill>
                            <a:srgbClr val="000000"/>
                          </a:solidFill>
                          <a:latin typeface="Ubuntu Mono"/>
                          <a:ea typeface="Ubuntu Mono"/>
                          <a:cs typeface="Ubuntu Mono"/>
                        </a:rPr>
                        <a:t>S$1,000</a:t>
                      </a:r>
                    </a:p>
                  </a:txBody>
                  <a:tcPr marL="91440" marR="91440" marT="45720" marB="45720" anchor="ctr">
                    <a:solidFill>
                      <a:srgbClr val="FFFFFF"/>
                    </a:solidFill>
                  </a:tcPr>
                </a:tc>
                <a:tc>
                  <a:txBody>
                    <a:bodyPr lIns="114300" tIns="76200" rIns="114300" bIns="76200">
                      <a:noAutofit/>
                    </a:bodyPr>
                    <a:lstStyle/>
                    <a:p>
                      <a:r>
                        <a:rPr sz="1650" b="0">
                          <a:solidFill>
                            <a:srgbClr val="000000"/>
                          </a:solidFill>
                          <a:latin typeface="Ubuntu Mono"/>
                          <a:ea typeface="Ubuntu Mono"/>
                          <a:cs typeface="Ubuntu Mono"/>
                        </a:rPr>
                        <a:t>S$1,500</a:t>
                      </a:r>
                    </a:p>
                  </a:txBody>
                  <a:tcPr marL="91440" marR="91440" marT="45720" marB="45720" anchor="ctr">
                    <a:solidFill>
                      <a:srgbClr val="FFFFFF"/>
                    </a:solidFill>
                  </a:tcPr>
                </a:tc>
              </a:tr>
              <a:tr h="521494">
                <a:tc>
                  <a:txBody>
                    <a:bodyPr lIns="114300" tIns="76200" rIns="114300" bIns="76200">
                      <a:noAutofit/>
                    </a:bodyPr>
                    <a:lstStyle/>
                    <a:p>
                      <a:r>
                        <a:rPr sz="1650" b="0">
                          <a:solidFill>
                            <a:srgbClr val="000000"/>
                          </a:solidFill>
                          <a:latin typeface="Ubuntu Mono"/>
                          <a:ea typeface="Ubuntu Mono"/>
                          <a:cs typeface="Ubuntu Mono"/>
                        </a:rPr>
                        <a:t>500</a:t>
                      </a:r>
                    </a:p>
                  </a:txBody>
                  <a:tcPr marL="91440" marR="91440" marT="45720" marB="45720" anchor="ctr">
                    <a:solidFill>
                      <a:srgbClr val="F3F3F3"/>
                    </a:solidFill>
                  </a:tcPr>
                </a:tc>
                <a:tc>
                  <a:txBody>
                    <a:bodyPr lIns="114300" tIns="76200" rIns="114300" bIns="76200">
                      <a:noAutofit/>
                    </a:bodyPr>
                    <a:lstStyle/>
                    <a:p>
                      <a:r>
                        <a:rPr sz="1650" b="0">
                          <a:solidFill>
                            <a:srgbClr val="000000"/>
                          </a:solidFill>
                          <a:latin typeface="Ubuntu Mono"/>
                          <a:ea typeface="Ubuntu Mono"/>
                          <a:cs typeface="Ubuntu Mono"/>
                        </a:rPr>
                        <a:t>S$2,500</a:t>
                      </a:r>
                    </a:p>
                  </a:txBody>
                  <a:tcPr marL="91440" marR="91440" marT="45720" marB="45720" anchor="ctr">
                    <a:solidFill>
                      <a:srgbClr val="F3F3F3"/>
                    </a:solidFill>
                  </a:tcPr>
                </a:tc>
                <a:tc>
                  <a:txBody>
                    <a:bodyPr lIns="114300" tIns="76200" rIns="114300" bIns="76200">
                      <a:noAutofit/>
                    </a:bodyPr>
                    <a:lstStyle/>
                    <a:p>
                      <a:r>
                        <a:rPr sz="1650" b="0">
                          <a:solidFill>
                            <a:srgbClr val="000000"/>
                          </a:solidFill>
                          <a:latin typeface="Ubuntu Mono"/>
                          <a:ea typeface="Ubuntu Mono"/>
                          <a:cs typeface="Ubuntu Mono"/>
                        </a:rPr>
                        <a:t>S$5,000</a:t>
                      </a:r>
                    </a:p>
                  </a:txBody>
                  <a:tcPr marL="91440" marR="91440" marT="45720" marB="45720" anchor="ctr">
                    <a:solidFill>
                      <a:srgbClr val="F3F3F3"/>
                    </a:solidFill>
                  </a:tcPr>
                </a:tc>
                <a:tc>
                  <a:txBody>
                    <a:bodyPr lIns="114300" tIns="76200" rIns="114300" bIns="76200">
                      <a:noAutofit/>
                    </a:bodyPr>
                    <a:lstStyle/>
                    <a:p>
                      <a:r>
                        <a:rPr sz="1650" b="0">
                          <a:solidFill>
                            <a:srgbClr val="000000"/>
                          </a:solidFill>
                          <a:latin typeface="Ubuntu Mono"/>
                          <a:ea typeface="Ubuntu Mono"/>
                          <a:cs typeface="Ubuntu Mono"/>
                        </a:rPr>
                        <a:t>S$7,500</a:t>
                      </a:r>
                    </a:p>
                  </a:txBody>
                  <a:tcPr marL="91440" marR="91440" marT="45720" marB="45720" anchor="ctr">
                    <a:solidFill>
                      <a:srgbClr val="F3F3F3"/>
                    </a:solidFill>
                  </a:tcPr>
                </a:tc>
              </a:tr>
              <a:tr h="521494">
                <a:tc>
                  <a:txBody>
                    <a:bodyPr lIns="114300" tIns="76200" rIns="114300" bIns="76200">
                      <a:noAutofit/>
                    </a:bodyPr>
                    <a:lstStyle/>
                    <a:p>
                      <a:r>
                        <a:rPr sz="1650" b="0">
                          <a:solidFill>
                            <a:srgbClr val="000000"/>
                          </a:solidFill>
                          <a:latin typeface="Ubuntu Mono"/>
                          <a:ea typeface="Ubuntu Mono"/>
                          <a:cs typeface="Ubuntu Mono"/>
                        </a:rPr>
                        <a:t>1,000</a:t>
                      </a:r>
                    </a:p>
                  </a:txBody>
                  <a:tcPr marL="91440" marR="91440" marT="45720" marB="45720" anchor="ctr">
                    <a:solidFill>
                      <a:srgbClr val="FFFFFF"/>
                    </a:solidFill>
                  </a:tcPr>
                </a:tc>
                <a:tc>
                  <a:txBody>
                    <a:bodyPr lIns="114300" tIns="76200" rIns="114300" bIns="76200">
                      <a:noAutofit/>
                    </a:bodyPr>
                    <a:lstStyle/>
                    <a:p>
                      <a:r>
                        <a:rPr sz="1650" b="0">
                          <a:solidFill>
                            <a:srgbClr val="000000"/>
                          </a:solidFill>
                          <a:latin typeface="Ubuntu Mono"/>
                          <a:ea typeface="Ubuntu Mono"/>
                          <a:cs typeface="Ubuntu Mono"/>
                        </a:rPr>
                        <a:t>S$5,000</a:t>
                      </a:r>
                    </a:p>
                  </a:txBody>
                  <a:tcPr marL="91440" marR="91440" marT="45720" marB="45720" anchor="ctr">
                    <a:solidFill>
                      <a:srgbClr val="FFFFFF"/>
                    </a:solidFill>
                  </a:tcPr>
                </a:tc>
                <a:tc>
                  <a:txBody>
                    <a:bodyPr lIns="114300" tIns="76200" rIns="114300" bIns="76200">
                      <a:noAutofit/>
                    </a:bodyPr>
                    <a:lstStyle/>
                    <a:p>
                      <a:r>
                        <a:rPr sz="1650" b="0">
                          <a:solidFill>
                            <a:srgbClr val="000000"/>
                          </a:solidFill>
                          <a:latin typeface="Ubuntu Mono"/>
                          <a:ea typeface="Ubuntu Mono"/>
                          <a:cs typeface="Ubuntu Mono"/>
                        </a:rPr>
                        <a:t>S$10,000</a:t>
                      </a:r>
                    </a:p>
                  </a:txBody>
                  <a:tcPr marL="91440" marR="91440" marT="45720" marB="45720" anchor="ctr">
                    <a:solidFill>
                      <a:srgbClr val="FFFFFF"/>
                    </a:solidFill>
                  </a:tcPr>
                </a:tc>
                <a:tc>
                  <a:txBody>
                    <a:bodyPr lIns="114300" tIns="76200" rIns="114300" bIns="76200">
                      <a:noAutofit/>
                    </a:bodyPr>
                    <a:lstStyle/>
                    <a:p>
                      <a:r>
                        <a:rPr sz="1650" b="0">
                          <a:solidFill>
                            <a:srgbClr val="000000"/>
                          </a:solidFill>
                          <a:latin typeface="Ubuntu Mono"/>
                          <a:ea typeface="Ubuntu Mono"/>
                          <a:cs typeface="Ubuntu Mono"/>
                        </a:rPr>
                        <a:t>S$15,000</a:t>
                      </a:r>
                    </a:p>
                  </a:txBody>
                  <a:tcPr marL="91440" marR="91440" marT="45720" marB="45720" anchor="ctr">
                    <a:solidFill>
                      <a:srgbClr val="FFFFFF"/>
                    </a:solidFill>
                  </a:tcPr>
                </a:tc>
              </a:tr>
            </a:tbl>
          </a:graphicData>
        </a:graphic>
      </p:graphicFrame>
      <p:sp>
        <p:nvSpPr>
          <p:cNvPr id="387" name="Thesis 15 Revenue = paying users × monthly">
            <a:extLst xmlns:a="http://schemas.openxmlformats.org/drawingml/2006/main">
              <a:ext uri="{FF2B5EF4-FFF2-40B4-BE49-F238E27FC236}">
                <a16:creationId xmlns:a16="http://schemas.microsoft.com/office/drawing/2014/main" id="{B52EAC97-CC93-4D90-BF7F-63F81CB95E4D}"/>
              </a:ext>
            </a:extLst>
          </p:cNvPr>
          <p:cNvSpPr>
            <a:spLocks xmlns:a="http://schemas.openxmlformats.org/drawingml/2006/main" noGrp="1"/>
          </p:cNvSpPr>
          <p:nvPr/>
        </p:nvSpPr>
        <p:spPr>
          <a:xfrm xmlns:a="http://schemas.openxmlformats.org/drawingml/2006/main">
            <a:off x="409575" y="3781425"/>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000000"/>
                </a:solidFill>
                <a:latin typeface="Ubuntu Mono"/>
                <a:ea typeface="Ubuntu Mono"/>
                <a:cs typeface="Ubuntu Mono"/>
              </a:defRPr>
            </a:pPr>
            <a:r>
              <a:rPr sz="1650" b="0">
                <a:solidFill>
                  <a:srgbClr val="000000"/>
                </a:solidFill>
                <a:latin typeface="Ubuntu Mono"/>
                <a:ea typeface="Ubuntu Mono"/>
                <a:cs typeface="Ubuntu Mono"/>
              </a:rPr>
              <a:t>Revenue = paying users × monthly price</a:t>
            </a:r>
          </a:p>
        </p:txBody>
      </p:sp>
      <p:sp>
        <p:nvSpPr>
          <p:cNvPr id="388" name="Thesis 15 Scenarios only. Price and user c">
            <a:extLst xmlns:a="http://schemas.openxmlformats.org/drawingml/2006/main">
              <a:ext uri="{FF2B5EF4-FFF2-40B4-BE49-F238E27FC236}">
                <a16:creationId xmlns:a16="http://schemas.microsoft.com/office/drawing/2014/main" id="{8AC3EEBF-F3D0-4964-A299-117BAA7F4D40}"/>
              </a:ext>
            </a:extLst>
          </p:cNvPr>
          <p:cNvSpPr>
            <a:spLocks xmlns:a="http://schemas.openxmlformats.org/drawingml/2006/main" noGrp="1"/>
          </p:cNvSpPr>
          <p:nvPr/>
        </p:nvSpPr>
        <p:spPr>
          <a:xfrm xmlns:a="http://schemas.openxmlformats.org/drawingml/2006/main">
            <a:off x="409575" y="4181475"/>
            <a:ext cx="8248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F51F28"/>
                </a:solidFill>
                <a:latin typeface="Ubuntu Mono"/>
                <a:ea typeface="Ubuntu Mono"/>
                <a:cs typeface="Ubuntu Mono"/>
              </a:defRPr>
            </a:pPr>
            <a:r>
              <a:rPr sz="1275" b="0">
                <a:solidFill>
                  <a:srgbClr val="F51F28"/>
                </a:solidFill>
                <a:latin typeface="Ubuntu Mono"/>
                <a:ea typeface="Ubuntu Mono"/>
                <a:cs typeface="Ubuntu Mono"/>
              </a:rPr>
              <a:t>Scenarios only. Price and user counts are assumptions, not forecasts.</a:t>
            </a:r>
          </a:p>
          <a:p xmlns:a="http://schemas.openxmlformats.org/drawingml/2006/main">
            <a:pPr algn="l">
              <a:defRPr sz="1275" b="0">
                <a:solidFill>
                  <a:srgbClr val="F51F28"/>
                </a:solidFill>
                <a:latin typeface="Ubuntu Mono"/>
                <a:ea typeface="Ubuntu Mono"/>
                <a:cs typeface="Ubuntu Mono"/>
              </a:defRPr>
            </a:pPr>
            <a:r>
              <a:rPr sz="1275" b="0">
                <a:solidFill>
                  <a:srgbClr val="F51F28"/>
                </a:solidFill>
                <a:latin typeface="Ubuntu Mono"/>
                <a:ea typeface="Ubuntu Mono"/>
                <a:cs typeface="Ubuntu Mono"/>
              </a:rPr>
              <a:t>Gross revenue excludes data, AI, hosting, payments and support costs.</a:t>
            </a:r>
          </a:p>
        </p:txBody>
      </p:sp>
    </p:spTree>
    <p:extLst>
      <p:ext uri="{BB962C8B-B14F-4D97-AF65-F5344CB8AC3E}">
        <p14:creationId xmlns:p14="http://schemas.microsoft.com/office/powerpoint/2010/main" val="111058012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90" name="Google Shape;390;p40">
            <a:extLst xmlns:a="http://schemas.openxmlformats.org/drawingml/2006/main">
              <a:ext uri="{FF2B5EF4-FFF2-40B4-BE49-F238E27FC236}">
                <a16:creationId xmlns:a16="http://schemas.microsoft.com/office/drawing/2014/main" id="{B40CF45E-9104-417B-ABAA-DCB47F4613FF}"/>
              </a:ext>
            </a:extLst>
          </p:cNvPr>
          <p:cNvSpPr>
            <a:spLocks xmlns:a="http://schemas.openxmlformats.org/drawingml/2006/main" noGrp="1"/>
          </p:cNvSpPr>
          <p:nvPr>
            <p:ph type="title" idx="0"/>
          </p:nvPr>
        </p:nvSpPr>
        <p:spPr>
          <a:xfrm xmlns:a="http://schemas.openxmlformats.org/drawingml/2006/main">
            <a:off x="311700" y="368825"/>
            <a:ext cx="8520600" cy="5727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lnSpc>
                <a:spcPct val="115000"/>
              </a:lnSpc>
              <a:spcBef>
                <a:spcPts val="0"/>
              </a:spcBef>
              <a:spcAft>
                <a:spcPts val="0"/>
              </a:spcAft>
              <a:buNone/>
              <a:defRPr sz="2550" b="0">
                <a:solidFill>
                  <a:srgbClr val="000000"/>
                </a:solidFill>
                <a:latin typeface="Work Sans"/>
                <a:ea typeface="Work Sans"/>
                <a:cs typeface="Work Sans"/>
              </a:defRPr>
            </a:pPr>
            <a:r>
              <a:rPr sz="2550" b="0">
                <a:solidFill>
                  <a:srgbClr val="000000"/>
                </a:solidFill>
                <a:latin typeface="Work Sans"/>
                <a:ea typeface="Work Sans"/>
                <a:cs typeface="Work Sans"/>
              </a:rPr>
              <a:t>The ask: pilot access and feedback</a:t>
            </a:r>
          </a:p>
        </p:txBody>
      </p:sp>
      <p:sp>
        <p:nvSpPr>
          <p:cNvPr id="391" name="Google Shape;391;p40">
            <a:extLst xmlns:a="http://schemas.openxmlformats.org/drawingml/2006/main">
              <a:ext uri="{FF2B5EF4-FFF2-40B4-BE49-F238E27FC236}">
                <a16:creationId xmlns:a16="http://schemas.microsoft.com/office/drawing/2014/main" id="{D2C112C3-AE80-4DF3-823D-8FEC46BC54E7}"/>
              </a:ext>
            </a:extLst>
          </p:cNvPr>
          <p:cNvSpPr>
            <a:spLocks xmlns:a="http://schemas.openxmlformats.org/drawingml/2006/main" noGrp="1"/>
          </p:cNvSpPr>
          <p:nvPr>
            <p:ph type="body" idx="1"/>
          </p:nvPr>
        </p:nvSpPr>
        <p:spPr>
          <a:xfrm xmlns:a="http://schemas.openxmlformats.org/drawingml/2006/main">
            <a:off x="409575" y="1276350"/>
            <a:ext cx="8210550" cy="295275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nSpc>
                <a:spcPct val="115000"/>
              </a:lnSpc>
              <a:spcBef>
                <a:spcPts val="0"/>
              </a:spcBef>
              <a:spcAft>
                <a:spcPts val="0"/>
              </a:spcAft>
              <a:buNone/>
            </a:pPr>
            <a:r>
              <a:rPr sz="1650" b="0">
                <a:solidFill>
                  <a:srgbClr val="000000"/>
                </a:solidFill>
                <a:latin typeface="Ubuntu Mono"/>
                <a:ea typeface="Ubuntu Mono"/>
                <a:cs typeface="Ubuntu Mono"/>
              </a:rPr>
              <a:t/>
            </a:r>
          </a:p>
        </p:txBody>
      </p:sp>
      <p:sp>
        <p:nvSpPr>
          <p:cNvPr id="392" name="Google Shape;392;p40">
            <a:extLst xmlns:a="http://schemas.openxmlformats.org/drawingml/2006/main">
              <a:ext uri="{FF2B5EF4-FFF2-40B4-BE49-F238E27FC236}">
                <a16:creationId xmlns:a16="http://schemas.microsoft.com/office/drawing/2014/main" id="{A1C13FED-7E61-4C4D-B976-754608834D93}"/>
              </a:ext>
            </a:extLst>
          </p:cNvPr>
          <p:cNvSpPr>
            <a:spLocks xmlns:a="http://schemas.openxmlformats.org/drawingml/2006/main" noGrp="1"/>
          </p:cNvSpPr>
          <p:nvPr/>
        </p:nvSpPr>
        <p:spPr>
          <a:xfrm xmlns:a="http://schemas.openxmlformats.org/drawingml/2006/main">
            <a:off x="400050" y="4686300"/>
            <a:ext cx="2952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lnSpc>
                <a:spcPct val="115000"/>
              </a:lnSpc>
              <a:spcBef>
                <a:spcPts val="0"/>
              </a:spcBef>
              <a:spcAft>
                <a:spcPts val="0"/>
              </a:spcAft>
              <a:buNone/>
              <a:defRPr sz="1050" b="0">
                <a:solidFill>
                  <a:srgbClr val="595959"/>
                </a:solidFill>
                <a:latin typeface="Ubuntu Mono"/>
                <a:ea typeface="Ubuntu Mono"/>
                <a:cs typeface="Ubuntu Mono"/>
              </a:defRPr>
            </a:pPr>
            <a:r>
              <a:rPr sz="1050" b="0">
                <a:solidFill>
                  <a:srgbClr val="595959"/>
                </a:solidFill>
                <a:latin typeface="Ubuntu Mono"/>
                <a:ea typeface="Ubuntu Mono"/>
                <a:cs typeface="Ubuntu Mono"/>
              </a:rPr>
              <a:t>Thesis   9 October 2026</a:t>
            </a:r>
          </a:p>
        </p:txBody>
      </p:sp>
      <p:sp>
        <p:nvSpPr>
          <p:cNvPr id="395" name="Google Shape;395;p40">
            <a:extLst xmlns:a="http://schemas.openxmlformats.org/drawingml/2006/main">
              <a:ext uri="{FF2B5EF4-FFF2-40B4-BE49-F238E27FC236}">
                <a16:creationId xmlns:a16="http://schemas.microsoft.com/office/drawing/2014/main" id="{4A631377-BF34-453D-AA06-AA8F286DCB84}"/>
              </a:ext>
            </a:extLst>
          </p:cNvPr>
          <p:cNvSpPr>
            <a:spLocks xmlns:a="http://schemas.openxmlformats.org/drawingml/2006/main" noGrp="1"/>
          </p:cNvSpPr>
          <p:nvPr>
            <p:ph type="sldNum" idx="12"/>
          </p:nvPr>
        </p:nvSpPr>
        <p:spPr>
          <a:xfrm xmlns:a="http://schemas.openxmlformats.org/drawingml/2006/main">
            <a:off x="8334375" y="4686300"/>
            <a:ext cx="428625" cy="20955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r">
              <a:lnSpc>
                <a:spcPct val="115000"/>
              </a:lnSpc>
              <a:spcBef>
                <a:spcPts val="0"/>
              </a:spcBef>
              <a:spcAft>
                <a:spcPts val="0"/>
              </a:spcAft>
              <a:buNone/>
              <a:defRPr sz="975" b="0">
                <a:solidFill>
                  <a:srgbClr val="595959"/>
                </a:solidFill>
                <a:latin typeface="Ubuntu Mono"/>
                <a:ea typeface="Ubuntu Mono"/>
                <a:cs typeface="Ubuntu Mono"/>
              </a:defRPr>
            </a:pPr>
            <a:r>
              <a:rPr sz="975" b="0">
                <a:solidFill>
                  <a:srgbClr val="595959"/>
                </a:solidFill>
                <a:latin typeface="Ubuntu Mono"/>
                <a:ea typeface="Ubuntu Mono"/>
                <a:cs typeface="Ubuntu Mono"/>
              </a:rPr>
              <a:t>16</a:t>
            </a:r>
          </a:p>
        </p:txBody>
      </p:sp>
      <p:sp>
        <p:nvSpPr>
          <p:cNvPr id="396" name="Thesis 16 Immediate support">
            <a:extLst xmlns:a="http://schemas.openxmlformats.org/drawingml/2006/main">
              <a:ext uri="{FF2B5EF4-FFF2-40B4-BE49-F238E27FC236}">
                <a16:creationId xmlns:a16="http://schemas.microsoft.com/office/drawing/2014/main" id="{A39EEE66-6AC2-4C30-888E-889A3EBB6D34}"/>
              </a:ext>
            </a:extLst>
          </p:cNvPr>
          <p:cNvSpPr>
            <a:spLocks xmlns:a="http://schemas.openxmlformats.org/drawingml/2006/main" noGrp="1"/>
          </p:cNvSpPr>
          <p:nvPr/>
        </p:nvSpPr>
        <p:spPr>
          <a:xfrm xmlns:a="http://schemas.openxmlformats.org/drawingml/2006/main">
            <a:off x="409575" y="1276350"/>
            <a:ext cx="8210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00000"/>
                </a:solidFill>
                <a:latin typeface="Work Sans"/>
                <a:ea typeface="Work Sans"/>
                <a:cs typeface="Work Sans"/>
              </a:defRPr>
            </a:pPr>
            <a:r>
              <a:rPr sz="1725" b="1">
                <a:solidFill>
                  <a:srgbClr val="000000"/>
                </a:solidFill>
                <a:latin typeface="Work Sans"/>
                <a:ea typeface="Work Sans"/>
                <a:cs typeface="Work Sans"/>
              </a:rPr>
              <a:t>Immediate support</a:t>
            </a:r>
          </a:p>
        </p:txBody>
      </p:sp>
      <p:sp>
        <p:nvSpPr>
          <p:cNvPr id="397" name="Thesis 16 Introductions to student investo">
            <a:extLst xmlns:a="http://schemas.openxmlformats.org/drawingml/2006/main">
              <a:ext uri="{FF2B5EF4-FFF2-40B4-BE49-F238E27FC236}">
                <a16:creationId xmlns:a16="http://schemas.microsoft.com/office/drawing/2014/main" id="{2B95BBBD-75D5-4B85-86EE-1F8E2809F8E8}"/>
              </a:ext>
            </a:extLst>
          </p:cNvPr>
          <p:cNvSpPr>
            <a:spLocks xmlns:a="http://schemas.openxmlformats.org/drawingml/2006/main" noGrp="1"/>
          </p:cNvSpPr>
          <p:nvPr/>
        </p:nvSpPr>
        <p:spPr>
          <a:xfrm xmlns:a="http://schemas.openxmlformats.org/drawingml/2006/main">
            <a:off x="409575" y="1571625"/>
            <a:ext cx="821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95959"/>
                </a:solidFill>
                <a:latin typeface="Ubuntu Mono"/>
                <a:ea typeface="Ubuntu Mono"/>
                <a:cs typeface="Ubuntu Mono"/>
              </a:defRPr>
            </a:pPr>
            <a:r>
              <a:rPr sz="1500" b="0">
                <a:solidFill>
                  <a:srgbClr val="595959"/>
                </a:solidFill>
                <a:latin typeface="Ubuntu Mono"/>
                <a:ea typeface="Ubuntu Mono"/>
                <a:cs typeface="Ubuntu Mono"/>
              </a:rPr>
              <a:t>Introductions to student investors and campus investing communities.</a:t>
            </a:r>
          </a:p>
        </p:txBody>
      </p:sp>
      <p:sp>
        <p:nvSpPr>
          <p:cNvPr id="398" name="Thesis 16 Expert feedback">
            <a:extLst xmlns:a="http://schemas.openxmlformats.org/drawingml/2006/main">
              <a:ext uri="{FF2B5EF4-FFF2-40B4-BE49-F238E27FC236}">
                <a16:creationId xmlns:a16="http://schemas.microsoft.com/office/drawing/2014/main" id="{5B7E2486-3CA3-428D-BB3E-988D655A227C}"/>
              </a:ext>
            </a:extLst>
          </p:cNvPr>
          <p:cNvSpPr>
            <a:spLocks xmlns:a="http://schemas.openxmlformats.org/drawingml/2006/main" noGrp="1"/>
          </p:cNvSpPr>
          <p:nvPr/>
        </p:nvSpPr>
        <p:spPr>
          <a:xfrm xmlns:a="http://schemas.openxmlformats.org/drawingml/2006/main">
            <a:off x="409575" y="1990725"/>
            <a:ext cx="8210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00000"/>
                </a:solidFill>
                <a:latin typeface="Work Sans"/>
                <a:ea typeface="Work Sans"/>
                <a:cs typeface="Work Sans"/>
              </a:defRPr>
            </a:pPr>
            <a:r>
              <a:rPr sz="1725" b="1">
                <a:solidFill>
                  <a:srgbClr val="000000"/>
                </a:solidFill>
                <a:latin typeface="Work Sans"/>
                <a:ea typeface="Work Sans"/>
                <a:cs typeface="Work Sans"/>
              </a:rPr>
              <a:t>Expert feedback</a:t>
            </a:r>
          </a:p>
        </p:txBody>
      </p:sp>
      <p:sp>
        <p:nvSpPr>
          <p:cNvPr id="399" name="Thesis 16 Review whether explanations, evi">
            <a:extLst xmlns:a="http://schemas.openxmlformats.org/drawingml/2006/main">
              <a:ext uri="{FF2B5EF4-FFF2-40B4-BE49-F238E27FC236}">
                <a16:creationId xmlns:a16="http://schemas.microsoft.com/office/drawing/2014/main" id="{37989A47-3454-4991-8712-8A56B98E9D0C}"/>
              </a:ext>
            </a:extLst>
          </p:cNvPr>
          <p:cNvSpPr>
            <a:spLocks xmlns:a="http://schemas.openxmlformats.org/drawingml/2006/main" noGrp="1"/>
          </p:cNvSpPr>
          <p:nvPr/>
        </p:nvSpPr>
        <p:spPr>
          <a:xfrm xmlns:a="http://schemas.openxmlformats.org/drawingml/2006/main">
            <a:off x="409575" y="2286000"/>
            <a:ext cx="821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95959"/>
                </a:solidFill>
                <a:latin typeface="Ubuntu Mono"/>
                <a:ea typeface="Ubuntu Mono"/>
                <a:cs typeface="Ubuntu Mono"/>
              </a:defRPr>
            </a:pPr>
            <a:r>
              <a:rPr sz="1500" b="0">
                <a:solidFill>
                  <a:srgbClr val="595959"/>
                </a:solidFill>
                <a:latin typeface="Ubuntu Mono"/>
                <a:ea typeface="Ubuntu Mono"/>
                <a:cs typeface="Ubuntu Mono"/>
              </a:rPr>
              <a:t>Review whether explanations, evidence and alerts support sound research.</a:t>
            </a:r>
          </a:p>
        </p:txBody>
      </p:sp>
      <p:sp>
        <p:nvSpPr>
          <p:cNvPr id="400" name="Thesis 16 Next funding decision">
            <a:extLst xmlns:a="http://schemas.openxmlformats.org/drawingml/2006/main">
              <a:ext uri="{FF2B5EF4-FFF2-40B4-BE49-F238E27FC236}">
                <a16:creationId xmlns:a16="http://schemas.microsoft.com/office/drawing/2014/main" id="{BB83F436-9A38-43CE-BC60-ECC5880EFAB4}"/>
              </a:ext>
            </a:extLst>
          </p:cNvPr>
          <p:cNvSpPr>
            <a:spLocks xmlns:a="http://schemas.openxmlformats.org/drawingml/2006/main" noGrp="1"/>
          </p:cNvSpPr>
          <p:nvPr/>
        </p:nvSpPr>
        <p:spPr>
          <a:xfrm xmlns:a="http://schemas.openxmlformats.org/drawingml/2006/main">
            <a:off x="409575" y="2705100"/>
            <a:ext cx="8210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00000"/>
                </a:solidFill>
                <a:latin typeface="Work Sans"/>
                <a:ea typeface="Work Sans"/>
                <a:cs typeface="Work Sans"/>
              </a:defRPr>
            </a:pPr>
            <a:r>
              <a:rPr sz="1725" b="1">
                <a:solidFill>
                  <a:srgbClr val="000000"/>
                </a:solidFill>
                <a:latin typeface="Work Sans"/>
                <a:ea typeface="Work Sans"/>
                <a:cs typeface="Work Sans"/>
              </a:rPr>
              <a:t>Next funding decision</a:t>
            </a:r>
          </a:p>
        </p:txBody>
      </p:sp>
      <p:sp>
        <p:nvSpPr>
          <p:cNvPr id="401" name="Thesis 16 Set any raise amount after the p">
            <a:extLst xmlns:a="http://schemas.openxmlformats.org/drawingml/2006/main">
              <a:ext uri="{FF2B5EF4-FFF2-40B4-BE49-F238E27FC236}">
                <a16:creationId xmlns:a16="http://schemas.microsoft.com/office/drawing/2014/main" id="{2C151122-6FC0-4338-88EA-CD6BC90083B4}"/>
              </a:ext>
            </a:extLst>
          </p:cNvPr>
          <p:cNvSpPr>
            <a:spLocks xmlns:a="http://schemas.openxmlformats.org/drawingml/2006/main" noGrp="1"/>
          </p:cNvSpPr>
          <p:nvPr/>
        </p:nvSpPr>
        <p:spPr>
          <a:xfrm xmlns:a="http://schemas.openxmlformats.org/drawingml/2006/main">
            <a:off x="409575" y="3000375"/>
            <a:ext cx="821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95959"/>
                </a:solidFill>
                <a:latin typeface="Ubuntu Mono"/>
                <a:ea typeface="Ubuntu Mono"/>
                <a:cs typeface="Ubuntu Mono"/>
              </a:defRPr>
            </a:pPr>
            <a:r>
              <a:rPr sz="1500" b="0">
                <a:solidFill>
                  <a:srgbClr val="595959"/>
                </a:solidFill>
                <a:latin typeface="Ubuntu Mono"/>
                <a:ea typeface="Ubuntu Mono"/>
                <a:cs typeface="Ubuntu Mono"/>
              </a:rPr>
              <a:t>Set any raise amount after the pilot, data-access plan and operating budget.</a:t>
            </a:r>
          </a:p>
        </p:txBody>
      </p:sp>
      <p:sp>
        <p:nvSpPr>
          <p:cNvPr id="402" name="Thesis 16 What funding would support">
            <a:extLst xmlns:a="http://schemas.openxmlformats.org/drawingml/2006/main">
              <a:ext uri="{FF2B5EF4-FFF2-40B4-BE49-F238E27FC236}">
                <a16:creationId xmlns:a16="http://schemas.microsoft.com/office/drawing/2014/main" id="{DBCCD442-5580-426C-97B9-FCFDF953A71D}"/>
              </a:ext>
            </a:extLst>
          </p:cNvPr>
          <p:cNvSpPr>
            <a:spLocks xmlns:a="http://schemas.openxmlformats.org/drawingml/2006/main" noGrp="1"/>
          </p:cNvSpPr>
          <p:nvPr/>
        </p:nvSpPr>
        <p:spPr>
          <a:xfrm xmlns:a="http://schemas.openxmlformats.org/drawingml/2006/main">
            <a:off x="409575" y="3419475"/>
            <a:ext cx="8210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00000"/>
                </a:solidFill>
                <a:latin typeface="Work Sans"/>
                <a:ea typeface="Work Sans"/>
                <a:cs typeface="Work Sans"/>
              </a:defRPr>
            </a:pPr>
            <a:r>
              <a:rPr sz="1725" b="1">
                <a:solidFill>
                  <a:srgbClr val="000000"/>
                </a:solidFill>
                <a:latin typeface="Work Sans"/>
                <a:ea typeface="Work Sans"/>
                <a:cs typeface="Work Sans"/>
              </a:rPr>
              <a:t>What funding would support</a:t>
            </a:r>
          </a:p>
        </p:txBody>
      </p:sp>
      <p:sp>
        <p:nvSpPr>
          <p:cNvPr id="403" name="Thesis 16 Reliable sources, product qualit">
            <a:extLst xmlns:a="http://schemas.openxmlformats.org/drawingml/2006/main">
              <a:ext uri="{FF2B5EF4-FFF2-40B4-BE49-F238E27FC236}">
                <a16:creationId xmlns:a16="http://schemas.microsoft.com/office/drawing/2014/main" id="{3AD9F1FB-E044-490A-873A-17E214C6622C}"/>
              </a:ext>
            </a:extLst>
          </p:cNvPr>
          <p:cNvSpPr>
            <a:spLocks xmlns:a="http://schemas.openxmlformats.org/drawingml/2006/main" noGrp="1"/>
          </p:cNvSpPr>
          <p:nvPr/>
        </p:nvSpPr>
        <p:spPr>
          <a:xfrm xmlns:a="http://schemas.openxmlformats.org/drawingml/2006/main">
            <a:off x="409575" y="3714750"/>
            <a:ext cx="821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95959"/>
                </a:solidFill>
                <a:latin typeface="Ubuntu Mono"/>
                <a:ea typeface="Ubuntu Mono"/>
                <a:cs typeface="Ubuntu Mono"/>
              </a:defRPr>
            </a:pPr>
            <a:r>
              <a:rPr sz="1500" b="0">
                <a:solidFill>
                  <a:srgbClr val="595959"/>
                </a:solidFill>
                <a:latin typeface="Ubuntu Mono"/>
                <a:ea typeface="Ubuntu Mono"/>
                <a:cs typeface="Ubuntu Mono"/>
              </a:rPr>
              <a:t>Reliable sources, product quality and a supported hosted beta.</a:t>
            </a:r>
          </a:p>
        </p:txBody>
      </p:sp>
      <p:sp>
        <p:nvSpPr>
          <p:cNvPr id="404" name="Thesis 16 No funding round, amount raised ">
            <a:extLst xmlns:a="http://schemas.openxmlformats.org/drawingml/2006/main">
              <a:ext uri="{FF2B5EF4-FFF2-40B4-BE49-F238E27FC236}">
                <a16:creationId xmlns:a16="http://schemas.microsoft.com/office/drawing/2014/main" id="{75DAFFA2-27A1-4E68-8343-6D6A5DF423DF}"/>
              </a:ext>
            </a:extLst>
          </p:cNvPr>
          <p:cNvSpPr>
            <a:spLocks xmlns:a="http://schemas.openxmlformats.org/drawingml/2006/main" noGrp="1"/>
          </p:cNvSpPr>
          <p:nvPr/>
        </p:nvSpPr>
        <p:spPr>
          <a:xfrm xmlns:a="http://schemas.openxmlformats.org/drawingml/2006/main">
            <a:off x="409575" y="4305300"/>
            <a:ext cx="82486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F51F28"/>
                </a:solidFill>
                <a:latin typeface="Ubuntu Mono"/>
                <a:ea typeface="Ubuntu Mono"/>
                <a:cs typeface="Ubuntu Mono"/>
              </a:defRPr>
            </a:pPr>
            <a:r>
              <a:rPr sz="1275" b="0">
                <a:solidFill>
                  <a:srgbClr val="F51F28"/>
                </a:solidFill>
                <a:latin typeface="Ubuntu Mono"/>
                <a:ea typeface="Ubuntu Mono"/>
                <a:cs typeface="Ubuntu Mono"/>
              </a:rPr>
              <a:t>No funding round, amount raised or runway confirmed.</a:t>
            </a:r>
          </a:p>
        </p:txBody>
      </p:sp>
    </p:spTree>
    <p:extLst>
      <p:ext uri="{BB962C8B-B14F-4D97-AF65-F5344CB8AC3E}">
        <p14:creationId xmlns:p14="http://schemas.microsoft.com/office/powerpoint/2010/main" val="648356472"/>
      </p:ext>
    </p:extLst>
  </p:cSld>
</p:sld>
</file>

<file path=ppt/slides/slide17.xml><?xml version="1.0" encoding="utf-8"?>
<p:sld xmlns:p="http://schemas.openxmlformats.org/presentationml/2006/main">
  <p:cSld>
    <p:bg>
      <p:bgPr>
        <a:solidFill xmlns:a="http://schemas.openxmlformats.org/drawingml/2006/main">
          <a:schemeClr val="dk1"/>
        </a:solidFill>
      </p:bgPr>
    </p:bg>
    <p:spTree>
      <p:nvGrpSpPr>
        <p:cNvPr id="1" name=""/>
        <p:cNvGrpSpPr/>
        <p:nvPr/>
      </p:nvGrpSpPr>
      <p:grpSpPr>
        <a:xfrm xmlns:a="http://schemas.openxmlformats.org/drawingml/2006/main"/>
      </p:grpSpPr>
      <p:sp>
        <p:nvSpPr>
          <p:cNvPr id="400" name="Google Shape;400;p41">
            <a:extLst xmlns:a="http://schemas.openxmlformats.org/drawingml/2006/main">
              <a:ext uri="{FF2B5EF4-FFF2-40B4-BE49-F238E27FC236}">
                <a16:creationId xmlns:a16="http://schemas.microsoft.com/office/drawing/2014/main" id="{27EB6888-A6F4-4B8B-AAA2-7DCD7E77A15A}"/>
              </a:ext>
            </a:extLst>
          </p:cNvPr>
          <p:cNvSpPr>
            <a:spLocks xmlns:a="http://schemas.openxmlformats.org/drawingml/2006/main" noGrp="1"/>
          </p:cNvSpPr>
          <p:nvPr>
            <p:ph type="title" idx="0"/>
          </p:nvPr>
        </p:nvSpPr>
        <p:spPr>
          <a:xfrm xmlns:a="http://schemas.openxmlformats.org/drawingml/2006/main">
            <a:off x="904875" y="1323975"/>
            <a:ext cx="7334250" cy="828675"/>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ctr">
              <a:lnSpc>
                <a:spcPct val="115000"/>
              </a:lnSpc>
              <a:spcBef>
                <a:spcPts val="0"/>
              </a:spcBef>
              <a:spcAft>
                <a:spcPts val="0"/>
              </a:spcAft>
              <a:buNone/>
              <a:defRPr sz="4575" b="0">
                <a:solidFill>
                  <a:srgbClr val="FFFFFF"/>
                </a:solidFill>
                <a:latin typeface="Work Sans"/>
                <a:ea typeface="Work Sans"/>
                <a:cs typeface="Work Sans"/>
              </a:defRPr>
            </a:pPr>
            <a:r>
              <a:rPr sz="4575" b="0">
                <a:solidFill>
                  <a:srgbClr val="FFFFFF"/>
                </a:solidFill>
                <a:latin typeface="Work Sans"/>
                <a:ea typeface="Work Sans"/>
                <a:cs typeface="Work Sans"/>
              </a:rPr>
              <a:t>Thesis</a:t>
            </a:r>
          </a:p>
        </p:txBody>
      </p:sp>
      <p:sp>
        <p:nvSpPr>
          <p:cNvPr id="401" name="Google Shape;401;p41">
            <a:extLst xmlns:a="http://schemas.openxmlformats.org/drawingml/2006/main">
              <a:ext uri="{FF2B5EF4-FFF2-40B4-BE49-F238E27FC236}">
                <a16:creationId xmlns:a16="http://schemas.microsoft.com/office/drawing/2014/main" id="{76042F39-9A94-43B4-AE54-CD7D15F3C628}"/>
              </a:ext>
            </a:extLst>
          </p:cNvPr>
          <p:cNvSpPr>
            <a:spLocks xmlns:a="http://schemas.openxmlformats.org/drawingml/2006/main" noGrp="1"/>
          </p:cNvSpPr>
          <p:nvPr/>
        </p:nvSpPr>
        <p:spPr>
          <a:xfrm xmlns:a="http://schemas.openxmlformats.org/drawingml/2006/main">
            <a:off x="400050" y="4686300"/>
            <a:ext cx="2952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lnSpc>
                <a:spcPct val="115000"/>
              </a:lnSpc>
              <a:spcBef>
                <a:spcPts val="0"/>
              </a:spcBef>
              <a:spcAft>
                <a:spcPts val="0"/>
              </a:spcAft>
              <a:buNone/>
              <a:defRPr sz="1050" b="0">
                <a:solidFill>
                  <a:srgbClr val="FFFFFF"/>
                </a:solidFill>
                <a:latin typeface="Ubuntu Mono"/>
                <a:ea typeface="Ubuntu Mono"/>
                <a:cs typeface="Ubuntu Mono"/>
              </a:defRPr>
            </a:pPr>
            <a:r>
              <a:rPr sz="1050" b="0">
                <a:solidFill>
                  <a:srgbClr val="FFFFFF"/>
                </a:solidFill>
                <a:latin typeface="Ubuntu Mono"/>
                <a:ea typeface="Ubuntu Mono"/>
                <a:cs typeface="Ubuntu Mono"/>
              </a:rPr>
              <a:t>Thesis   9 October 2026</a:t>
            </a:r>
          </a:p>
        </p:txBody>
      </p:sp>
      <p:sp>
        <p:nvSpPr>
          <p:cNvPr id="404" name="Google Shape;404;p41">
            <a:extLst xmlns:a="http://schemas.openxmlformats.org/drawingml/2006/main">
              <a:ext uri="{FF2B5EF4-FFF2-40B4-BE49-F238E27FC236}">
                <a16:creationId xmlns:a16="http://schemas.microsoft.com/office/drawing/2014/main" id="{AC9C114A-F565-4A43-A56C-2499FA8233BB}"/>
              </a:ext>
            </a:extLst>
          </p:cNvPr>
          <p:cNvSpPr>
            <a:spLocks xmlns:a="http://schemas.openxmlformats.org/drawingml/2006/main" noGrp="1"/>
          </p:cNvSpPr>
          <p:nvPr>
            <p:ph type="sldNum" idx="12"/>
          </p:nvPr>
        </p:nvSpPr>
        <p:spPr>
          <a:xfrm xmlns:a="http://schemas.openxmlformats.org/drawingml/2006/main">
            <a:off x="8334375" y="4686300"/>
            <a:ext cx="428625" cy="20955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r">
              <a:lnSpc>
                <a:spcPct val="115000"/>
              </a:lnSpc>
              <a:spcBef>
                <a:spcPts val="0"/>
              </a:spcBef>
              <a:spcAft>
                <a:spcPts val="0"/>
              </a:spcAft>
              <a:buNone/>
              <a:defRPr sz="975" b="0">
                <a:solidFill>
                  <a:srgbClr val="FFFFFF"/>
                </a:solidFill>
                <a:latin typeface="Ubuntu Mono"/>
                <a:ea typeface="Ubuntu Mono"/>
                <a:cs typeface="Ubuntu Mono"/>
              </a:defRPr>
            </a:pPr>
            <a:r>
              <a:rPr sz="975" b="0">
                <a:solidFill>
                  <a:srgbClr val="FFFFFF"/>
                </a:solidFill>
                <a:latin typeface="Ubuntu Mono"/>
                <a:ea typeface="Ubuntu Mono"/>
                <a:cs typeface="Ubuntu Mono"/>
              </a:rPr>
              <a:t>17</a:t>
            </a:r>
          </a:p>
        </p:txBody>
      </p:sp>
      <p:sp>
        <p:nvSpPr>
          <p:cNvPr id="405" name="Thesis 17 A clearer record of why you inve">
            <a:extLst xmlns:a="http://schemas.openxmlformats.org/drawingml/2006/main">
              <a:ext uri="{FF2B5EF4-FFF2-40B4-BE49-F238E27FC236}">
                <a16:creationId xmlns:a16="http://schemas.microsoft.com/office/drawing/2014/main" id="{ABD5BBE4-A123-4C3F-911D-DAB0F714BF9E}"/>
              </a:ext>
            </a:extLst>
          </p:cNvPr>
          <p:cNvSpPr>
            <a:spLocks xmlns:a="http://schemas.openxmlformats.org/drawingml/2006/main" noGrp="1"/>
          </p:cNvSpPr>
          <p:nvPr/>
        </p:nvSpPr>
        <p:spPr>
          <a:xfrm xmlns:a="http://schemas.openxmlformats.org/drawingml/2006/main">
            <a:off x="904875" y="2371725"/>
            <a:ext cx="733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75" b="0">
                <a:solidFill>
                  <a:srgbClr val="FFFFFF"/>
                </a:solidFill>
                <a:latin typeface="Work Sans"/>
                <a:ea typeface="Work Sans"/>
                <a:cs typeface="Work Sans"/>
              </a:defRPr>
            </a:pPr>
            <a:r>
              <a:rPr sz="2475" b="0">
                <a:solidFill>
                  <a:srgbClr val="FFFFFF"/>
                </a:solidFill>
                <a:latin typeface="Work Sans"/>
                <a:ea typeface="Work Sans"/>
                <a:cs typeface="Work Sans"/>
              </a:rPr>
              <a:t>A clearer record of why you invest</a:t>
            </a:r>
          </a:p>
        </p:txBody>
      </p:sp>
      <p:sp>
        <p:nvSpPr>
          <p:cNvPr id="406" name="Thesis 17 Bryant &amp; Jia Hui">
            <a:extLst xmlns:a="http://schemas.openxmlformats.org/drawingml/2006/main">
              <a:ext uri="{FF2B5EF4-FFF2-40B4-BE49-F238E27FC236}">
                <a16:creationId xmlns:a16="http://schemas.microsoft.com/office/drawing/2014/main" id="{DB0940D7-1CAA-43AF-99E8-7198B2BC49BB}"/>
              </a:ext>
            </a:extLst>
          </p:cNvPr>
          <p:cNvSpPr>
            <a:spLocks xmlns:a="http://schemas.openxmlformats.org/drawingml/2006/main" noGrp="1"/>
          </p:cNvSpPr>
          <p:nvPr/>
        </p:nvSpPr>
        <p:spPr>
          <a:xfrm xmlns:a="http://schemas.openxmlformats.org/drawingml/2006/main">
            <a:off x="904875" y="3267075"/>
            <a:ext cx="733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a:solidFill>
                  <a:srgbClr val="FFFFFF"/>
                </a:solidFill>
                <a:latin typeface="Ubuntu Mono"/>
                <a:ea typeface="Ubuntu Mono"/>
                <a:cs typeface="Ubuntu Mono"/>
              </a:defRPr>
            </a:pPr>
            <a:r>
              <a:rPr sz="1725" b="0">
                <a:solidFill>
                  <a:srgbClr val="FFFFFF"/>
                </a:solidFill>
                <a:latin typeface="Ubuntu Mono"/>
                <a:ea typeface="Ubuntu Mono"/>
                <a:cs typeface="Ubuntu Mono"/>
              </a:rPr>
              <a:t>Bryant &amp; Jia Hui</a:t>
            </a:r>
          </a:p>
        </p:txBody>
      </p:sp>
      <p:sp>
        <p:nvSpPr>
          <p:cNvPr id="407" name="Thesis 17 Pilot introductions and feedback">
            <a:extLst xmlns:a="http://schemas.openxmlformats.org/drawingml/2006/main">
              <a:ext uri="{FF2B5EF4-FFF2-40B4-BE49-F238E27FC236}">
                <a16:creationId xmlns:a16="http://schemas.microsoft.com/office/drawing/2014/main" id="{74BF7891-D288-4DAF-A041-0D322307D224}"/>
              </a:ext>
            </a:extLst>
          </p:cNvPr>
          <p:cNvSpPr>
            <a:spLocks xmlns:a="http://schemas.openxmlformats.org/drawingml/2006/main" noGrp="1"/>
          </p:cNvSpPr>
          <p:nvPr/>
        </p:nvSpPr>
        <p:spPr>
          <a:xfrm xmlns:a="http://schemas.openxmlformats.org/drawingml/2006/main">
            <a:off x="904875" y="3800475"/>
            <a:ext cx="7334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0">
                <a:solidFill>
                  <a:srgbClr val="FFFFFF"/>
                </a:solidFill>
                <a:latin typeface="Ubuntu Mono"/>
                <a:ea typeface="Ubuntu Mono"/>
                <a:cs typeface="Ubuntu Mono"/>
              </a:defRPr>
            </a:pPr>
            <a:r>
              <a:rPr sz="1575" b="0">
                <a:solidFill>
                  <a:srgbClr val="FFFFFF"/>
                </a:solidFill>
                <a:latin typeface="Ubuntu Mono"/>
                <a:ea typeface="Ubuntu Mono"/>
                <a:cs typeface="Ubuntu Mono"/>
              </a:rPr>
              <a:t>Pilot introductions and feedback welcome</a:t>
            </a:r>
          </a:p>
        </p:txBody>
      </p:sp>
    </p:spTree>
    <p:extLst>
      <p:ext uri="{BB962C8B-B14F-4D97-AF65-F5344CB8AC3E}">
        <p14:creationId xmlns:p14="http://schemas.microsoft.com/office/powerpoint/2010/main" val="550357384"/>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2026-10-09T07:04:23.2290000Z</dcterms:created>
  <dcterms:modified xsi:type="dcterms:W3CDTF">2026-10-09T07:04:23.2290000Z</dcterms:modified>
</coreProperties>
</file>